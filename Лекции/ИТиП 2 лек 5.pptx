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6"/>
  </p:notesMasterIdLst>
  <p:sldIdLst>
    <p:sldId id="273" r:id="rId2"/>
    <p:sldId id="1103" r:id="rId3"/>
    <p:sldId id="1104" r:id="rId4"/>
    <p:sldId id="1105" r:id="rId5"/>
    <p:sldId id="1119" r:id="rId6"/>
    <p:sldId id="1106" r:id="rId7"/>
    <p:sldId id="1121" r:id="rId8"/>
    <p:sldId id="1122" r:id="rId9"/>
    <p:sldId id="1123" r:id="rId10"/>
    <p:sldId id="1124" r:id="rId11"/>
    <p:sldId id="1120" r:id="rId12"/>
    <p:sldId id="1125" r:id="rId13"/>
    <p:sldId id="1107" r:id="rId14"/>
    <p:sldId id="1108" r:id="rId15"/>
    <p:sldId id="1109" r:id="rId16"/>
    <p:sldId id="1110" r:id="rId17"/>
    <p:sldId id="1111" r:id="rId18"/>
    <p:sldId id="1112" r:id="rId19"/>
    <p:sldId id="1113" r:id="rId20"/>
    <p:sldId id="1114" r:id="rId21"/>
    <p:sldId id="1115" r:id="rId22"/>
    <p:sldId id="1116" r:id="rId23"/>
    <p:sldId id="1117" r:id="rId24"/>
    <p:sldId id="111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2" autoAdjust="0"/>
    <p:restoredTop sz="75199" autoAdjust="0"/>
  </p:normalViewPr>
  <p:slideViewPr>
    <p:cSldViewPr snapToGrid="0">
      <p:cViewPr varScale="1">
        <p:scale>
          <a:sx n="79" d="100"/>
          <a:sy n="79" d="100"/>
        </p:scale>
        <p:origin x="96" y="9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20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82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28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54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03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55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4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46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94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43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88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38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55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05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94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30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90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844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09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01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762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28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190566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Информационные технологии</a:t>
            </a:r>
            <a:b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</a:b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1760224"/>
            <a:ext cx="8978016" cy="2089563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5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3849787"/>
            <a:ext cx="110413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Интерфейсы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Интерфейсы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vs 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Абстрактные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Системные интерфейсы (Стандарты .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NET)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Интерфейс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54356"/>
            <a:ext cx="12192000" cy="415498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Интерфейс</a:t>
            </a:r>
            <a:r>
              <a:rPr lang="ru-RU" sz="2400" dirty="0" smtClean="0">
                <a:latin typeface="Bookman Old Style" panose="02050604050505020204" pitchFamily="18" charset="0"/>
              </a:rPr>
              <a:t> это описание того, что </a:t>
            </a:r>
            <a:r>
              <a:rPr lang="ru-RU" sz="2400" b="1" dirty="0" smtClean="0">
                <a:latin typeface="Bookman Old Style" panose="02050604050505020204" pitchFamily="18" charset="0"/>
              </a:rPr>
              <a:t>должно быть реализовано </a:t>
            </a:r>
            <a:r>
              <a:rPr lang="ru-RU" sz="2400" dirty="0" smtClean="0">
                <a:latin typeface="Bookman Old Style" panose="02050604050505020204" pitchFamily="18" charset="0"/>
              </a:rPr>
              <a:t>в классе.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ISpeaking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Speak();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ru-RU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Синтаксис</a:t>
            </a:r>
            <a:r>
              <a:rPr lang="ru-RU" sz="2400" dirty="0" smtClean="0">
                <a:latin typeface="Bookman Old Style" panose="02050604050505020204" pitchFamily="18" charset="0"/>
              </a:rPr>
              <a:t> реализации интерфейс аналогичен синтаксису наследования от класса – через двоеточие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86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Синтаксис</a:t>
            </a:r>
            <a:r>
              <a:rPr lang="ru-RU" sz="2400" dirty="0" smtClean="0">
                <a:latin typeface="Bookman Old Style" panose="02050604050505020204" pitchFamily="18" charset="0"/>
              </a:rPr>
              <a:t> реализации интерфейс аналогичен синтаксису наследования от класса – через двоеточие.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Если от класса наследуются, то интерфейс </a:t>
            </a:r>
            <a:r>
              <a:rPr lang="ru-RU" sz="2400" b="1" dirty="0" smtClean="0">
                <a:latin typeface="Bookman Old Style" panose="02050604050505020204" pitchFamily="18" charset="0"/>
              </a:rPr>
              <a:t>реализуют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Название интерфейсов принято начинать с буквы </a:t>
            </a:r>
            <a:r>
              <a:rPr lang="en-US" sz="2400" b="1" dirty="0" smtClean="0">
                <a:latin typeface="Bookman Old Style" panose="02050604050505020204" pitchFamily="18" charset="0"/>
              </a:rPr>
              <a:t>I </a:t>
            </a:r>
            <a:r>
              <a:rPr lang="ru-RU" sz="2400" dirty="0" smtClean="0">
                <a:latin typeface="Bookman Old Style" panose="02050604050505020204" pitchFamily="18" charset="0"/>
              </a:rPr>
              <a:t>далее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пишется слово, отвечающее на вопрос «какой» или «способный делать что».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ISpeaking</a:t>
            </a:r>
            <a:endParaRPr lang="en-US" sz="2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Гав-гав"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91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Мы можем создать </a:t>
            </a:r>
            <a:r>
              <a:rPr lang="ru-RU" sz="2400" dirty="0" err="1">
                <a:latin typeface="Bookman Old Style" panose="02050604050505020204" pitchFamily="18" charset="0"/>
              </a:rPr>
              <a:t>List</a:t>
            </a:r>
            <a:r>
              <a:rPr lang="ru-RU" sz="2400" dirty="0">
                <a:latin typeface="Bookman Old Style" panose="02050604050505020204" pitchFamily="18" charset="0"/>
              </a:rPr>
              <a:t>&lt;</a:t>
            </a:r>
            <a:r>
              <a:rPr lang="ru-RU" sz="2400" dirty="0" err="1">
                <a:latin typeface="Bookman Old Style" panose="02050604050505020204" pitchFamily="18" charset="0"/>
              </a:rPr>
              <a:t>ISpeaking</a:t>
            </a:r>
            <a:r>
              <a:rPr lang="ru-RU" sz="2400" dirty="0">
                <a:latin typeface="Bookman Old Style" panose="02050604050505020204" pitchFamily="18" charset="0"/>
              </a:rPr>
              <a:t>&gt; и положить туда совершенно разные объекты. Нам важно только то, что они умеют «говорить».</a:t>
            </a:r>
            <a:endParaRPr lang="en-US" sz="2400" dirty="0" smtClean="0">
              <a:solidFill>
                <a:srgbClr val="0000FF"/>
              </a:solidFill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Cat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ISpeaking</a:t>
            </a:r>
            <a:endParaRPr lang="en-US" sz="2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Speak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Мяу"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Human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ISpeaking</a:t>
            </a:r>
            <a:endParaRPr lang="en-US" sz="2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Speak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Опять работать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ISpeaking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speakings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Human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speaking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speakings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speaking.Speak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Полиморфизм через интерфейсы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72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отличие от классов интерфейсы можно реализовывать в любом количестве.</a:t>
            </a: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ElectronicDevice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Brand;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ICallable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}</a:t>
            </a:r>
          </a:p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ICamera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TakePhoto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}</a:t>
            </a:r>
          </a:p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IWebBrowser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Browse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url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}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SmartPhone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ElectronicDevice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ICallable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ICamera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IWebBrowser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Звонок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на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0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0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TakePhoto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Фото сохранено."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Browse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url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Открываю 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url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0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Множественная реализация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91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Интерфейсы </a:t>
            </a:r>
            <a:r>
              <a:rPr lang="ru-RU" sz="28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vs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Абстрактные классы: Сходства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39076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Прежде чем искать различия, зафиксируем то, что их объединяет: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Запрет на </a:t>
            </a:r>
            <a:r>
              <a:rPr lang="ru-RU" sz="2400" b="1" dirty="0" err="1">
                <a:latin typeface="Bookman Old Style" panose="02050604050505020204" pitchFamily="18" charset="0"/>
              </a:rPr>
              <a:t>new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Нельзя создать экземпляр ни того, ни другого. Это «недостроенные» типы данных.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Шаблон для потомков:</a:t>
            </a:r>
            <a:r>
              <a:rPr lang="ru-RU" sz="2400" dirty="0">
                <a:latin typeface="Bookman Old Style" panose="02050604050505020204" pitchFamily="18" charset="0"/>
              </a:rPr>
              <a:t> Оба определяют список методов, которые </a:t>
            </a:r>
            <a:r>
              <a:rPr lang="ru-RU" sz="2400" b="1" dirty="0">
                <a:latin typeface="Bookman Old Style" panose="02050604050505020204" pitchFamily="18" charset="0"/>
              </a:rPr>
              <a:t>обязаны</a:t>
            </a:r>
            <a:r>
              <a:rPr lang="ru-RU" sz="2400" dirty="0">
                <a:latin typeface="Bookman Old Style" panose="02050604050505020204" pitchFamily="18" charset="0"/>
              </a:rPr>
              <a:t> быть в реальном классе.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Полиморфизм:</a:t>
            </a:r>
            <a:r>
              <a:rPr lang="ru-RU" sz="2400" dirty="0">
                <a:latin typeface="Bookman Old Style" panose="02050604050505020204" pitchFamily="18" charset="0"/>
              </a:rPr>
              <a:t> Мы можем использовать ссылку на абстрактный класс или на интерфейс, чтобы работать с разными объектами одинаково.</a:t>
            </a:r>
          </a:p>
        </p:txBody>
      </p:sp>
    </p:spTree>
    <p:extLst>
      <p:ext uri="{BB962C8B-B14F-4D97-AF65-F5344CB8AC3E}">
        <p14:creationId xmlns:p14="http://schemas.microsoft.com/office/powerpoint/2010/main" val="201711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Фундаментальная разница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556966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Абстрактный класс — это ИДЕНТИЧНОСТЬ (Кто ты?)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Он описывает суть объекта, его происхождение. Объект является «частью семьи».</a:t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i="1" dirty="0">
                <a:latin typeface="Bookman Old Style" panose="02050604050505020204" pitchFamily="18" charset="0"/>
              </a:rPr>
              <a:t>Например:</a:t>
            </a:r>
            <a:r>
              <a:rPr lang="ru-RU" sz="2400" dirty="0">
                <a:latin typeface="Bookman Old Style" panose="02050604050505020204" pitchFamily="18" charset="0"/>
              </a:rPr>
              <a:t> «Смартфон» наследуется от абстрактного «Электронного устройства».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Интерфейс — это СПОСОБНОСТЬ (Что ты умеешь?)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Он описывает навык или роль. Объекту всё равно, из какой он семьи, главное — он умеет это делать.</a:t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i="1" dirty="0">
                <a:latin typeface="Bookman Old Style" panose="02050604050505020204" pitchFamily="18" charset="0"/>
              </a:rPr>
              <a:t>Например:</a:t>
            </a:r>
            <a:r>
              <a:rPr lang="ru-RU" sz="2400" dirty="0">
                <a:latin typeface="Bookman Old Style" panose="02050604050505020204" pitchFamily="18" charset="0"/>
              </a:rPr>
              <a:t> «Смартфон» реализует интерфейс </a:t>
            </a:r>
            <a:r>
              <a:rPr lang="ru-RU" sz="2400" dirty="0" err="1">
                <a:latin typeface="Bookman Old Style" panose="02050604050505020204" pitchFamily="18" charset="0"/>
              </a:rPr>
              <a:t>ICamera</a:t>
            </a:r>
            <a:r>
              <a:rPr lang="ru-RU" sz="2400" dirty="0">
                <a:latin typeface="Bookman Old Style" panose="02050604050505020204" pitchFamily="18" charset="0"/>
              </a:rPr>
              <a:t> (умеет снимать) и </a:t>
            </a:r>
            <a:r>
              <a:rPr lang="ru-RU" sz="2400" dirty="0" err="1">
                <a:latin typeface="Bookman Old Style" panose="02050604050505020204" pitchFamily="18" charset="0"/>
              </a:rPr>
              <a:t>IGps</a:t>
            </a:r>
            <a:r>
              <a:rPr lang="ru-RU" sz="2400" dirty="0">
                <a:latin typeface="Bookman Old Style" panose="02050604050505020204" pitchFamily="18" charset="0"/>
              </a:rPr>
              <a:t> (умеет определять координаты).</a:t>
            </a:r>
          </a:p>
        </p:txBody>
      </p:sp>
    </p:spTree>
    <p:extLst>
      <p:ext uri="{BB962C8B-B14F-4D97-AF65-F5344CB8AC3E}">
        <p14:creationId xmlns:p14="http://schemas.microsoft.com/office/powerpoint/2010/main" val="4271392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Техническое сравнение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171960"/>
            <a:ext cx="12192000" cy="156966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latin typeface="Bookman Old Style" panose="02050604050505020204" pitchFamily="18" charset="0"/>
              </a:rPr>
              <a:t>Машина и Человек — не родственники. У них нет общего базового класса. Но они оба могут реализовать интерфейс </a:t>
            </a:r>
            <a:r>
              <a:rPr lang="ru-RU" sz="2400" dirty="0" err="1">
                <a:latin typeface="Bookman Old Style" panose="02050604050505020204" pitchFamily="18" charset="0"/>
              </a:rPr>
              <a:t>IMovable</a:t>
            </a:r>
            <a:r>
              <a:rPr lang="ru-RU" sz="2400" dirty="0">
                <a:latin typeface="Bookman Old Style" panose="02050604050505020204" pitchFamily="18" charset="0"/>
              </a:rPr>
              <a:t> (Движущийся). Интерфейс объединяет тех, кого нельзя объединить родством».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75935"/>
              </p:ext>
            </p:extLst>
          </p:nvPr>
        </p:nvGraphicFramePr>
        <p:xfrm>
          <a:off x="179832" y="798608"/>
          <a:ext cx="10515600" cy="42291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398890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733485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8227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Характеристика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Абстрактный класс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Интерфейс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445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Наследование</a:t>
                      </a:r>
                      <a:endParaRPr lang="ru-RU" sz="2400" b="0">
                        <a:solidFill>
                          <a:srgbClr val="2B2D3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Только один</a:t>
                      </a:r>
                      <a:r>
                        <a:rPr lang="ru-RU" sz="2400" b="0" dirty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 (один отец)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Сколько угодно</a:t>
                      </a:r>
                      <a:r>
                        <a:rPr lang="ru-RU" sz="2400" b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 (много навыков)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886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 dirty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Поля (состояние)</a:t>
                      </a:r>
                      <a:endParaRPr lang="ru-RU" sz="2400" b="0" dirty="0">
                        <a:solidFill>
                          <a:srgbClr val="2B2D3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Может иметь</a:t>
                      </a:r>
                      <a:r>
                        <a:rPr lang="ru-RU" sz="2400" b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 (</a:t>
                      </a:r>
                      <a:r>
                        <a:rPr lang="en-US" sz="2400" b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Name, Age)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Запрещено</a:t>
                      </a:r>
                      <a:r>
                        <a:rPr lang="ru-RU" sz="2400" b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 (нет памяти для данных)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479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Логика</a:t>
                      </a:r>
                      <a:endParaRPr lang="ru-RU" sz="2400" b="0">
                        <a:solidFill>
                          <a:srgbClr val="2B2D3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Может содержать готовый код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Обычно только названия методов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42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Связи</a:t>
                      </a:r>
                      <a:endParaRPr lang="ru-RU" sz="2400" b="0">
                        <a:solidFill>
                          <a:srgbClr val="2B2D31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Объединяет близких родственников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rgbClr val="2B2D31"/>
                          </a:solidFill>
                          <a:effectLst/>
                          <a:latin typeface="Bookman Old Style" panose="02050604050505020204" pitchFamily="18" charset="0"/>
                        </a:rPr>
                        <a:t>Объединяет совершенно разных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075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29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Практический пример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-97536" y="654356"/>
            <a:ext cx="12192000" cy="584775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Age; }</a:t>
            </a:r>
          </a:p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Machine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SerialNumber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IFlyable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Fly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Eagle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IFlyable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Fly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Орел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машет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крыльями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Machine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IFlyable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Fly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2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2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200" dirty="0" err="1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200" dirty="0" err="1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Дрон</a:t>
            </a:r>
            <a:r>
              <a:rPr lang="ru-RU" sz="22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запускает </a:t>
            </a:r>
            <a:r>
              <a:rPr lang="ru-RU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пропеллеры"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2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Ostrich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ru-RU" sz="22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 }</a:t>
            </a:r>
            <a:endParaRPr lang="ru-RU" sz="22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64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Резюме (Когда и что выбирать)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-97536" y="654356"/>
            <a:ext cx="12192000" cy="556966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Выбирайте Абстрактный класс, если: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Вы хотите создать группу тесно связанных классов.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Вам нужно хранить общие данные (поля).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У вас есть готовый код, который должны использовать все потомки.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Выбирайте Интерфейс, если: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Вам нужно добавить «навык» классам, которые не связаны родством.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Вы хотите гарантировать наличие метода, но вам неважно, как он будет работать.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Вам нужно «множественное наследование» (один класс делает много разных вещей).</a:t>
            </a:r>
          </a:p>
        </p:txBody>
      </p:sp>
    </p:spTree>
    <p:extLst>
      <p:ext uri="{BB962C8B-B14F-4D97-AF65-F5344CB8AC3E}">
        <p14:creationId xmlns:p14="http://schemas.microsoft.com/office/powerpoint/2010/main" val="127703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Системные интерфейсы .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NET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28623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Зачем они </a:t>
            </a:r>
            <a:r>
              <a:rPr lang="ru-RU" sz="2400" b="1" dirty="0" smtClean="0">
                <a:latin typeface="Bookman Old Style" panose="02050604050505020204" pitchFamily="18" charset="0"/>
              </a:rPr>
              <a:t>нужны?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latin typeface="Bookman Old Style" panose="02050604050505020204" pitchFamily="18" charset="0"/>
              </a:rPr>
              <a:t>стандартной библиотеке C# уже написаны тысячи полезных функций (например, </a:t>
            </a:r>
            <a:r>
              <a:rPr lang="ru-RU" sz="2400" dirty="0" err="1">
                <a:latin typeface="Bookman Old Style" panose="02050604050505020204" pitchFamily="18" charset="0"/>
              </a:rPr>
              <a:t>Array.Sort</a:t>
            </a:r>
            <a:r>
              <a:rPr lang="ru-RU" sz="2400" dirty="0">
                <a:latin typeface="Bookman Old Style" panose="02050604050505020204" pitchFamily="18" charset="0"/>
              </a:rPr>
              <a:t>() или </a:t>
            </a:r>
            <a:r>
              <a:rPr lang="ru-RU" sz="2400" dirty="0" err="1">
                <a:latin typeface="Bookman Old Style" panose="02050604050505020204" pitchFamily="18" charset="0"/>
              </a:rPr>
              <a:t>HashSet.Contains</a:t>
            </a:r>
            <a:r>
              <a:rPr lang="ru-RU" sz="2400" dirty="0">
                <a:latin typeface="Bookman Old Style" panose="02050604050505020204" pitchFamily="18" charset="0"/>
              </a:rPr>
              <a:t>()). Чтобы они могли работать с </a:t>
            </a:r>
            <a:r>
              <a:rPr lang="ru-RU" sz="2400" b="1" dirty="0">
                <a:latin typeface="Bookman Old Style" panose="02050604050505020204" pitchFamily="18" charset="0"/>
              </a:rPr>
              <a:t>вашими</a:t>
            </a:r>
            <a:r>
              <a:rPr lang="ru-RU" sz="2400" dirty="0">
                <a:latin typeface="Bookman Old Style" panose="02050604050505020204" pitchFamily="18" charset="0"/>
              </a:rPr>
              <a:t> классами, ваши классы должны реализовать стандартные «интерфейсы-контракты».</a:t>
            </a:r>
            <a:endParaRPr lang="ru-RU" sz="3200" dirty="0">
              <a:solidFill>
                <a:srgbClr val="000000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23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IEquatable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>
                <a:latin typeface="Bookman Old Style" panose="02050604050505020204" pitchFamily="18" charset="0"/>
              </a:rPr>
              <a:t>IEquatable</a:t>
            </a:r>
            <a:r>
              <a:rPr lang="ru-RU" sz="2400" dirty="0">
                <a:latin typeface="Bookman Old Style" panose="02050604050505020204" pitchFamily="18" charset="0"/>
              </a:rPr>
              <a:t>&lt;T&gt; </a:t>
            </a:r>
            <a:r>
              <a:rPr lang="ru-RU" sz="2400" dirty="0" smtClean="0">
                <a:latin typeface="Bookman Old Style" panose="02050604050505020204" pitchFamily="18" charset="0"/>
              </a:rPr>
              <a:t>позволяет сравнивать </a:t>
            </a:r>
            <a:r>
              <a:rPr lang="ru-RU" sz="2400" dirty="0">
                <a:latin typeface="Bookman Old Style" panose="02050604050505020204" pitchFamily="18" charset="0"/>
              </a:rPr>
              <a:t>объекты одного типа. Этот интерфейс определяет метод </a:t>
            </a:r>
            <a:r>
              <a:rPr lang="ru-RU" sz="2400" dirty="0" err="1" smtClean="0">
                <a:latin typeface="Bookman Old Style" panose="02050604050505020204" pitchFamily="18" charset="0"/>
              </a:rPr>
              <a:t>Equals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IEquatable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Конструктор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Name = name;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Age = age;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04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Реализация метода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Equals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из интерфейса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IEquatable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Equals(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other)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if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(other ==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return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 ==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&amp;&amp; Age ==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other.Age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Переопределение метода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Equals(object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Equals(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if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return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Equals(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otherPerson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Переопределение метода </a:t>
            </a:r>
            <a:r>
              <a:rPr lang="en-US" sz="2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GetHashCode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GetHashCode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HashCode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.Combine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(Name, Age);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Для удобства вывода информации о человеке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()=&gt;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{Age}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years old"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52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person1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"Alice"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30);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person2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"Alice"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30);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person3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25);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(person1.Equals(person2));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True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(person1.Equals(person3));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False</a:t>
            </a:r>
          </a:p>
          <a:p>
            <a:endParaRPr lang="ru-RU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Использование коллекции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people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HashSet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{ person1, person3 };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people.Contains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(person2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</a:p>
          <a:p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True,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так как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person2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равен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person1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Реализация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err="1" smtClean="0">
                <a:latin typeface="Bookman Old Style" panose="02050604050505020204" pitchFamily="18" charset="0"/>
              </a:rPr>
              <a:t>IEquatable</a:t>
            </a:r>
            <a:r>
              <a:rPr lang="ru-RU" sz="2400" dirty="0" smtClean="0">
                <a:latin typeface="Bookman Old Style" panose="02050604050505020204" pitchFamily="18" charset="0"/>
              </a:rPr>
              <a:t>&lt;T&gt; </a:t>
            </a:r>
            <a:r>
              <a:rPr lang="ru-RU" sz="2400" dirty="0">
                <a:latin typeface="Bookman Old Style" panose="02050604050505020204" pitchFamily="18" charset="0"/>
              </a:rPr>
              <a:t>позволяет избежать приведения типов </a:t>
            </a:r>
            <a:r>
              <a:rPr lang="ru-RU" sz="2400" dirty="0" err="1">
                <a:latin typeface="Bookman Old Style" panose="02050604050505020204" pitchFamily="18" charset="0"/>
              </a:rPr>
              <a:t>System.Object</a:t>
            </a:r>
            <a:r>
              <a:rPr lang="ru-RU" sz="2400" dirty="0">
                <a:latin typeface="Bookman Old Style" panose="02050604050505020204" pitchFamily="18" charset="0"/>
              </a:rPr>
              <a:t>, которое может иметь значение, если оно вызывается </a:t>
            </a:r>
            <a:r>
              <a:rPr lang="ru-RU" sz="2400" dirty="0" smtClean="0">
                <a:latin typeface="Bookman Old Style" panose="02050604050505020204" pitchFamily="18" charset="0"/>
              </a:rPr>
              <a:t>часто. Также реализация интерфейса явно говорит о том, что метод сравнения переопределён.</a:t>
            </a:r>
          </a:p>
        </p:txBody>
      </p:sp>
    </p:spTree>
    <p:extLst>
      <p:ext uri="{BB962C8B-B14F-4D97-AF65-F5344CB8AC3E}">
        <p14:creationId xmlns:p14="http://schemas.microsoft.com/office/powerpoint/2010/main" val="339350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IComparable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415498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Определяет обобщенный метод сравнения, который реализуется типом значения или классом для создания метода сравнения с целью упорядочения или сортировки экземпляров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IComparable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CompareTo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o);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61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Метод </a:t>
            </a:r>
            <a:r>
              <a:rPr lang="ru-RU" sz="2400" dirty="0" err="1">
                <a:latin typeface="Bookman Old Style" panose="02050604050505020204" pitchFamily="18" charset="0"/>
              </a:rPr>
              <a:t>CompareTo</a:t>
            </a:r>
            <a:r>
              <a:rPr lang="ru-RU" sz="2400" dirty="0">
                <a:latin typeface="Bookman Old Style" panose="02050604050505020204" pitchFamily="18" charset="0"/>
              </a:rPr>
              <a:t> предназначен для сравнения текущего объекта с объектом, который передается в качестве параметра </a:t>
            </a:r>
            <a:r>
              <a:rPr lang="ru-RU" sz="2400" dirty="0" err="1">
                <a:latin typeface="Bookman Old Style" panose="02050604050505020204" pitchFamily="18" charset="0"/>
              </a:rPr>
              <a:t>object</a:t>
            </a:r>
            <a:r>
              <a:rPr lang="ru-RU" sz="2400" dirty="0">
                <a:latin typeface="Bookman Old Style" panose="02050604050505020204" pitchFamily="18" charset="0"/>
              </a:rPr>
              <a:t>? o. На выходе он возвращает целое число, которое может иметь одно из трех значений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Меньше нуля. Значит, текущий объект должен находиться перед объектом, который передается в качестве </a:t>
            </a:r>
            <a:r>
              <a:rPr lang="ru-RU" sz="2400" dirty="0" smtClean="0">
                <a:latin typeface="Bookman Old Style" panose="02050604050505020204" pitchFamily="18" charset="0"/>
              </a:rPr>
              <a:t>параметра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Равен нулю. Значит, оба объекта </a:t>
            </a:r>
            <a:r>
              <a:rPr lang="ru-RU" sz="2400" dirty="0" smtClean="0">
                <a:latin typeface="Bookman Old Style" panose="02050604050505020204" pitchFamily="18" charset="0"/>
              </a:rPr>
              <a:t>равны</a:t>
            </a:r>
            <a:r>
              <a:rPr lang="en-US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Bookman Old Style" panose="02050604050505020204" pitchFamily="18" charset="0"/>
              </a:rPr>
              <a:t>Больше нуля. Значит, текущий объект должен находиться после объекта, передаваемого в качестве </a:t>
            </a:r>
            <a:r>
              <a:rPr lang="ru-RU" sz="2400" dirty="0" smtClean="0">
                <a:latin typeface="Bookman Old Style" panose="02050604050505020204" pitchFamily="18" charset="0"/>
              </a:rPr>
              <a:t>параметра</a:t>
            </a:r>
            <a:r>
              <a:rPr lang="en-US" sz="2400" dirty="0">
                <a:latin typeface="Bookman Old Style" panose="02050604050505020204" pitchFamily="18" charset="0"/>
              </a:rPr>
              <a:t>.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29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Реализуем интерфейс </a:t>
            </a:r>
            <a:r>
              <a:rPr lang="en-US" sz="2400" dirty="0" err="1" smtClean="0">
                <a:latin typeface="Bookman Old Style" panose="02050604050505020204" pitchFamily="18" charset="0"/>
              </a:rPr>
              <a:t>IComparable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для класса </a:t>
            </a:r>
            <a:r>
              <a:rPr lang="en-US" sz="2400" dirty="0" smtClean="0">
                <a:latin typeface="Bookman Old Style" panose="02050604050505020204" pitchFamily="18" charset="0"/>
              </a:rPr>
              <a:t>Person: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IComparable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Name = name; 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Age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 age;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CompareTo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o)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(o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person)</a:t>
            </a: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Name.CompareTo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person.Name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ArgumentException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50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Пример сортировки:</a:t>
            </a: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tom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37);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bob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41);</a:t>
            </a:r>
          </a:p>
          <a:p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sam = 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nn-NO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"Sam"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25);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people = { tom, bob,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(people);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people)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Видим, что массив людей отсортирован по имени.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824" y="4695040"/>
            <a:ext cx="2160000" cy="139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2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Изменим метод для сортировки по возрасту: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CompareTo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o)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(o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person)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 -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ArgumentException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		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Некорректное значение параметра"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389" y="3805159"/>
            <a:ext cx="2160000" cy="136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2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Более чистым решением является применение </a:t>
            </a:r>
            <a:r>
              <a:rPr lang="en-US" sz="2400" b="1" dirty="0" err="1" smtClean="0">
                <a:latin typeface="Bookman Old Style" panose="02050604050505020204" pitchFamily="18" charset="0"/>
              </a:rPr>
              <a:t>IComparer</a:t>
            </a:r>
            <a:endParaRPr lang="ru-RU" sz="2400" b="1" dirty="0" smtClean="0">
              <a:latin typeface="Bookman Old Style" panose="02050604050505020204" pitchFamily="18" charset="0"/>
            </a:endParaRP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IComparer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Compare(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x, </a:t>
            </a:r>
            <a:r>
              <a:rPr lang="fr-FR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</a:t>
            </a:r>
            <a:r>
              <a:rPr lang="fr-FR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y);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PeopleComparer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IComparer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Compare(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p1,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p2)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(p1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|| p2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ru-RU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ArgumentException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		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Некорректное значение параметра"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p1.Name.Length - p2.Name.Length;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36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В метод сортировки необходимо передать </a:t>
            </a:r>
            <a:r>
              <a:rPr lang="en-US" sz="2400" dirty="0" err="1" smtClean="0">
                <a:latin typeface="Bookman Old Style" panose="02050604050505020204" pitchFamily="18" charset="0"/>
              </a:rPr>
              <a:t>IComparer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"Alice"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41);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tom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37);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"Kate"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25);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people = {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alice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tom,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Array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.Sort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(people,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PeopleComparer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people)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Данный подход удобнее т.к. способ сравнения не закреплён за самим классом </a:t>
            </a:r>
            <a:r>
              <a:rPr lang="en-US" sz="2400" dirty="0" smtClean="0">
                <a:latin typeface="Bookman Old Style" panose="02050604050505020204" pitchFamily="18" charset="0"/>
              </a:rPr>
              <a:t>Person</a:t>
            </a:r>
            <a:r>
              <a:rPr lang="ru-RU" sz="2400" dirty="0" smtClean="0">
                <a:latin typeface="Bookman Old Style" panose="02050604050505020204" pitchFamily="18" charset="0"/>
              </a:rPr>
              <a:t> и, соответственно, может существовать несколько реализаций </a:t>
            </a:r>
            <a:r>
              <a:rPr lang="en-US" sz="2400" dirty="0" err="1" smtClean="0">
                <a:latin typeface="Bookman Old Style" panose="02050604050505020204" pitchFamily="18" charset="0"/>
              </a:rPr>
              <a:t>IComparer</a:t>
            </a:r>
            <a:r>
              <a:rPr lang="ru-RU" sz="2400" dirty="0" smtClean="0">
                <a:latin typeface="Bookman Old Style" panose="02050604050505020204" pitchFamily="18" charset="0"/>
              </a:rPr>
              <a:t>, которые выбирать по ситуации.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163" y="2470043"/>
            <a:ext cx="256283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ICloneable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323165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Поддерживает копирование, при котором создается новый экземпляр класса с тем же значением, что и у существующего экземпляра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ICloneable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Clone();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7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latin typeface="Bookman Old Style" panose="02050604050505020204" pitchFamily="18" charset="0"/>
              </a:rPr>
              <a:t>Реализуем интерфейс </a:t>
            </a:r>
            <a:r>
              <a:rPr lang="en-US" sz="2400" dirty="0" err="1">
                <a:latin typeface="Bookman Old Style" panose="02050604050505020204" pitchFamily="18" charset="0"/>
              </a:rPr>
              <a:t>ICloneable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для класса </a:t>
            </a:r>
            <a:r>
              <a:rPr lang="en-US" sz="2400" dirty="0">
                <a:latin typeface="Bookman Old Style" panose="02050604050505020204" pitchFamily="18" charset="0"/>
              </a:rPr>
              <a:t>Person: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ICloneable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Name = name;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Age = age;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Clone()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(Name, Age);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66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Пример клонирования: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tom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23);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bob = 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tom.Clone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bob.Name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tom.Name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Tom</a:t>
            </a:r>
            <a:endParaRPr lang="ru-RU" sz="2400" dirty="0" smtClean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Альтернативная «готовая» реализация метода клонирования:</a:t>
            </a:r>
            <a:endParaRPr lang="ru-RU" sz="2400" dirty="0">
              <a:latin typeface="Bookman Old Style" panose="02050604050505020204" pitchFamily="18" charset="0"/>
            </a:endParaRPr>
          </a:p>
          <a:p>
            <a:endParaRPr lang="ru-RU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Clone()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MemberwiseClone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Метод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MemberwiseClone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производит поверхностное копирование, вложенные ссылочные типы скопированы не будут.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7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14931</TotalTime>
  <Words>1418</Words>
  <Application>Microsoft Office PowerPoint</Application>
  <PresentationFormat>Широкоэкранный</PresentationFormat>
  <Paragraphs>304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Bookman Old Style</vt:lpstr>
      <vt:lpstr>Calibri</vt:lpstr>
      <vt:lpstr>Calibri Light</vt:lpstr>
      <vt:lpstr>Cascadia Mono</vt:lpstr>
      <vt:lpstr>Times New Roman</vt:lpstr>
      <vt:lpstr>Тема Office</vt:lpstr>
      <vt:lpstr>2 семестр Лекция 5.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799</cp:revision>
  <dcterms:modified xsi:type="dcterms:W3CDTF">2026-02-10T07:05:17Z</dcterms:modified>
</cp:coreProperties>
</file>