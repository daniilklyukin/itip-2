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42"/>
  </p:notesMasterIdLst>
  <p:sldIdLst>
    <p:sldId id="273" r:id="rId2"/>
    <p:sldId id="970" r:id="rId3"/>
    <p:sldId id="1006" r:id="rId4"/>
    <p:sldId id="1007" r:id="rId5"/>
    <p:sldId id="971" r:id="rId6"/>
    <p:sldId id="1003" r:id="rId7"/>
    <p:sldId id="973" r:id="rId8"/>
    <p:sldId id="1020" r:id="rId9"/>
    <p:sldId id="1021" r:id="rId10"/>
    <p:sldId id="1010" r:id="rId11"/>
    <p:sldId id="974" r:id="rId12"/>
    <p:sldId id="1004" r:id="rId13"/>
    <p:sldId id="1008" r:id="rId14"/>
    <p:sldId id="1022" r:id="rId15"/>
    <p:sldId id="1023" r:id="rId16"/>
    <p:sldId id="1011" r:id="rId17"/>
    <p:sldId id="1015" r:id="rId18"/>
    <p:sldId id="979" r:id="rId19"/>
    <p:sldId id="980" r:id="rId20"/>
    <p:sldId id="1016" r:id="rId21"/>
    <p:sldId id="981" r:id="rId22"/>
    <p:sldId id="982" r:id="rId23"/>
    <p:sldId id="983" r:id="rId24"/>
    <p:sldId id="985" r:id="rId25"/>
    <p:sldId id="1017" r:id="rId26"/>
    <p:sldId id="986" r:id="rId27"/>
    <p:sldId id="987" r:id="rId28"/>
    <p:sldId id="1018" r:id="rId29"/>
    <p:sldId id="988" r:id="rId30"/>
    <p:sldId id="1019" r:id="rId31"/>
    <p:sldId id="989" r:id="rId32"/>
    <p:sldId id="990" r:id="rId33"/>
    <p:sldId id="991" r:id="rId34"/>
    <p:sldId id="992" r:id="rId35"/>
    <p:sldId id="993" r:id="rId36"/>
    <p:sldId id="994" r:id="rId37"/>
    <p:sldId id="995" r:id="rId38"/>
    <p:sldId id="996" r:id="rId39"/>
    <p:sldId id="997" r:id="rId40"/>
    <p:sldId id="998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82523" autoAdjust="0"/>
  </p:normalViewPr>
  <p:slideViewPr>
    <p:cSldViewPr snapToGrid="0">
      <p:cViewPr varScale="1">
        <p:scale>
          <a:sx n="90" d="100"/>
          <a:sy n="90" d="100"/>
        </p:scale>
        <p:origin x="108" y="1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0597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8013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3646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4946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8875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7286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5703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1020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762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024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3865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234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7530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8780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336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937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7268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1051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2697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7891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1956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5612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5075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8959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0156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8777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5462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23638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4336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6098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409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0286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3304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82155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7794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9342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0737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4787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7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965112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23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3460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23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4405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23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215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35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9695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35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96247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23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920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23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0768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23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3617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>
                <a:solidFill>
                  <a:srgbClr val="5A5A5A"/>
                </a:solidFill>
                <a:latin typeface="Bookman Old Style" panose="02050604050505020204" pitchFamily="18" charset="0"/>
              </a:rPr>
              <a:t>23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1394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35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35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1229585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5468" y="2799243"/>
            <a:ext cx="8978016" cy="1697444"/>
          </a:xfrm>
        </p:spPr>
        <p:txBody>
          <a:bodyPr>
            <a:noAutofit/>
          </a:bodyPr>
          <a:lstStyle/>
          <a:p>
            <a:pPr algn="l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2 семестр</a:t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1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35468" y="4510237"/>
            <a:ext cx="897801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Классы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Структуры</a:t>
            </a:r>
            <a:endParaRPr lang="ru-RU" sz="28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Пространства имен</a:t>
            </a:r>
            <a:endParaRPr lang="ru-RU" sz="28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0" y="654356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indent="717550" algn="just">
              <a:lnSpc>
                <a:spcPct val="120000"/>
              </a:lnSpc>
            </a:pP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Класс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это описание структуры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данных, которая объединяет в себе значения (поля) и действия (методы и другие функции-члены).</a:t>
            </a:r>
          </a:p>
          <a:p>
            <a:pPr indent="717550" algn="just">
              <a:lnSpc>
                <a:spcPct val="12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Описанием 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объекта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является 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класс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а объект представляет экземпляр этого класса. Можно еще провести следующую аналогию. У нас у всех есть некоторое представление о человеке, у которого есть имя, возраст, какие-то другие характеристики. То есть некоторый шаблон - этот шаблон можно назвать классом. Конкретное воплощение этого шаблона может отличаться, например, одни люди имеют одно имя, другие - другое имя. И реально существующий человек (фактически экземпляр данного класса) будет представлять объект этого класса.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8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Класс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889591" y="5208551"/>
            <a:ext cx="6096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название_класса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содержимое класса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6985591" y="5178671"/>
            <a:ext cx="6096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2327949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3268" y="0"/>
            <a:ext cx="11603010" cy="156966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Добавление класса в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Visual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Studio</a:t>
            </a:r>
            <a:endParaRPr lang="ru-RU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Обычно классы помещаются в отдельные файлы. Нередко для одного класса предназначен один файл. И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Visual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Studio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предоставляет по умолчанию встроенные шаблоны для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добавления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класса.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30" r="80826" b="70976"/>
          <a:stretch/>
        </p:blipFill>
        <p:spPr>
          <a:xfrm>
            <a:off x="1246246" y="1569660"/>
            <a:ext cx="3790378" cy="203079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10" t="41436" r="52766" b="37940"/>
          <a:stretch/>
        </p:blipFill>
        <p:spPr>
          <a:xfrm>
            <a:off x="5036624" y="2384423"/>
            <a:ext cx="4639624" cy="2544869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75" t="42162" b="45355"/>
          <a:stretch/>
        </p:blipFill>
        <p:spPr>
          <a:xfrm>
            <a:off x="1215481" y="4875600"/>
            <a:ext cx="6891406" cy="1584386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75" t="85952" r="15623"/>
          <a:stretch/>
        </p:blipFill>
        <p:spPr>
          <a:xfrm>
            <a:off x="8128284" y="4929292"/>
            <a:ext cx="3547994" cy="153069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527733" y="5746091"/>
            <a:ext cx="9092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>
                <a:latin typeface="Bookman Old Style" panose="02050604050505020204" pitchFamily="18" charset="0"/>
              </a:rPr>
              <a:t>ИЛИ</a:t>
            </a:r>
            <a:endParaRPr lang="ru-RU" sz="2400" b="1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4627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43" y="323849"/>
            <a:ext cx="11712595" cy="5848351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3421" y="323849"/>
            <a:ext cx="4291517" cy="3937001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576103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Поля и методы класса</a:t>
            </a:r>
          </a:p>
          <a:p>
            <a:pPr indent="717550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Класс может хранить некоторые данные. Для хранения данных в классе применяются </a:t>
            </a:r>
            <a:r>
              <a:rPr lang="ru-RU" sz="2400" b="1" dirty="0">
                <a:latin typeface="Bookman Old Style" panose="02050604050505020204" pitchFamily="18" charset="0"/>
              </a:rPr>
              <a:t>поля</a:t>
            </a:r>
            <a:r>
              <a:rPr lang="ru-RU" sz="2400" dirty="0">
                <a:latin typeface="Bookman Old Style" panose="02050604050505020204" pitchFamily="18" charset="0"/>
              </a:rPr>
              <a:t>.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indent="717550"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Поле </a:t>
            </a:r>
            <a:r>
              <a:rPr lang="ru-RU" sz="2400" b="1" dirty="0">
                <a:latin typeface="Bookman Old Style" panose="02050604050505020204" pitchFamily="18" charset="0"/>
              </a:rPr>
              <a:t>класса </a:t>
            </a:r>
            <a:r>
              <a:rPr lang="ru-RU" sz="2400" dirty="0">
                <a:latin typeface="Bookman Old Style" panose="02050604050505020204" pitchFamily="18" charset="0"/>
              </a:rPr>
              <a:t>- это переменные, определенные на уровне класса.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Кроме того, класс может определять некоторое поведение или выполняемые действия. Для определения поведения в классе применяются методы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76225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0" y="0"/>
            <a:ext cx="12192000" cy="489364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"Undefined"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имя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age;                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age}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отличие от переменных, определенных в методах, поля класса могут иметь </a:t>
            </a:r>
            <a:r>
              <a:rPr lang="ru-RU" sz="2400" b="1" dirty="0">
                <a:latin typeface="Bookman Old Style" panose="02050604050505020204" pitchFamily="18" charset="0"/>
              </a:rPr>
              <a:t>модификаторы</a:t>
            </a:r>
            <a:r>
              <a:rPr lang="ru-RU" sz="2400" dirty="0">
                <a:latin typeface="Bookman Old Style" panose="02050604050505020204" pitchFamily="18" charset="0"/>
              </a:rPr>
              <a:t>, которые указываются перед полем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051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Обращение к функциональности класса</a:t>
            </a:r>
          </a:p>
          <a:p>
            <a:pPr indent="717550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обращения к функциональности класса - полям, методам (а также другим элементам класса) применяется точечная нотация точки - после объекта класса ставится точка, а затем элемент класса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indent="717550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создание объекта класса </a:t>
            </a:r>
            <a:r>
              <a:rPr lang="ru-RU" sz="2400" dirty="0" err="1" smtClean="0">
                <a:solidFill>
                  <a:srgbClr val="008000"/>
                </a:solidFill>
                <a:latin typeface="Cascadia Mono" panose="020B0609020000020004" pitchFamily="49" charset="0"/>
              </a:rPr>
              <a:t>Person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tom.name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// Получаем значение полей в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переменные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Возраст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 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Undefined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0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tom.name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// устанавливаем новые значения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полей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37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обращаемся к методу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Print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Tom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37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370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0" y="-9525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Создание объекта класса</a:t>
            </a:r>
          </a:p>
          <a:p>
            <a:pPr indent="717550"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После определения класса мы можем создавать его объекты. Для создания объекта применяются 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конструкторы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</a:p>
          <a:p>
            <a:pPr indent="717550"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Конструктор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это специальный метод, который вызывается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при создании нового объекта класса и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выполняет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инициализацию объекта.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Имя конструктора совпадает с именем класса. 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создание объекта класса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Person</a:t>
            </a:r>
            <a:endParaRPr lang="ru-RU" sz="2400" dirty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определение класса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		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//Конструктор</a:t>
            </a:r>
            <a:endParaRPr lang="en-US" sz="2400" dirty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	{</a:t>
            </a: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//Если конструктор пустой, то создавать его не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обязательно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	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86366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0" y="0"/>
            <a:ext cx="12192000" cy="692497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создание объекта класса </a:t>
            </a:r>
            <a:r>
              <a:rPr lang="ru-RU" sz="2400" dirty="0" err="1" smtClean="0">
                <a:solidFill>
                  <a:srgbClr val="008000"/>
                </a:solidFill>
                <a:latin typeface="Cascadia Mono" panose="020B0609020000020004" pitchFamily="49" charset="0"/>
              </a:rPr>
              <a:t>Person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 smtClean="0">
                <a:solidFill>
                  <a:srgbClr val="2B91AF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определение класса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name;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поле - </a:t>
            </a:r>
            <a:r>
              <a:rPr lang="en-US" sz="2400" dirty="0" err="1" smtClean="0">
                <a:solidFill>
                  <a:srgbClr val="008000"/>
                </a:solidFill>
                <a:latin typeface="Cascadia Mono" panose="020B0609020000020004" pitchFamily="49" charset="0"/>
              </a:rPr>
              <a:t>имя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age;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поле - возраст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	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Конструктор</a:t>
            </a:r>
            <a:endParaRPr lang="en-US" sz="2400" dirty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{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Undefined“</a:t>
            </a:r>
            <a:r>
              <a:rPr lang="en-US" sz="2400" dirty="0" smtClean="0"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age = 18;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b="0" i="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В строке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Заметим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что для создания объекта всегда используется специальное слово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конструктор был доступен </a:t>
            </a:r>
            <a:r>
              <a:rPr lang="ru-RU" sz="2400" dirty="0">
                <a:latin typeface="Bookman Old Style" panose="02050604050505020204" pitchFamily="18" charset="0"/>
              </a:rPr>
              <a:t>вне класса 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используется модификатор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240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ctr"/>
            <a:r>
              <a:rPr lang="ru-RU" sz="2400" b="1" dirty="0">
                <a:latin typeface="Bookman Old Style" panose="02050604050505020204" pitchFamily="18" charset="0"/>
              </a:rPr>
              <a:t>Вопросы аудитории: </a:t>
            </a:r>
            <a:r>
              <a:rPr lang="ru-RU" sz="2400" dirty="0" smtClean="0">
                <a:latin typeface="Bookman Old Style" panose="02050604050505020204" pitchFamily="18" charset="0"/>
              </a:rPr>
              <a:t>какой здесь порядок выполнения?</a:t>
            </a: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age}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 {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"Hello 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World"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age = 37;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283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Константы 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класса</a:t>
            </a:r>
            <a:endParaRPr lang="ru-RU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indent="717550" algn="just"/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Кроме полей класс может определять для хранения данных константы. В отличие от полей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их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значение устанавливается один раз непосредственно при их объявлении и впоследствии не может быть изменено. Кроме того, константы хранят некоторые данные, которые относятся не к одному объекту, а ко всему классу в целом. И для обращения к константам применяется не имя объекта, а имя класса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</a:p>
          <a:p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Person();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tom.name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Person: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Tom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.type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 err="1" smtClean="0">
                <a:latin typeface="Cascadia Mono" panose="020B0609020000020004" pitchFamily="49" charset="0"/>
              </a:rPr>
              <a:t>.type</a:t>
            </a:r>
            <a:r>
              <a:rPr lang="ru-RU" sz="2400" dirty="0" smtClean="0">
                <a:latin typeface="Cascadia Mono" panose="020B0609020000020004" pitchFamily="49" charset="0"/>
              </a:rPr>
              <a:t> =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User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latin typeface="Cascadia Mono" panose="020B0609020000020004" pitchFamily="49" charset="0"/>
              </a:rPr>
              <a:t>;   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!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Ошибка: изменить константу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нельзя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const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type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"Person"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"Undefined"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()=&gt;</a:t>
            </a:r>
            <a:r>
              <a:rPr lang="en-US" sz="2400" dirty="0" err="1" smtClean="0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{type}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: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8105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Поля для чтения и модификатор </a:t>
            </a:r>
            <a:r>
              <a:rPr lang="ru-RU" sz="2400" b="1" dirty="0" err="1" smtClean="0">
                <a:solidFill>
                  <a:srgbClr val="000000"/>
                </a:solidFill>
                <a:latin typeface="Bookman Old Style" panose="02050604050505020204" pitchFamily="18" charset="0"/>
              </a:rPr>
              <a:t>readonly</a:t>
            </a:r>
            <a:endParaRPr lang="ru-RU" sz="2400" b="1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Таким полям можно присвоить значение либо при непосредственно при их объявлении, либо в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конструкторе</a:t>
            </a:r>
          </a:p>
          <a:p>
            <a:pPr algn="just"/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Person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(tom.name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//tom.name = "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Sam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"; // !Ошибка: нельзя изменить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readonly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"Undefined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.name =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name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в конструкторе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можно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ChangeName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otherName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//this.name = </a:t>
            </a:r>
            <a:r>
              <a:rPr lang="en-US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otherName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;    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так нельзя 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9159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29D7713-F574-4AEF-977E-4D69A26E9D1A}"/>
              </a:ext>
            </a:extLst>
          </p:cNvPr>
          <p:cNvSpPr/>
          <p:nvPr/>
        </p:nvSpPr>
        <p:spPr>
          <a:xfrm>
            <a:off x="0" y="0"/>
            <a:ext cx="12192000" cy="634019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ru-RU" sz="2400" b="1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Перегрузка</a:t>
            </a: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 метода – создание нескольких методов с одинаковым названием, но разными </a:t>
            </a:r>
            <a:r>
              <a:rPr lang="ru-RU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аргументами</a:t>
            </a:r>
            <a:r>
              <a:rPr lang="en-US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 (</a:t>
            </a:r>
            <a:r>
              <a:rPr lang="ru-RU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возможно только внутри класса</a:t>
            </a:r>
            <a:r>
              <a:rPr lang="en-US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)</a:t>
            </a:r>
            <a:r>
              <a:rPr lang="ru-RU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.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2B91AF"/>
                </a:solidFill>
                <a:latin typeface="Cascadia Mono" panose="020B0609020000020004" pitchFamily="49" charset="0"/>
              </a:rPr>
              <a:t>Calculator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float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Sum(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float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a,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float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b)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Сумма 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вещественных чисел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a+b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Sum(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a,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b)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 smtClean="0">
                <a:solidFill>
                  <a:srgbClr val="2B91AF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Сумма 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целых чисел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a+b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Количество методов может быть любым, не может быть двух методов с одинаковыми аргументами.</a:t>
            </a: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ru-RU" sz="2400" dirty="0">
                <a:latin typeface="Bookman Old Style" panose="02050604050505020204" pitchFamily="18" charset="0"/>
                <a:ea typeface="Times New Roman" panose="02020603050405020304" pitchFamily="18" charset="0"/>
              </a:rPr>
              <a:t>Должен отличаться тип аргументов, их количество или порядок</a:t>
            </a:r>
            <a:r>
              <a:rPr lang="ru-RU" sz="2400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5935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29D7713-F574-4AEF-977E-4D69A26E9D1A}"/>
              </a:ext>
            </a:extLst>
          </p:cNvPr>
          <p:cNvSpPr/>
          <p:nvPr/>
        </p:nvSpPr>
        <p:spPr>
          <a:xfrm>
            <a:off x="0" y="0"/>
            <a:ext cx="12192000" cy="659873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10000"/>
              </a:lnSpc>
              <a:spcAft>
                <a:spcPts val="600"/>
              </a:spcAft>
            </a:pPr>
            <a:r>
              <a:rPr lang="ru-RU" sz="2400" b="1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Пример перегрузки метода </a:t>
            </a:r>
            <a:r>
              <a:rPr lang="en-US" sz="2400" b="1" dirty="0" smtClean="0">
                <a:latin typeface="Bookman Old Style" panose="02050604050505020204" pitchFamily="18" charset="0"/>
                <a:ea typeface="Times New Roman" panose="02020603050405020304" pitchFamily="18" charset="0"/>
              </a:rPr>
              <a:t>Deposit</a:t>
            </a:r>
            <a:endParaRPr lang="ru-RU" sz="2400" b="1" dirty="0" smtClean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0000"/>
              </a:lnSpc>
              <a:spcAft>
                <a:spcPts val="600"/>
              </a:spcAft>
            </a:pPr>
            <a:endParaRPr lang="ru-RU" sz="2400" b="1" dirty="0">
              <a:latin typeface="Bookman Old Style" panose="02050604050505020204" pitchFamily="18" charset="0"/>
              <a:ea typeface="Times New Roman" panose="020206030504050203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BankAccount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decimal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balance;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BankAccount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decimal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initialBalance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balance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initialBalance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795E26"/>
                </a:solidFill>
                <a:latin typeface="Consolas" panose="020B0609020204030204" pitchFamily="49" charset="0"/>
              </a:rPr>
              <a:t>Deposit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decimal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amount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balance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+=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amount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ru-RU" sz="2400" b="1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Продолжение на следующем слайде...</a:t>
            </a:r>
            <a:endParaRPr lang="en-US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521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29D7713-F574-4AEF-977E-4D69A26E9D1A}"/>
              </a:ext>
            </a:extLst>
          </p:cNvPr>
          <p:cNvSpPr/>
          <p:nvPr/>
        </p:nvSpPr>
        <p:spPr>
          <a:xfrm>
            <a:off x="0" y="0"/>
            <a:ext cx="12109450" cy="689111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ru-RU" sz="2400" b="1" dirty="0" smtClean="0">
                <a:latin typeface="Bookman Old Style" panose="02050604050505020204" pitchFamily="18" charset="0"/>
              </a:rPr>
              <a:t>Продолжение примера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795E26"/>
                </a:solidFill>
                <a:latin typeface="Consolas" panose="020B0609020204030204" pitchFamily="49" charset="0"/>
              </a:rPr>
              <a:t>Deposit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decimal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amount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description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balance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+=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amount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WriteLine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endParaRPr lang="ru-RU" sz="2400" dirty="0" smtClean="0">
              <a:solidFill>
                <a:srgbClr val="222222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	</a:t>
            </a:r>
            <a:r>
              <a:rPr lang="ru-RU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			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Внесено 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amount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рублей. Описание: 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description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795E26"/>
                </a:solidFill>
                <a:latin typeface="Consolas" panose="020B0609020204030204" pitchFamily="49" charset="0"/>
              </a:rPr>
              <a:t>Deposit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	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				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decimal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amount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description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category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balance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+=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amount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WriteLine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endParaRPr lang="ru-RU" sz="2400" dirty="0" smtClean="0">
              <a:solidFill>
                <a:srgbClr val="222222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	</a:t>
            </a:r>
            <a:r>
              <a:rPr lang="ru-RU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			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Внесено 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amount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ru-RU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рублей.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"+</a:t>
            </a:r>
            <a:endParaRPr lang="ru-RU" sz="2400" dirty="0" smtClean="0">
              <a:solidFill>
                <a:srgbClr val="A31515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	</a:t>
            </a:r>
            <a:r>
              <a:rPr lang="ru-RU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				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Описание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: 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description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. 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Категория: 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category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decimal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GetBalance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() =&gt; balance;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1075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710963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 smtClean="0">
                <a:solidFill>
                  <a:srgbClr val="2B91AF"/>
                </a:solidFill>
                <a:latin typeface="Cascadia Mono" panose="020B0609020000020004" pitchFamily="49" charset="0"/>
              </a:rPr>
              <a:t> </a:t>
            </a:r>
            <a:r>
              <a:rPr lang="ru-RU" sz="2400" b="1" dirty="0" smtClean="0">
                <a:solidFill>
                  <a:srgbClr val="00B05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//Конструкторов </a:t>
            </a:r>
            <a:r>
              <a:rPr lang="ru-RU" sz="2400" b="1" dirty="0">
                <a:solidFill>
                  <a:srgbClr val="00B05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может быть </a:t>
            </a:r>
            <a:r>
              <a:rPr lang="ru-RU" sz="2400" b="1" dirty="0" smtClean="0">
                <a:solidFill>
                  <a:srgbClr val="00B05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несколько</a:t>
            </a:r>
            <a:endParaRPr lang="en-US" sz="2400" b="1" dirty="0">
              <a:solidFill>
                <a:srgbClr val="00B05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Неизвестно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age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18;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 = 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age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18;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n,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a)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name = 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age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a;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 =&gt;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age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6380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267765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  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вызов 1-ого конструктора </a:t>
            </a:r>
            <a:r>
              <a:rPr lang="ru-RU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bob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Bob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//вызов 2-ого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конструктора </a:t>
            </a:r>
            <a:r>
              <a:rPr lang="ru-RU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sam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Sam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25);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вызов 3-его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конструктора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  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Имя: Неизвестно  Возраст: 18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bob.Print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 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Bob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18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sam.Print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 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Sam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25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9881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Ключевое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слово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this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 представляет ссылку на текущий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объект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класса. 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pl-PL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sam = </a:t>
            </a:r>
            <a:r>
              <a:rPr lang="pl-PL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pl-PL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pl-PL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pl-PL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sam.Print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     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Sam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25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 {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Неизвестно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age = 18;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name) {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.name = name; age = 18;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.name =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age;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: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name} 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Возраст: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age}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4125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433965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Цепочка вызова конструкторов</a:t>
            </a:r>
          </a:p>
          <a:p>
            <a:pPr indent="717550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примере выше определены три конструктора. Все три конструктора выполняют однотипные действия - устанавливают значения полей </a:t>
            </a:r>
            <a:r>
              <a:rPr lang="ru-RU" sz="2400" dirty="0" err="1">
                <a:latin typeface="Bookman Old Style" panose="02050604050505020204" pitchFamily="18" charset="0"/>
              </a:rPr>
              <a:t>name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age</a:t>
            </a:r>
            <a:r>
              <a:rPr lang="ru-RU" sz="2400" dirty="0">
                <a:latin typeface="Bookman Old Style" panose="02050604050505020204" pitchFamily="18" charset="0"/>
              </a:rPr>
              <a:t>. Но этих повторяющихся действий могло быть больше. И мы можем не дублировать функциональность конструкторов, а просто обращаться из одного конструктора к другому также через ключевое слово </a:t>
            </a:r>
            <a:r>
              <a:rPr lang="ru-RU" sz="2400" b="1" dirty="0" err="1">
                <a:latin typeface="Bookman Old Style" panose="02050604050505020204" pitchFamily="18" charset="0"/>
              </a:rPr>
              <a:t>this</a:t>
            </a:r>
            <a:r>
              <a:rPr lang="ru-RU" sz="2400" dirty="0">
                <a:latin typeface="Bookman Old Style" panose="02050604050505020204" pitchFamily="18" charset="0"/>
              </a:rPr>
              <a:t>, передавая нужные значения для параметров:</a:t>
            </a:r>
          </a:p>
        </p:txBody>
      </p:sp>
    </p:spTree>
    <p:extLst>
      <p:ext uri="{BB962C8B-B14F-4D97-AF65-F5344CB8AC3E}">
        <p14:creationId xmlns:p14="http://schemas.microsoft.com/office/powerpoint/2010/main" val="1797422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 :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Неизвестно"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 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name) :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(name, 18) 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.name =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age;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=&gt;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age}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94448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bob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pl-PL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sam = </a:t>
            </a:r>
            <a:r>
              <a:rPr lang="pl-PL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pl-PL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pl-PL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pl-PL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</a:t>
            </a:r>
            <a:r>
              <a:rPr lang="pl-PL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  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Имя: Неизвестно  Возраст: 18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bob.Print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 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Bob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18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sam.Print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 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Sam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25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Неизвестно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 = 18)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.name = name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.age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age;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=&gt;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age}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9133199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-9525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Инициализаторы объектов</a:t>
            </a:r>
          </a:p>
          <a:p>
            <a:pPr indent="717550" algn="just"/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Для инициализации объектов классов можно применять 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инициализаторы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 Инициализаторы представляют передачу в фигурных скобках значений доступным полям и свойствам объекта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indent="717550" algn="just"/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{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age = 31 };</a:t>
            </a: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или так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Person tom = new() { name = "Tom", age = 31 };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 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Tom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31</a:t>
            </a:r>
            <a:endParaRPr lang="en-US" sz="2400" dirty="0" smtClean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endParaRPr lang="en-US" sz="2400" dirty="0" smtClean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pPr algn="just"/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С помощью инициализатора мы можем установить значения 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только доступных из вне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класса полей и свойств объекта. Например, в примере выше поля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name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и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age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имеют модификатор доступа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public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поэтому они доступны из любой части программы.</a:t>
            </a:r>
          </a:p>
          <a:p>
            <a:pPr algn="just"/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Инициализатор выполняется после конструктора, поэтому если и в конструкторе, и в инициализаторе устанавливаются значения одних и тех же полей и свойств, то значения, устанавливаемые в конструкторе, заменяются значениями из инициализатора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832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1985938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indent="717550" algn="just"/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Инициализаторы удобно применять, когда поле или свойство класса представляет другой класс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	{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company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{ title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"Microsoft"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} };</a:t>
            </a:r>
          </a:p>
          <a:p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tom.Print();          </a:t>
            </a:r>
            <a:r>
              <a:rPr lang="nn-NO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Имя: Tom  Компания: Microsoft</a:t>
            </a:r>
            <a:endParaRPr lang="nn-NO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Company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company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"Undefined"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company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Company();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: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Компания: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company.title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312229" y="1780563"/>
            <a:ext cx="6879771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Company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title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"Unknown"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023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b="1" dirty="0" err="1">
                <a:latin typeface="Bookman Old Style" panose="02050604050505020204" pitchFamily="18" charset="0"/>
              </a:rPr>
              <a:t>Деконструкторы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 err="1">
                <a:latin typeface="Bookman Old Style" panose="02050604050505020204" pitchFamily="18" charset="0"/>
              </a:rPr>
              <a:t>Деконструкторы</a:t>
            </a:r>
            <a:r>
              <a:rPr lang="ru-RU" sz="2400" dirty="0">
                <a:latin typeface="Bookman Old Style" panose="02050604050505020204" pitchFamily="18" charset="0"/>
              </a:rPr>
              <a:t> (не путать с деструкторами) позволяют выполнить декомпозицию объекта на отдельные части.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.name =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age;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Deconstruct(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out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out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pName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pAge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age;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6293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52629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33);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age) = person;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(name);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Tom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(age);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33</a:t>
            </a:r>
          </a:p>
          <a:p>
            <a:endParaRPr lang="en-US" sz="2400" dirty="0" smtClean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Если хотим получить только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age:</a:t>
            </a:r>
            <a:endParaRPr lang="en-US" sz="2400" dirty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endParaRPr lang="en-US" sz="2400" dirty="0" smtClean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33);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(_,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age) = person;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(age);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33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891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654356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Наряду с классами структуры представляют еще один способ создания собственных типов данных в C#. Более того многие примитивные типы, например,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int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double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и т.д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 являются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структурами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</a:p>
          <a:p>
            <a:pPr algn="just"/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Определение структуры</a:t>
            </a:r>
          </a:p>
          <a:p>
            <a:pPr algn="just"/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Для определения структуры применяется ключевое слово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struct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/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struct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имя_структуры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элементы структуры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/>
            <a:endParaRPr lang="ru-RU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 smtClean="0">
                <a:latin typeface="Bookman Old Style" panose="02050604050505020204" pitchFamily="18" charset="0"/>
              </a:rPr>
              <a:t>Как </a:t>
            </a:r>
            <a:r>
              <a:rPr lang="ru-RU" sz="2400" dirty="0">
                <a:latin typeface="Bookman Old Style" panose="02050604050505020204" pitchFamily="18" charset="0"/>
              </a:rPr>
              <a:t>и классы, структуры могут хранить состояние в виде полей (переменных) и определять поведение в виде методов. Например, добавим в структуру </a:t>
            </a:r>
            <a:r>
              <a:rPr lang="ru-RU" sz="2400" dirty="0" err="1"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latin typeface="Bookman Old Style" panose="02050604050505020204" pitchFamily="18" charset="0"/>
              </a:rPr>
              <a:t> пару полей и метод: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Структура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482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Создание объекта структуры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Инициализация с помощью конструктора</a:t>
            </a:r>
          </a:p>
          <a:p>
            <a:pPr indent="717550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использования структуры ее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</a:t>
            </a:r>
            <a:r>
              <a:rPr lang="ru-RU" sz="2400" dirty="0">
                <a:latin typeface="Bookman Old Style" panose="02050604050505020204" pitchFamily="18" charset="0"/>
              </a:rPr>
              <a:t>инициализировать. Для инициализации создания объектов структуры, как и в случае с классами, применяется вызов </a:t>
            </a:r>
            <a:r>
              <a:rPr lang="ru-RU" sz="2400" dirty="0" smtClean="0">
                <a:latin typeface="Bookman Old Style" panose="02050604050505020204" pitchFamily="18" charset="0"/>
              </a:rPr>
              <a:t>конструктора </a:t>
            </a:r>
            <a:r>
              <a:rPr lang="ru-RU" sz="2400" dirty="0">
                <a:latin typeface="Bookman Old Style" panose="02050604050505020204" pitchFamily="18" charset="0"/>
              </a:rPr>
              <a:t>с оператором </a:t>
            </a:r>
            <a:r>
              <a:rPr lang="ru-RU" sz="2400" b="1" dirty="0" err="1">
                <a:latin typeface="Bookman Old Style" panose="02050604050505020204" pitchFamily="18" charset="0"/>
              </a:rPr>
              <a:t>new</a:t>
            </a:r>
            <a:r>
              <a:rPr lang="ru-RU" sz="2400" dirty="0">
                <a:latin typeface="Bookman Old Style" panose="02050604050505020204" pitchFamily="18" charset="0"/>
              </a:rPr>
              <a:t>. Даже если в коде </a:t>
            </a:r>
            <a:r>
              <a:rPr lang="ru-RU" sz="2400" dirty="0" smtClean="0">
                <a:latin typeface="Bookman Old Style" panose="02050604050505020204" pitchFamily="18" charset="0"/>
              </a:rPr>
              <a:t>структуры </a:t>
            </a:r>
            <a:r>
              <a:rPr lang="ru-RU" sz="2400" dirty="0">
                <a:latin typeface="Bookman Old Style" panose="02050604050505020204" pitchFamily="18" charset="0"/>
              </a:rPr>
              <a:t>не определено ни одного конструктора, тем не менее имеет как минимум один конструктор - конструктор по умолчанию, который генерируется компилятором. Этот конструктор не принимает параметров и создает объект структуры со значениями по умолчанию.</a:t>
            </a:r>
          </a:p>
        </p:txBody>
      </p:sp>
    </p:spTree>
    <p:extLst>
      <p:ext uri="{BB962C8B-B14F-4D97-AF65-F5344CB8AC3E}">
        <p14:creationId xmlns:p14="http://schemas.microsoft.com/office/powerpoint/2010/main" val="38549278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вызов конструктора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        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или так 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       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Person tom = new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tom.name =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Tom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изменяем значение по умолчанию в поле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name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Tom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0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struct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age}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5182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Непосредственная 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инициализация полей</a:t>
            </a:r>
          </a:p>
          <a:p>
            <a:pPr algn="just">
              <a:lnSpc>
                <a:spcPct val="150000"/>
              </a:lnSpc>
            </a:pPr>
            <a:endParaRPr lang="ru-RU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indent="717550"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Если все поля структуры доступны (как в случае с полями структуры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который имеют модификатор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public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), то структуру можно инициализировать без вызова конструктора. В этом случае необходимо присвоить значения всем полям структуры перед получением значений полей и обращением к методам структуры. 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3905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    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не вызываем конструктор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инициализация полей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tom.name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37;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Sam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37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struct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age}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7046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Инициализация полей по умолчанию</a:t>
            </a:r>
          </a:p>
          <a:p>
            <a:pPr indent="717550" algn="just"/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Стоит отметить, что начиная с версии C# 10, мы можем напрямую инициализировать поля структуры при их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определении: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indent="717550" algn="just"/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Person();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Tom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1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struct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инициализация полей значениями по умолчанию - доступна с C#10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 = 1;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 {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age}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40562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71068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Конструкторы структуры</a:t>
            </a:r>
          </a:p>
          <a:p>
            <a:pPr indent="717550" algn="just">
              <a:lnSpc>
                <a:spcPct val="114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Как и класс, структура может определять конструкторы. Однако, если в структуре определяется конструктор, то в нем обязательно надо инициализировать все поля структуры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bob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pl-PL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sam = </a:t>
            </a:r>
            <a:r>
              <a:rPr lang="pl-PL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pl-PL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pl-PL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pl-PL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</a:t>
            </a:r>
            <a:r>
              <a:rPr lang="pl-PL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struct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 = 1)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.name =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age;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9317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52629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b="1" dirty="0">
                <a:latin typeface="Bookman Old Style" panose="02050604050505020204" pitchFamily="18" charset="0"/>
              </a:rPr>
              <a:t>Инициализатор структуры</a:t>
            </a:r>
          </a:p>
          <a:p>
            <a:pPr indent="717550" algn="just"/>
            <a:r>
              <a:rPr lang="ru-RU" sz="2400" dirty="0">
                <a:latin typeface="Bookman Old Style" panose="02050604050505020204" pitchFamily="18" charset="0"/>
              </a:rPr>
              <a:t>Также, как и для класса, можно использовать инициализатор для создания структуры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{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age = 22 };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Tom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22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struct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age;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								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Возраст: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age}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3176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Копирование структуры с помощью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with</a:t>
            </a:r>
            <a:endParaRPr lang="ru-RU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indent="717550"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Если нам необходимо скопировать в один объект структуры значения из другого с небольшими изменениями, то мы можем использовать оператор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with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indent="717550" algn="just"/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System;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{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age = 22 };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bob = tom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with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{ name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};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bob.Print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Bob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Возраст: 22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440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Представление в памяти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9" t="6866" r="5095" b="7921"/>
          <a:stretch/>
        </p:blipFill>
        <p:spPr>
          <a:xfrm>
            <a:off x="5657850" y="2455919"/>
            <a:ext cx="6238875" cy="4063735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0" y="654356"/>
            <a:ext cx="12191999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State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state1 =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State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State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- структура, ее данные размещены в стеке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Country country1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Country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Country -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класс, в стек помещается ссылка на адрес в хипе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а в хипе располагаются все данные объекта country1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struct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State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x;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y;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Country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x;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y;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573985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Пространства имен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677647"/>
            <a:ext cx="12191999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indent="717550"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Обычно определяемые классы и другие типы в .NET не существуют сами по себе, а заключаются в специальные контейнеры - 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пространства имен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 Пространства имен позволяют организовать код программы в логические блоки,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позволяют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объединить и отделить от остального кода некоторую функциональность, которая связана некоторой общей идеей или которая выполняет определенную задачу.</a:t>
            </a:r>
          </a:p>
          <a:p>
            <a:pPr indent="717550"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Для определения пространства имен применяется ключевое слово 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namespace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после которого идет название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пространства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имен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имя_пространства_имен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содержимое пространства имен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2810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indent="717550" algn="just"/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Попробуем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использовать класс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Person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indent="717550" algn="just"/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Ошибка -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Visual Studio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не видит класс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Base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name) =&gt;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.name =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()=&gt;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479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indent="717550"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Здесь на первой строке мы столкнемся с ошибкой, так как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Visual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Studio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не может найти класс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 Чтобы все-таки обратиться к классу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необходимо использовать полное имя этого класса с учетом пространства имен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Base.Person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 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Tom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Base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name) =&gt;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.name =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Print()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														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726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Подключение пространства имен</a:t>
            </a:r>
          </a:p>
          <a:p>
            <a:pPr indent="717550" algn="just"/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Однако полное имя класса с учетом пространства имен добавляет в код избыточность - особенно, если пространство имен содержит множество классов, которые мы хотим использовать. И чтобы не писать полное имя класса, мы можем просто подключить пространство имен с помощью директивы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using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</a:p>
          <a:p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Base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подключение пространства имен </a:t>
            </a:r>
            <a:r>
              <a:rPr lang="ru-RU" sz="2400" dirty="0" err="1" smtClean="0">
                <a:solidFill>
                  <a:srgbClr val="008000"/>
                </a:solidFill>
                <a:latin typeface="Cascadia Mono" panose="020B0609020000020004" pitchFamily="49" charset="0"/>
              </a:rPr>
              <a:t>Base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Person tom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tom.Print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Имя: </a:t>
            </a:r>
            <a:r>
              <a:rPr lang="en-US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Tom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Base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name) =&gt;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this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.name = name;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Print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()=&gt;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Имя: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13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Вложенные пространства имен</a:t>
            </a:r>
          </a:p>
          <a:p>
            <a:pPr indent="717550" algn="just"/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Одни пространства имен могут содержать другие. </a:t>
            </a:r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indent="717550" algn="just"/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Например: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Base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PersonTypes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OrganisationTypes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Company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1799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12183</TotalTime>
  <Words>2036</Words>
  <Application>Microsoft Office PowerPoint</Application>
  <PresentationFormat>Широкоэкранный</PresentationFormat>
  <Paragraphs>527</Paragraphs>
  <Slides>40</Slides>
  <Notes>40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8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2 семестр Лекция 1.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Daniil Kljukin</cp:lastModifiedBy>
  <cp:revision>614</cp:revision>
  <dcterms:modified xsi:type="dcterms:W3CDTF">2026-02-10T18:02:32Z</dcterms:modified>
</cp:coreProperties>
</file>