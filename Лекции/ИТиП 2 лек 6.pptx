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9"/>
  </p:notesMasterIdLst>
  <p:sldIdLst>
    <p:sldId id="273" r:id="rId2"/>
    <p:sldId id="1113" r:id="rId3"/>
    <p:sldId id="1114" r:id="rId4"/>
    <p:sldId id="1115" r:id="rId5"/>
    <p:sldId id="1116" r:id="rId6"/>
    <p:sldId id="1117" r:id="rId7"/>
    <p:sldId id="1118" r:id="rId8"/>
    <p:sldId id="1119" r:id="rId9"/>
    <p:sldId id="1120" r:id="rId10"/>
    <p:sldId id="1121" r:id="rId11"/>
    <p:sldId id="1122" r:id="rId12"/>
    <p:sldId id="1123" r:id="rId13"/>
    <p:sldId id="1124" r:id="rId14"/>
    <p:sldId id="1125" r:id="rId15"/>
    <p:sldId id="1126" r:id="rId16"/>
    <p:sldId id="1127" r:id="rId17"/>
    <p:sldId id="1128" r:id="rId18"/>
    <p:sldId id="1129" r:id="rId19"/>
    <p:sldId id="969" r:id="rId20"/>
    <p:sldId id="1017" r:id="rId21"/>
    <p:sldId id="995" r:id="rId22"/>
    <p:sldId id="1057" r:id="rId23"/>
    <p:sldId id="1059" r:id="rId24"/>
    <p:sldId id="1108" r:id="rId25"/>
    <p:sldId id="1060" r:id="rId26"/>
    <p:sldId id="1009" r:id="rId27"/>
    <p:sldId id="1109" r:id="rId28"/>
    <p:sldId id="1061" r:id="rId29"/>
    <p:sldId id="1062" r:id="rId30"/>
    <p:sldId id="1111" r:id="rId31"/>
    <p:sldId id="1112" r:id="rId32"/>
    <p:sldId id="997" r:id="rId33"/>
    <p:sldId id="1021" r:id="rId34"/>
    <p:sldId id="1022" r:id="rId35"/>
    <p:sldId id="1066" r:id="rId36"/>
    <p:sldId id="1067" r:id="rId37"/>
    <p:sldId id="1063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62193" autoAdjust="0"/>
  </p:normalViewPr>
  <p:slideViewPr>
    <p:cSldViewPr snapToGrid="0">
      <p:cViewPr varScale="1">
        <p:scale>
          <a:sx n="69" d="100"/>
          <a:sy n="69" d="100"/>
        </p:scale>
        <p:origin x="100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99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49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3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14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56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84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4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82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607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08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22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45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56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385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909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614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342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654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585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659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4110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526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44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24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273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930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519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847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092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11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337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285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005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357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139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68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4.11.php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learn.me/Course/BasicProgramming2/foreach_IEnumerable_i_IEnumerator_49c485c2-d2a7-4362-a473-5757719bd00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1032167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Информационные технологии</a:t>
            </a:r>
            <a:b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</a:b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1" y="2643204"/>
            <a:ext cx="8978016" cy="1826112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2 семестр</a:t>
            </a:r>
            <a:br>
              <a:rPr lang="ru-RU" sz="28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</a:t>
            </a:r>
            <a:r>
              <a:rPr lang="ru-RU" sz="28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6.</a:t>
            </a:r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4510695"/>
            <a:ext cx="1104134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Обобщенные </a:t>
            </a:r>
            <a:r>
              <a:rPr lang="ru-RU" sz="28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типы</a:t>
            </a:r>
            <a:endParaRPr lang="ru-RU" sz="28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Интерфейсы </a:t>
            </a:r>
            <a:r>
              <a:rPr lang="ru-RU" sz="28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коллекций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Спец. слово </a:t>
            </a:r>
            <a:r>
              <a:rPr lang="en-US" sz="28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yield</a:t>
            </a:r>
            <a:endParaRPr lang="ru-RU" sz="28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Обобщенные типы (Параметрический полиморфизм)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54356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Параметрический полиморфизм </a:t>
            </a:r>
            <a:r>
              <a:rPr lang="ru-RU" sz="2400" dirty="0" smtClean="0">
                <a:latin typeface="Bookman Old Style" panose="02050604050505020204" pitchFamily="18" charset="0"/>
              </a:rPr>
              <a:t>– свойство </a:t>
            </a:r>
            <a:r>
              <a:rPr lang="ru-RU" sz="2400" dirty="0">
                <a:latin typeface="Bookman Old Style" panose="02050604050505020204" pitchFamily="18" charset="0"/>
              </a:rPr>
              <a:t>семантики системы типов, позволяющее обрабатывать значения разных типов идентичным образом, то есть исполнять физически один и тот же код для данных разных </a:t>
            </a:r>
            <a:r>
              <a:rPr lang="ru-RU" sz="2400" dirty="0" smtClean="0">
                <a:latin typeface="Bookman Old Style" panose="02050604050505020204" pitchFamily="18" charset="0"/>
              </a:rPr>
              <a:t>типов.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Рассмотрим на примере устройства типа </a:t>
            </a:r>
            <a:r>
              <a:rPr lang="en-US" sz="2400" b="1" dirty="0" smtClean="0">
                <a:latin typeface="Bookman Old Style" panose="02050604050505020204" pitchFamily="18" charset="0"/>
              </a:rPr>
              <a:t>List&lt;T&gt;</a:t>
            </a:r>
            <a:r>
              <a:rPr lang="ru-RU" sz="2400" dirty="0" smtClean="0">
                <a:latin typeface="Bookman Old Style" panose="02050604050505020204" pitchFamily="18" charset="0"/>
              </a:rPr>
              <a:t>,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en-US" sz="2400" b="1" dirty="0" smtClean="0">
                <a:latin typeface="Bookman Old Style" panose="02050604050505020204" pitchFamily="18" charset="0"/>
              </a:rPr>
              <a:t>&lt;T&gt; </a:t>
            </a:r>
            <a:r>
              <a:rPr lang="ru-RU" sz="2400" dirty="0" smtClean="0">
                <a:latin typeface="Bookman Old Style" panose="02050604050505020204" pitchFamily="18" charset="0"/>
              </a:rPr>
              <a:t>означает, что элементы коллекции имеют некоторый тип </a:t>
            </a:r>
            <a:r>
              <a:rPr lang="en-US" sz="2400" b="1" dirty="0" smtClean="0">
                <a:latin typeface="Bookman Old Style" panose="02050604050505020204" pitchFamily="18" charset="0"/>
              </a:rPr>
              <a:t>T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r>
              <a:rPr lang="ru-RU" sz="2400" dirty="0" smtClean="0">
                <a:latin typeface="Bookman Old Style" panose="02050604050505020204" pitchFamily="18" charset="0"/>
              </a:rPr>
              <a:t> 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List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doubles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List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&gt;(){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1.0, 2.3, 5.0 / 7 };</a:t>
            </a:r>
            <a:endParaRPr lang="ru-RU" sz="2400" dirty="0"/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Список элементов типа </a:t>
            </a:r>
            <a:r>
              <a:rPr lang="en-US" sz="2400" b="1" dirty="0">
                <a:latin typeface="Bookman Old Style" panose="02050604050505020204" pitchFamily="18" charset="0"/>
              </a:rPr>
              <a:t>double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Обобщенные типы используются тогда, когда </a:t>
            </a:r>
            <a:r>
              <a:rPr lang="ru-RU" sz="2400" b="1" dirty="0">
                <a:latin typeface="Bookman Old Style" panose="02050604050505020204" pitchFamily="18" charset="0"/>
              </a:rPr>
              <a:t>действия не зависят от типа</a:t>
            </a:r>
            <a:r>
              <a:rPr lang="ru-RU" sz="2400" dirty="0">
                <a:latin typeface="Bookman Old Style" panose="02050604050505020204" pitchFamily="18" charset="0"/>
              </a:rPr>
              <a:t>. Например, коллекции не важно что хранить </a:t>
            </a:r>
            <a:r>
              <a:rPr lang="en-US" sz="2400" dirty="0" err="1">
                <a:latin typeface="Bookman Old Style" panose="02050604050505020204" pitchFamily="18" charset="0"/>
              </a:rPr>
              <a:t>int</a:t>
            </a:r>
            <a:r>
              <a:rPr lang="en-US" sz="2400" dirty="0">
                <a:latin typeface="Bookman Old Style" panose="02050604050505020204" pitchFamily="18" charset="0"/>
              </a:rPr>
              <a:t>, double </a:t>
            </a:r>
            <a:r>
              <a:rPr lang="ru-RU" sz="2400" dirty="0">
                <a:latin typeface="Bookman Old Style" panose="02050604050505020204" pitchFamily="18" charset="0"/>
              </a:rPr>
              <a:t>или </a:t>
            </a:r>
            <a:r>
              <a:rPr lang="en-US" sz="2400" dirty="0">
                <a:latin typeface="Bookman Old Style" panose="02050604050505020204" pitchFamily="18" charset="0"/>
              </a:rPr>
              <a:t>string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47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endParaRPr lang="ru-RU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MyList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count;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Count {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count; }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Capacity {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values.Length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T[] values = </a:t>
            </a:r>
            <a:r>
              <a:rPr lang="fr-F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T[4</a:t>
            </a:r>
            <a:r>
              <a:rPr lang="fr-FR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];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RemoveAt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index)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index;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 count - 1;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values[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] = values[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+ 1];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count--;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65282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Add(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item)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(count == Capacity)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DoubleCapacity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values[count] = item;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count++;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 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DoubleCapacity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newValues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T[Capacity * 2];</a:t>
            </a: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for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values.Length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++)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newValues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] = values[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];</a:t>
            </a: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values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newValues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24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12192000" cy="304698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MyList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doubles2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MyList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doubles2.Add(1.0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doubles2.Add(2.3);</a:t>
            </a:r>
          </a:p>
          <a:p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Видно, что на месте типа </a:t>
            </a:r>
            <a:r>
              <a:rPr lang="ru-RU" sz="2400" b="1" dirty="0">
                <a:latin typeface="Bookman Old Style" panose="02050604050505020204" pitchFamily="18" charset="0"/>
              </a:rPr>
              <a:t>Т</a:t>
            </a:r>
            <a:r>
              <a:rPr lang="ru-RU" sz="2400" dirty="0">
                <a:latin typeface="Bookman Old Style" panose="02050604050505020204" pitchFamily="18" charset="0"/>
              </a:rPr>
              <a:t> может быть любой тип и функционирование списка от этого не </a:t>
            </a:r>
            <a:r>
              <a:rPr lang="ru-RU" sz="2400" dirty="0" smtClean="0">
                <a:latin typeface="Bookman Old Style" panose="02050604050505020204" pitchFamily="18" charset="0"/>
              </a:rPr>
              <a:t>изменится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301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Индексаторы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54356"/>
            <a:ext cx="12192000" cy="607858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200" dirty="0">
                <a:latin typeface="Bookman Old Style" panose="02050604050505020204" pitchFamily="18" charset="0"/>
              </a:rPr>
              <a:t>Индексаторы позволяют индексировать объекты и обращаться к данным по индексу. Фактически с помощью индексаторов мы можем работать с объектами как с массивами. По форме они напоминают свойства со стандартными блоками </a:t>
            </a:r>
            <a:r>
              <a:rPr lang="ru-RU" sz="2200" b="1" dirty="0" err="1">
                <a:latin typeface="Bookman Old Style" panose="02050604050505020204" pitchFamily="18" charset="0"/>
              </a:rPr>
              <a:t>get</a:t>
            </a:r>
            <a:r>
              <a:rPr lang="ru-RU" sz="2200" dirty="0">
                <a:latin typeface="Bookman Old Style" panose="02050604050505020204" pitchFamily="18" charset="0"/>
              </a:rPr>
              <a:t> и </a:t>
            </a:r>
            <a:r>
              <a:rPr lang="ru-RU" sz="2200" b="1" dirty="0" err="1">
                <a:latin typeface="Bookman Old Style" panose="02050604050505020204" pitchFamily="18" charset="0"/>
              </a:rPr>
              <a:t>set</a:t>
            </a:r>
            <a:r>
              <a:rPr lang="ru-RU" sz="2200" dirty="0">
                <a:latin typeface="Bookman Old Style" panose="02050604050505020204" pitchFamily="18" charset="0"/>
              </a:rPr>
              <a:t>, которые возвращают и присваивают значение</a:t>
            </a:r>
            <a:r>
              <a:rPr lang="ru-RU" sz="2200" dirty="0" smtClean="0">
                <a:latin typeface="Bookman Old Style" panose="02050604050505020204" pitchFamily="18" charset="0"/>
              </a:rPr>
              <a:t>.</a:t>
            </a:r>
            <a:endParaRPr lang="en-US" sz="2200" dirty="0" smtClean="0">
              <a:latin typeface="Bookman Old Style" panose="02050604050505020204" pitchFamily="18" charset="0"/>
            </a:endParaRPr>
          </a:p>
          <a:p>
            <a:pPr lvl="0"/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sz="2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index]</a:t>
            </a:r>
          </a:p>
          <a:p>
            <a:pPr lvl="0"/>
            <a:r>
              <a:rPr lang="ru-RU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lvl="0"/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values[index];</a:t>
            </a:r>
          </a:p>
          <a:p>
            <a:pPr lvl="0"/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values[index] = value;</a:t>
            </a:r>
          </a:p>
          <a:p>
            <a:pPr lvl="0"/>
            <a:r>
              <a:rPr lang="ru-RU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endParaRPr lang="en-US" sz="22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MyList</a:t>
            </a:r>
            <a:r>
              <a:rPr lang="en-US" sz="2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&gt; doubles2 = </a:t>
            </a:r>
            <a:r>
              <a:rPr lang="en-US" sz="2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MyList</a:t>
            </a:r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2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  <a:endParaRPr lang="ru-RU" sz="2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US" sz="2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doubles2.Add(1.0</a:t>
            </a:r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lvl="0"/>
            <a:r>
              <a:rPr lang="en-US" sz="2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doubles2.Add(2.3</a:t>
            </a:r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0"/>
            <a:r>
              <a:rPr lang="en-US" sz="2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doubles2[1</a:t>
            </a:r>
            <a:r>
              <a:rPr lang="en-US" sz="2200" dirty="0">
                <a:solidFill>
                  <a:srgbClr val="000000"/>
                </a:solidFill>
                <a:latin typeface="Cascadia Mono" panose="020B0609020000020004" pitchFamily="49" charset="0"/>
              </a:rPr>
              <a:t>] = 2</a:t>
            </a:r>
            <a:r>
              <a:rPr lang="en-US" sz="2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r>
              <a:rPr lang="ru-RU" sz="22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200" dirty="0">
                <a:solidFill>
                  <a:srgbClr val="008000"/>
                </a:solidFill>
                <a:latin typeface="Cascadia Mono" panose="020B0609020000020004" pitchFamily="49" charset="0"/>
              </a:rPr>
              <a:t>//теперь можно обратиться по индексу</a:t>
            </a:r>
            <a:endParaRPr lang="ru-RU" sz="2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63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Ограничение обобщения, слово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where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54356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мы хотим, чтобы тип </a:t>
            </a:r>
            <a:r>
              <a:rPr lang="ru-RU" sz="2400" b="1" dirty="0" smtClean="0">
                <a:latin typeface="Bookman Old Style" panose="02050604050505020204" pitchFamily="18" charset="0"/>
              </a:rPr>
              <a:t>Т</a:t>
            </a:r>
            <a:r>
              <a:rPr lang="ru-RU" sz="2400" dirty="0" smtClean="0">
                <a:latin typeface="Bookman Old Style" panose="02050604050505020204" pitchFamily="18" charset="0"/>
              </a:rPr>
              <a:t> не был произвольным, а, например, чтобы он был потомком некоторого класса или реализовал интерфейс, то необходимо использовать </a:t>
            </a:r>
            <a:r>
              <a:rPr lang="en-US" sz="2400" b="1" dirty="0" smtClean="0">
                <a:latin typeface="Bookman Old Style" panose="02050604050505020204" pitchFamily="18" charset="0"/>
              </a:rPr>
              <a:t>where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MyList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Animal</a:t>
            </a:r>
            <a:endParaRPr lang="ru-RU" sz="2400" dirty="0">
              <a:solidFill>
                <a:srgbClr val="2B91AF"/>
              </a:solidFill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Теперь мы сможем помещать в коллекцию только, тех кто </a:t>
            </a:r>
            <a:r>
              <a:rPr lang="ru-RU" sz="2400" dirty="0" smtClean="0">
                <a:latin typeface="Bookman Old Style" panose="02050604050505020204" pitchFamily="18" charset="0"/>
              </a:rPr>
              <a:t>наследуется от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Animal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MyList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Animal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speakers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MyList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Animal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speakers.Add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Cat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speakers.Add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Dog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speakers[0].Speak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45845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Типы ограничений и стандартные 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ограничения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indent="3619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Классы</a:t>
            </a:r>
          </a:p>
          <a:p>
            <a:pPr indent="3619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Интерфейсы</a:t>
            </a:r>
          </a:p>
          <a:p>
            <a:pPr indent="3619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class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- универсальный параметр должен представлять класс</a:t>
            </a:r>
          </a:p>
          <a:p>
            <a:pPr indent="3619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struct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- универсальный параметр должен представлять структуру</a:t>
            </a:r>
          </a:p>
          <a:p>
            <a:pPr indent="3619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new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() - универсальный параметр должен представлять тип, который имеет общедоступный (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public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) конструктор без 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параметров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indent="3619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MyList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MyList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50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Пример коллекции обобщенного типа, </a:t>
            </a:r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HashSet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54356"/>
            <a:ext cx="12192000" cy="635558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ru-RU" sz="2200" dirty="0">
                <a:latin typeface="Bookman Old Style" panose="02050604050505020204" pitchFamily="18" charset="0"/>
              </a:rPr>
              <a:t>Класс </a:t>
            </a:r>
            <a:r>
              <a:rPr lang="ru-RU" sz="2200" b="1" dirty="0" err="1">
                <a:latin typeface="Bookman Old Style" panose="02050604050505020204" pitchFamily="18" charset="0"/>
              </a:rPr>
              <a:t>HashSet</a:t>
            </a:r>
            <a:r>
              <a:rPr lang="ru-RU" sz="2200" b="1" dirty="0">
                <a:latin typeface="Bookman Old Style" panose="02050604050505020204" pitchFamily="18" charset="0"/>
              </a:rPr>
              <a:t>&lt;T&gt; </a:t>
            </a:r>
            <a:r>
              <a:rPr lang="ru-RU" sz="2200" dirty="0">
                <a:latin typeface="Bookman Old Style" panose="02050604050505020204" pitchFamily="18" charset="0"/>
              </a:rPr>
              <a:t>предоставляет </a:t>
            </a:r>
            <a:r>
              <a:rPr lang="ru-RU" sz="2200" b="1" dirty="0">
                <a:latin typeface="Bookman Old Style" panose="02050604050505020204" pitchFamily="18" charset="0"/>
              </a:rPr>
              <a:t>высокопроизводительные</a:t>
            </a:r>
            <a:r>
              <a:rPr lang="ru-RU" sz="2200" dirty="0">
                <a:latin typeface="Bookman Old Style" panose="02050604050505020204" pitchFamily="18" charset="0"/>
              </a:rPr>
              <a:t> операции </a:t>
            </a:r>
            <a:r>
              <a:rPr lang="ru-RU" sz="2200" dirty="0" smtClean="0">
                <a:latin typeface="Bookman Old Style" panose="02050604050505020204" pitchFamily="18" charset="0"/>
              </a:rPr>
              <a:t>для работы с коллекциями. </a:t>
            </a:r>
            <a:r>
              <a:rPr lang="ru-RU" sz="2200" b="1" dirty="0" err="1">
                <a:latin typeface="Bookman Old Style" panose="02050604050505020204" pitchFamily="18" charset="0"/>
              </a:rPr>
              <a:t>HashSet</a:t>
            </a:r>
            <a:r>
              <a:rPr lang="ru-RU" sz="2200" b="1" dirty="0">
                <a:latin typeface="Bookman Old Style" panose="02050604050505020204" pitchFamily="18" charset="0"/>
              </a:rPr>
              <a:t>&lt;T&gt; </a:t>
            </a:r>
            <a:r>
              <a:rPr lang="ru-RU" sz="2200" dirty="0" smtClean="0">
                <a:latin typeface="Bookman Old Style" panose="02050604050505020204" pitchFamily="18" charset="0"/>
              </a:rPr>
              <a:t>не </a:t>
            </a:r>
            <a:r>
              <a:rPr lang="ru-RU" sz="2200" dirty="0">
                <a:latin typeface="Bookman Old Style" panose="02050604050505020204" pitchFamily="18" charset="0"/>
              </a:rPr>
              <a:t>содержит повторяющихся </a:t>
            </a:r>
            <a:r>
              <a:rPr lang="ru-RU" sz="2200" dirty="0" smtClean="0">
                <a:latin typeface="Bookman Old Style" panose="02050604050505020204" pitchFamily="18" charset="0"/>
              </a:rPr>
              <a:t>элементов. Для поиска элемента в коллекции используется </a:t>
            </a:r>
            <a:r>
              <a:rPr lang="ru-RU" sz="2200" b="1" dirty="0" smtClean="0">
                <a:latin typeface="Bookman Old Style" panose="02050604050505020204" pitchFamily="18" charset="0"/>
              </a:rPr>
              <a:t>хеш-функция</a:t>
            </a:r>
            <a:r>
              <a:rPr lang="ru-RU" sz="2200" dirty="0" smtClean="0">
                <a:latin typeface="Bookman Old Style" panose="02050604050505020204" pitchFamily="18" charset="0"/>
              </a:rPr>
              <a:t> (функция, которая некоторым образом сопоставляет каждому элементу целое число, уникально идентифицирующее элемент).</a:t>
            </a:r>
          </a:p>
          <a:p>
            <a:pPr algn="just">
              <a:lnSpc>
                <a:spcPct val="150000"/>
              </a:lnSpc>
            </a:pPr>
            <a:r>
              <a:rPr lang="ru-RU" sz="2200" i="1" dirty="0" smtClean="0">
                <a:latin typeface="Bookman Old Style" panose="02050604050505020204" pitchFamily="18" charset="0"/>
              </a:rPr>
              <a:t>Замечание: </a:t>
            </a:r>
            <a:r>
              <a:rPr lang="ru-RU" sz="2200" dirty="0" smtClean="0">
                <a:latin typeface="Bookman Old Style" panose="02050604050505020204" pitchFamily="18" charset="0"/>
              </a:rPr>
              <a:t>лучше в качестве типа </a:t>
            </a:r>
            <a:r>
              <a:rPr lang="en-US" sz="2200" b="1" dirty="0" smtClean="0">
                <a:latin typeface="Bookman Old Style" panose="02050604050505020204" pitchFamily="18" charset="0"/>
              </a:rPr>
              <a:t>T</a:t>
            </a:r>
            <a:r>
              <a:rPr lang="en-US" sz="2200" dirty="0" smtClean="0">
                <a:latin typeface="Bookman Old Style" panose="02050604050505020204" pitchFamily="18" charset="0"/>
              </a:rPr>
              <a:t> </a:t>
            </a:r>
            <a:r>
              <a:rPr lang="ru-RU" sz="2200" dirty="0" smtClean="0">
                <a:latin typeface="Bookman Old Style" panose="02050604050505020204" pitchFamily="18" charset="0"/>
              </a:rPr>
              <a:t>использовать простые типы, для которых хеш-функция вычисляется без коллизий (ошибок, когда для разных объектов хеш-функция получается одинаковой).</a:t>
            </a:r>
          </a:p>
          <a:p>
            <a:pPr algn="just">
              <a:lnSpc>
                <a:spcPct val="150000"/>
              </a:lnSpc>
            </a:pPr>
            <a:r>
              <a:rPr lang="ru-RU" sz="2200" i="1" dirty="0" smtClean="0">
                <a:latin typeface="Bookman Old Style" panose="02050604050505020204" pitchFamily="18" charset="0"/>
              </a:rPr>
              <a:t>Примеры</a:t>
            </a:r>
            <a:r>
              <a:rPr lang="en-US" sz="2200" i="1" dirty="0" smtClean="0">
                <a:latin typeface="Bookman Old Style" panose="02050604050505020204" pitchFamily="18" charset="0"/>
              </a:rPr>
              <a:t> </a:t>
            </a:r>
            <a:r>
              <a:rPr lang="ru-RU" sz="2200" i="1" dirty="0" smtClean="0">
                <a:latin typeface="Bookman Old Style" panose="02050604050505020204" pitchFamily="18" charset="0"/>
              </a:rPr>
              <a:t>наиболее подходящих типов</a:t>
            </a:r>
            <a:r>
              <a:rPr lang="ru-RU" sz="2200" dirty="0" smtClean="0">
                <a:latin typeface="Bookman Old Style" panose="02050604050505020204" pitchFamily="18" charset="0"/>
              </a:rPr>
              <a:t>: </a:t>
            </a:r>
            <a:r>
              <a:rPr lang="en-US" sz="2200" b="1" dirty="0" err="1" smtClean="0">
                <a:latin typeface="Bookman Old Style" panose="02050604050505020204" pitchFamily="18" charset="0"/>
              </a:rPr>
              <a:t>int</a:t>
            </a:r>
            <a:r>
              <a:rPr lang="ru-RU" sz="2200" dirty="0" smtClean="0">
                <a:latin typeface="Bookman Old Style" panose="02050604050505020204" pitchFamily="18" charset="0"/>
              </a:rPr>
              <a:t>, его </a:t>
            </a:r>
            <a:r>
              <a:rPr lang="ru-RU" sz="2200" b="1" dirty="0" smtClean="0">
                <a:latin typeface="Bookman Old Style" panose="02050604050505020204" pitchFamily="18" charset="0"/>
              </a:rPr>
              <a:t>аналоги</a:t>
            </a:r>
            <a:r>
              <a:rPr lang="ru-RU" sz="2200" dirty="0" smtClean="0">
                <a:latin typeface="Bookman Old Style" panose="02050604050505020204" pitchFamily="18" charset="0"/>
              </a:rPr>
              <a:t>, а также </a:t>
            </a:r>
            <a:r>
              <a:rPr lang="ru-RU" sz="2200" b="1" dirty="0" smtClean="0">
                <a:latin typeface="Bookman Old Style" panose="02050604050505020204" pitchFamily="18" charset="0"/>
              </a:rPr>
              <a:t>кортежи</a:t>
            </a:r>
            <a:r>
              <a:rPr lang="ru-RU" sz="2200" dirty="0" smtClean="0">
                <a:latin typeface="Bookman Old Style" panose="02050604050505020204" pitchFamily="18" charset="0"/>
              </a:rPr>
              <a:t> данных типов.</a:t>
            </a:r>
            <a:endParaRPr lang="en-US" sz="22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200" i="1" dirty="0" smtClean="0">
                <a:latin typeface="Bookman Old Style" panose="02050604050505020204" pitchFamily="18" charset="0"/>
              </a:rPr>
              <a:t>Замечание 2:</a:t>
            </a:r>
            <a:r>
              <a:rPr lang="ru-RU" sz="2200" dirty="0" smtClean="0">
                <a:latin typeface="Bookman Old Style" panose="02050604050505020204" pitchFamily="18" charset="0"/>
              </a:rPr>
              <a:t> тип </a:t>
            </a:r>
            <a:r>
              <a:rPr lang="en-US" sz="2200" b="1" dirty="0" smtClean="0">
                <a:latin typeface="Bookman Old Style" panose="02050604050505020204" pitchFamily="18" charset="0"/>
              </a:rPr>
              <a:t>Dictionary&lt;</a:t>
            </a:r>
            <a:r>
              <a:rPr lang="en-US" sz="2200" b="1" dirty="0" err="1" smtClean="0">
                <a:latin typeface="Bookman Old Style" panose="02050604050505020204" pitchFamily="18" charset="0"/>
              </a:rPr>
              <a:t>Tkey,Tvalue</a:t>
            </a:r>
            <a:r>
              <a:rPr lang="en-US" sz="2200" b="1" dirty="0" smtClean="0">
                <a:latin typeface="Bookman Old Style" panose="02050604050505020204" pitchFamily="18" charset="0"/>
              </a:rPr>
              <a:t>&gt;</a:t>
            </a:r>
            <a:r>
              <a:rPr lang="en-US" sz="2200" dirty="0" smtClean="0">
                <a:latin typeface="Bookman Old Style" panose="02050604050505020204" pitchFamily="18" charset="0"/>
              </a:rPr>
              <a:t> </a:t>
            </a:r>
            <a:r>
              <a:rPr lang="ru-RU" sz="2200" dirty="0" smtClean="0">
                <a:latin typeface="Bookman Old Style" panose="02050604050505020204" pitchFamily="18" charset="0"/>
              </a:rPr>
              <a:t>работает аналогично, но хеш-функция вычисляется для ключа типа </a:t>
            </a:r>
            <a:r>
              <a:rPr lang="en-US" sz="2200" b="1" dirty="0" err="1" smtClean="0">
                <a:latin typeface="Bookman Old Style" panose="02050604050505020204" pitchFamily="18" charset="0"/>
              </a:rPr>
              <a:t>Tkey</a:t>
            </a:r>
            <a:r>
              <a:rPr lang="en-US" sz="2200" dirty="0" smtClean="0">
                <a:latin typeface="Bookman Old Style" panose="02050604050505020204" pitchFamily="18" charset="0"/>
              </a:rPr>
              <a:t>, </a:t>
            </a:r>
            <a:r>
              <a:rPr lang="ru-RU" sz="2200" dirty="0" smtClean="0">
                <a:latin typeface="Bookman Old Style" panose="02050604050505020204" pitchFamily="18" charset="0"/>
              </a:rPr>
              <a:t>по которому лежит значение типа </a:t>
            </a:r>
            <a:r>
              <a:rPr lang="en-US" sz="2200" b="1" dirty="0" err="1" smtClean="0">
                <a:latin typeface="Bookman Old Style" panose="02050604050505020204" pitchFamily="18" charset="0"/>
              </a:rPr>
              <a:t>Tvalue</a:t>
            </a:r>
            <a:r>
              <a:rPr lang="ru-RU" sz="2200" dirty="0" smtClean="0">
                <a:latin typeface="Bookman Old Style" panose="02050604050505020204" pitchFamily="18" charset="0"/>
              </a:rPr>
              <a:t>.</a:t>
            </a:r>
            <a:endParaRPr lang="en-US" sz="22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2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Сравним скорость работы списка </a:t>
            </a:r>
            <a:r>
              <a:rPr lang="en-US" sz="2400" dirty="0" smtClean="0">
                <a:latin typeface="Bookman Old Style" panose="02050604050505020204" pitchFamily="18" charset="0"/>
              </a:rPr>
              <a:t>List </a:t>
            </a:r>
            <a:r>
              <a:rPr lang="ru-RU" sz="2400" dirty="0" smtClean="0">
                <a:latin typeface="Bookman Old Style" panose="02050604050505020204" pitchFamily="18" charset="0"/>
              </a:rPr>
              <a:t>с множеством </a:t>
            </a:r>
            <a:r>
              <a:rPr lang="en-US" sz="2400" dirty="0" err="1" smtClean="0">
                <a:latin typeface="Bookman Old Style" panose="02050604050505020204" pitchFamily="18" charset="0"/>
              </a:rPr>
              <a:t>HashSet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System.Diagnostics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numberOfElements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0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_000_000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Сравнение времени добавления элементов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Работа с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List&lt;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list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Stopwatch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listAddStopwatch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Stopwatch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.StartNew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numberOfElements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list.Add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listAddStopwatch.Stop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Добавление в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-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Время выполнения: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listAddStopwatch.ElapsedTicks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тиков"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33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endParaRPr lang="ru-RU" sz="2400" dirty="0" smtClean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Работа с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Stopwatch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hashSetAddStopwatch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Stopwatch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.StartNew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numberOfElements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hashSet.Add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hashSetAddStopwatch.Stop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Добавление в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-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Время выполнения: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hashSetAddStopwatch.ElapsedTicks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тиков"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5393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Сравнение времени поиска элементов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searchElement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numberOfElements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 2;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Поиск в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List&lt;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Stopwatch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listSearchStopwatch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Stopwatch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.StartNew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foundInList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list.Contains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searchElement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listSearchStopwatch.Stop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Поиск в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-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Время выполнения: 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listSearchStopwatch.ElapsedTicks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тиков"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Поиск в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Stopwatch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hashSetSearchStopwatch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Stopwatch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.StartNew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foundInHashSet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hashSet.Contains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searchElement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hashSetSearchStopwatch.Stop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Поиск в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-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Время выполнения: 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hashSetSearchStopwatch.ElapsedTicks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тиков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22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486175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10 000 тиков = 1 </a:t>
            </a:r>
            <a:r>
              <a:rPr lang="ru-RU" sz="2400" dirty="0" err="1" smtClean="0">
                <a:highlight>
                  <a:srgbClr val="FFFFFF"/>
                </a:highlight>
                <a:latin typeface="Bookman Old Style" panose="02050604050505020204" pitchFamily="18" charset="0"/>
              </a:rPr>
              <a:t>мс</a:t>
            </a:r>
            <a:endParaRPr lang="ru-RU" sz="2400" dirty="0" smtClean="0"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highlight>
                <a:srgbClr val="FFFFFF"/>
              </a:highlight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Как видим, добавление элементов в </a:t>
            </a:r>
            <a:r>
              <a:rPr lang="en-US" sz="2400" dirty="0" err="1" smtClean="0">
                <a:highlight>
                  <a:srgbClr val="FFFFFF"/>
                </a:highlight>
                <a:latin typeface="Bookman Old Style" panose="02050604050505020204" pitchFamily="18" charset="0"/>
              </a:rPr>
              <a:t>HashSet</a:t>
            </a:r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 занимает немного меньше времени. На практике это справедливо далеко не всегда, зависит от количества данных.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Поиск занимает значительно меньше времени. Чем больше данных тем заметнее преимущество в поиске.</a:t>
            </a:r>
            <a:endParaRPr lang="ru-RU" sz="2400" dirty="0"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68" y="333225"/>
            <a:ext cx="11202963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3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46331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T1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T2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T1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first;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T2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second;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fr-F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T1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first, </a:t>
            </a:r>
            <a:r>
              <a:rPr lang="fr-F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T2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second)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.first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first;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.second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second;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T1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First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first;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Можно создавать обобщения с 2 и более параметрами, например</a:t>
            </a:r>
            <a:endParaRPr lang="ru-RU" sz="2400" dirty="0"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06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78565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T2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Second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second;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Display()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$"First: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{first}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Second: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{second}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65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Создаем объект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с типами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и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pair1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&gt;(1,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"One"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pair1.Display();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Вывод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First: 1, Second: One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Создаем объект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с типами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и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pair2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"Pi"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3.14);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pair2.Display();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Вывод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First: Pi, Second: 3.14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Создаем объект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с типами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и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pair3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'A'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pair3.Display();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Вывод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First: True, Second: </a:t>
            </a:r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endParaRPr lang="ru-RU" sz="2400" dirty="0" smtClean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675" y="4665650"/>
            <a:ext cx="5582429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6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200329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GenericArrayMerger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Обобщенный метод для объединения двух массивов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MergeArrays&lt;</a:t>
            </a:r>
            <a:r>
              <a:rPr lang="fr-F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fr-F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array1, </a:t>
            </a:r>
            <a:r>
              <a:rPr lang="fr-F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array2)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Создаем новый массив для объединенных данных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mergedArray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[array1.Length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array2.Length];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Копируем элементы первого массива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.Copy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(array1,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mergedArray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array1.Length);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Копируем элементы второго массива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.Copy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(array2, 0,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mergedArray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						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array1.Length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array2.Length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mergedArray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highlight>
                  <a:srgbClr val="FFFFFF"/>
                </a:highlight>
                <a:latin typeface="Bookman Old Style" panose="02050604050505020204" pitchFamily="18" charset="0"/>
              </a:rPr>
              <a:t>Обобщением бывает не обязательно класс, возможно создать обобщение-метод, например</a:t>
            </a:r>
            <a:endParaRPr lang="ru-RU" sz="2400" dirty="0"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90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Пример с массивом целых чисел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intArray1 = { 1, 2, 3 };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intArray2 = { 4, 5, 6 };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mergedIntArray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GenericArrayMerger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.MergeArrays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(intArray1, intArray2);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Объединенный массив целых чисел: 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.Join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", 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mergedIntArray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Вывод: 1, 2, 3, 4, 5, 6</a:t>
            </a:r>
          </a:p>
          <a:p>
            <a:endParaRPr lang="ru-RU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Пример с массивом строк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stringArray1 = {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"apple"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"banana"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stringArray2 = {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"cherry"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"date"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mergedStringArray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GenericArrayMerger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.MergeArrays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(stringArray1, stringArray2);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Объединенный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массив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строк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.Join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", 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mergedStringArray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 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Вывод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apple, banana, cherry, date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5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IEnumerable</a:t>
            </a:r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IEnumerator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Основной </a:t>
            </a:r>
            <a:r>
              <a:rPr lang="ru-RU" sz="2400" dirty="0">
                <a:latin typeface="Bookman Old Style" panose="02050604050505020204" pitchFamily="18" charset="0"/>
              </a:rPr>
              <a:t>для большинства коллекций является реализация интерфейсов </a:t>
            </a:r>
            <a:r>
              <a:rPr lang="ru-RU" sz="2400" dirty="0" err="1">
                <a:latin typeface="Bookman Old Style" panose="02050604050505020204" pitchFamily="18" charset="0"/>
              </a:rPr>
              <a:t>IEnumerable</a:t>
            </a:r>
            <a:r>
              <a:rPr lang="ru-RU" sz="2400" dirty="0">
                <a:latin typeface="Bookman Old Style" panose="02050604050505020204" pitchFamily="18" charset="0"/>
              </a:rPr>
              <a:t> и </a:t>
            </a:r>
            <a:r>
              <a:rPr lang="ru-RU" sz="2400" dirty="0" err="1">
                <a:latin typeface="Bookman Old Style" panose="02050604050505020204" pitchFamily="18" charset="0"/>
              </a:rPr>
              <a:t>IEnumerator</a:t>
            </a:r>
            <a:r>
              <a:rPr lang="ru-RU" sz="2400" dirty="0">
                <a:latin typeface="Bookman Old Style" panose="02050604050505020204" pitchFamily="18" charset="0"/>
              </a:rPr>
              <a:t>. Благодаря такой реализации мы можем перебирать объекты в цикле </a:t>
            </a:r>
            <a:r>
              <a:rPr lang="ru-RU" sz="2400" dirty="0" err="1">
                <a:latin typeface="Bookman Old Style" panose="02050604050505020204" pitchFamily="18" charset="0"/>
              </a:rPr>
              <a:t>foreach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r>
              <a:rPr lang="ru-R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item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перечислимый_объект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Перебираемая коллекция должна реализовать интерфейс </a:t>
            </a:r>
            <a:r>
              <a:rPr lang="ru-RU" sz="2400" dirty="0" err="1">
                <a:latin typeface="Bookman Old Style" panose="02050604050505020204" pitchFamily="18" charset="0"/>
              </a:rPr>
              <a:t>IEnumerable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Интерфейс </a:t>
            </a:r>
            <a:r>
              <a:rPr lang="ru-RU" sz="2400" dirty="0" err="1">
                <a:latin typeface="Bookman Old Style" panose="02050604050505020204" pitchFamily="18" charset="0"/>
              </a:rPr>
              <a:t>IEnumerable</a:t>
            </a:r>
            <a:r>
              <a:rPr lang="ru-RU" sz="2400" dirty="0">
                <a:latin typeface="Bookman Old Style" panose="02050604050505020204" pitchFamily="18" charset="0"/>
              </a:rPr>
              <a:t> имеет метод, возвращающий ссылку на другой интерфейс - </a:t>
            </a:r>
            <a:r>
              <a:rPr lang="ru-RU" sz="2400" dirty="0" err="1">
                <a:latin typeface="Bookman Old Style" panose="02050604050505020204" pitchFamily="18" charset="0"/>
              </a:rPr>
              <a:t>перечислитель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IEnumerable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IEnumerator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GetEnumerator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55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33965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Интерфейс </a:t>
            </a:r>
            <a:r>
              <a:rPr lang="en-US" sz="24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IEnumerator</a:t>
            </a:r>
            <a:r>
              <a:rPr lang="ru-RU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определяет функционал для перечисления внутренних элементов коллекции.</a:t>
            </a:r>
            <a:endParaRPr lang="en-US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IEnumerator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MoveNext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перемещение на одну позицию вперед в контейнере элементов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Current {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}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текущий элемент в контейнере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Reset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перемещение в начало контейнера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11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Пример. </a:t>
            </a:r>
            <a:r>
              <a:rPr lang="ru-RU" sz="2400" dirty="0" smtClean="0">
                <a:latin typeface="Bookman Old Style" panose="02050604050505020204" pitchFamily="18" charset="0"/>
              </a:rPr>
              <a:t>Запишем класс для перечисления чисел Фибоначчи: 0, 1, 1, 2, 3, 5, 8, 11 …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Данная последовательность бесконечная, как это можно реализовать в </a:t>
            </a:r>
            <a:r>
              <a:rPr lang="en-US" sz="2400" dirty="0" smtClean="0">
                <a:latin typeface="Bookman Old Style" panose="02050604050505020204" pitchFamily="18" charset="0"/>
              </a:rPr>
              <a:t>C#</a:t>
            </a:r>
            <a:r>
              <a:rPr lang="ru-RU" sz="2400" dirty="0" smtClean="0">
                <a:latin typeface="Bookman Old Style" panose="02050604050505020204" pitchFamily="18" charset="0"/>
              </a:rPr>
              <a:t>, ведь нельзя создать массив бесконечной длины? 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рамках примера начнем последовательность с 1.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FibonachiEnumerator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IEnumerator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previous =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current =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Current =&gt; current;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IEnumerator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.Current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=&gt; current;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Dispose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Освобождение памяти при удалении объекта </a:t>
            </a:r>
            <a:r>
              <a:rPr lang="en-US" sz="2400" dirty="0" err="1" smtClean="0">
                <a:solidFill>
                  <a:srgbClr val="008000"/>
                </a:solidFill>
                <a:latin typeface="Consolas" panose="020B0609020204030204" pitchFamily="49" charset="0"/>
              </a:rPr>
              <a:t>Fibonachi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37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    </a:t>
            </a:r>
            <a:endParaRPr lang="ru-RU" sz="2400" dirty="0" smtClean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Переход к следующему элементу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MoveNext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next = current + previous;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previous = current;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current = next;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Сброс к начальному значению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Reset()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previous =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current =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42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44764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класс, использующий данный </a:t>
            </a:r>
            <a:r>
              <a:rPr lang="ru-RU" sz="2400" dirty="0" err="1" smtClean="0">
                <a:latin typeface="Bookman Old Style" panose="02050604050505020204" pitchFamily="18" charset="0"/>
              </a:rPr>
              <a:t>перечислитель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/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Fibonachi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IEnumerator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GetEnumerator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FibonachiEnumerator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IEnumerator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IEnumerable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.GetEnumerator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GetEnumerator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79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323165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Числа </a:t>
            </a:r>
            <a:r>
              <a:rPr lang="ru-RU" sz="2400" dirty="0">
                <a:latin typeface="Bookman Old Style" panose="02050604050505020204" pitchFamily="18" charset="0"/>
              </a:rPr>
              <a:t>будут выводиться до бесконечности (пока не переполнится </a:t>
            </a:r>
            <a:r>
              <a:rPr lang="en-US" sz="2400" dirty="0">
                <a:latin typeface="Bookman Old Style" panose="02050604050505020204" pitchFamily="18" charset="0"/>
              </a:rPr>
              <a:t>Int32</a:t>
            </a:r>
            <a:r>
              <a:rPr lang="ru-RU" sz="2400" dirty="0">
                <a:latin typeface="Bookman Old Style" panose="02050604050505020204" pitchFamily="18" charset="0"/>
              </a:rPr>
              <a:t>).</a:t>
            </a:r>
          </a:p>
          <a:p>
            <a:pPr algn="just"/>
            <a:endParaRPr lang="en-US" sz="2400" dirty="0" smtClean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fibonachi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Fibonachi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just"/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f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fibonachi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en-US" sz="2400" dirty="0">
                <a:latin typeface="Consolas" panose="020B0609020204030204" pitchFamily="49" charset="0"/>
              </a:rPr>
              <a:t>{f}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Thread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.Sleep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1000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Задержка 1 секунда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/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r="39516" b="86952"/>
          <a:stretch/>
        </p:blipFill>
        <p:spPr>
          <a:xfrm>
            <a:off x="498475" y="3390901"/>
            <a:ext cx="11188700" cy="95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9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На основе данного класса можно создать коллекцию чисел Фибоначчи произвольной длины: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System.Collections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fibonachi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Fibonachi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numbers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fibonachi.Take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ToList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 помощью метода </a:t>
            </a:r>
            <a:r>
              <a:rPr lang="en-US" sz="2400" dirty="0" smtClean="0">
                <a:latin typeface="Bookman Old Style" panose="02050604050505020204" pitchFamily="18" charset="0"/>
              </a:rPr>
              <a:t>Take </a:t>
            </a:r>
            <a:r>
              <a:rPr lang="ru-RU" sz="2400" dirty="0" smtClean="0">
                <a:latin typeface="Bookman Old Style" panose="02050604050505020204" pitchFamily="18" charset="0"/>
              </a:rPr>
              <a:t>запрашиваем 100 элементов, с помощью </a:t>
            </a:r>
            <a:r>
              <a:rPr lang="en-US" sz="2400" dirty="0" err="1" smtClean="0">
                <a:latin typeface="Bookman Old Style" panose="02050604050505020204" pitchFamily="18" charset="0"/>
              </a:rPr>
              <a:t>ToList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добавляем их в список.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35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86232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Тип </a:t>
            </a:r>
            <a:r>
              <a:rPr lang="en-US" sz="2400" b="1" dirty="0" err="1">
                <a:latin typeface="Bookman Old Style" panose="02050604050505020204" pitchFamily="18" charset="0"/>
              </a:rPr>
              <a:t>IEnumerable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не стоит путать с коллекциями, например, </a:t>
            </a:r>
            <a:r>
              <a:rPr lang="en-US" sz="2400" dirty="0">
                <a:latin typeface="Bookman Old Style" panose="02050604050505020204" pitchFamily="18" charset="0"/>
              </a:rPr>
              <a:t>List </a:t>
            </a:r>
            <a:r>
              <a:rPr lang="ru-RU" sz="2400" dirty="0">
                <a:latin typeface="Bookman Old Style" panose="02050604050505020204" pitchFamily="18" charset="0"/>
              </a:rPr>
              <a:t>или массивом. </a:t>
            </a:r>
            <a:r>
              <a:rPr lang="en-US" sz="2400" b="1" dirty="0" err="1">
                <a:latin typeface="Bookman Old Style" panose="02050604050505020204" pitchFamily="18" charset="0"/>
              </a:rPr>
              <a:t>IEnumerable</a:t>
            </a:r>
            <a:r>
              <a:rPr lang="ru-RU" sz="2400" dirty="0">
                <a:latin typeface="Bookman Old Style" panose="02050604050505020204" pitchFamily="18" charset="0"/>
              </a:rPr>
              <a:t> не имеет размера и не содержит объекты. Он предназначен для получения объектов по требованию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numbers = 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fibonachi.Take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smtClean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Вопрос </a:t>
            </a:r>
            <a:r>
              <a:rPr lang="ru-RU" sz="2400" dirty="0" smtClean="0">
                <a:latin typeface="Bookman Old Style" panose="02050604050505020204" pitchFamily="18" charset="0"/>
              </a:rPr>
              <a:t>какие объекты будут лежать в </a:t>
            </a:r>
            <a:r>
              <a:rPr lang="en-US" sz="2400" dirty="0" smtClean="0">
                <a:latin typeface="Bookman Old Style" panose="02050604050505020204" pitchFamily="18" charset="0"/>
              </a:rPr>
              <a:t>numbers?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3094550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Ответ: </a:t>
            </a:r>
            <a:r>
              <a:rPr lang="ru-RU" sz="2400" b="1" dirty="0" smtClean="0">
                <a:latin typeface="Bookman Old Style" panose="02050604050505020204" pitchFamily="18" charset="0"/>
              </a:rPr>
              <a:t>никакие. </a:t>
            </a:r>
            <a:r>
              <a:rPr lang="en-US" sz="2400" dirty="0" smtClean="0">
                <a:latin typeface="Bookman Old Style" panose="02050604050505020204" pitchFamily="18" charset="0"/>
              </a:rPr>
              <a:t>numbers </a:t>
            </a:r>
            <a:r>
              <a:rPr lang="ru-RU" sz="2400" dirty="0" smtClean="0">
                <a:latin typeface="Bookman Old Style" panose="02050604050505020204" pitchFamily="18" charset="0"/>
              </a:rPr>
              <a:t>имеет тип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IEnumerable</a:t>
            </a:r>
            <a:r>
              <a:rPr lang="en-US" sz="2400" b="1" dirty="0" smtClean="0">
                <a:latin typeface="Bookman Old Style" panose="02050604050505020204" pitchFamily="18" charset="0"/>
              </a:rPr>
              <a:t>&lt;double&gt;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это означает, что </a:t>
            </a:r>
            <a:r>
              <a:rPr lang="en-US" sz="2400" b="1" dirty="0" smtClean="0">
                <a:latin typeface="Bookman Old Style" panose="02050604050505020204" pitchFamily="18" charset="0"/>
              </a:rPr>
              <a:t>numbers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это перечисление, которое по запросу будет возвращать объекты типа </a:t>
            </a:r>
            <a:r>
              <a:rPr lang="en-US" sz="2400" b="1" dirty="0" smtClean="0">
                <a:latin typeface="Bookman Old Style" panose="02050604050505020204" pitchFamily="18" charset="0"/>
              </a:rPr>
              <a:t>double</a:t>
            </a:r>
            <a:r>
              <a:rPr lang="en-US" sz="2400" dirty="0" smtClean="0">
                <a:latin typeface="Bookman Old Style" panose="02050604050505020204" pitchFamily="18" charset="0"/>
              </a:rPr>
              <a:t>. </a:t>
            </a:r>
            <a:r>
              <a:rPr lang="ru-RU" sz="2400" dirty="0" smtClean="0">
                <a:latin typeface="Bookman Old Style" panose="02050604050505020204" pitchFamily="18" charset="0"/>
              </a:rPr>
              <a:t>Получать </a:t>
            </a:r>
            <a:r>
              <a:rPr lang="ru-RU" sz="2400" dirty="0">
                <a:latin typeface="Bookman Old Style" panose="02050604050505020204" pitchFamily="18" charset="0"/>
              </a:rPr>
              <a:t>объекты </a:t>
            </a:r>
            <a:r>
              <a:rPr lang="ru-RU" sz="2400" dirty="0" smtClean="0">
                <a:latin typeface="Bookman Old Style" panose="02050604050505020204" pitchFamily="18" charset="0"/>
              </a:rPr>
              <a:t>оно будет </a:t>
            </a:r>
            <a:r>
              <a:rPr lang="ru-RU" sz="2400" b="1" dirty="0" smtClean="0">
                <a:latin typeface="Bookman Old Style" panose="02050604050505020204" pitchFamily="18" charset="0"/>
              </a:rPr>
              <a:t>на ходу</a:t>
            </a:r>
            <a:r>
              <a:rPr lang="ru-RU" sz="2400" dirty="0" smtClean="0">
                <a:latin typeface="Bookman Old Style" panose="02050604050505020204" pitchFamily="18" charset="0"/>
              </a:rPr>
              <a:t> из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fibonachi</a:t>
            </a:r>
            <a:r>
              <a:rPr lang="ru-RU" sz="2400" dirty="0" smtClean="0">
                <a:latin typeface="Bookman Old Style" panose="02050604050505020204" pitchFamily="18" charset="0"/>
              </a:rPr>
              <a:t>, никаких заранее созданных массивов для хранения объектов здесь нет!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запросить объекты, нужно написать, например,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ToList</a:t>
            </a:r>
            <a:r>
              <a:rPr lang="en-US" sz="2400" dirty="0" smtClean="0">
                <a:latin typeface="Bookman Old Style" panose="02050604050505020204" pitchFamily="18" charset="0"/>
              </a:rPr>
              <a:t>, </a:t>
            </a:r>
            <a:r>
              <a:rPr lang="ru-RU" sz="2400" dirty="0" smtClean="0">
                <a:latin typeface="Bookman Old Style" panose="02050604050505020204" pitchFamily="18" charset="0"/>
              </a:rPr>
              <a:t>или обратиться в цикле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foreach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и т.п.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62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На самом деле для перебирания класса в </a:t>
            </a:r>
            <a:r>
              <a:rPr lang="en-US" sz="2400" dirty="0" err="1" smtClean="0">
                <a:latin typeface="Bookman Old Style" panose="02050604050505020204" pitchFamily="18" charset="0"/>
              </a:rPr>
              <a:t>foreach</a:t>
            </a:r>
            <a:r>
              <a:rPr lang="ru-RU" sz="2400" dirty="0" smtClean="0">
                <a:latin typeface="Bookman Old Style" panose="02050604050505020204" pitchFamily="18" charset="0"/>
              </a:rPr>
              <a:t> реализация интерфейса </a:t>
            </a:r>
            <a:r>
              <a:rPr lang="en-US" sz="2400" dirty="0" err="1" smtClean="0">
                <a:latin typeface="Bookman Old Style" panose="02050604050505020204" pitchFamily="18" charset="0"/>
              </a:rPr>
              <a:t>IEnumerable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не обязательна. Достаточно чтобы в классе был метод </a:t>
            </a:r>
            <a:r>
              <a:rPr lang="en-US" sz="2400" dirty="0" err="1" smtClean="0">
                <a:latin typeface="Bookman Old Style" panose="02050604050505020204" pitchFamily="18" charset="0"/>
              </a:rPr>
              <a:t>GetEnumerator</a:t>
            </a:r>
            <a:r>
              <a:rPr lang="ru-RU" sz="2400" dirty="0" smtClean="0">
                <a:latin typeface="Bookman Old Style" panose="02050604050505020204" pitchFamily="18" charset="0"/>
              </a:rPr>
              <a:t>, это одно из немногих проявлений неявной типизации в </a:t>
            </a:r>
            <a:r>
              <a:rPr lang="en-US" sz="2400" dirty="0" smtClean="0">
                <a:latin typeface="Bookman Old Style" panose="02050604050505020204" pitchFamily="18" charset="0"/>
              </a:rPr>
              <a:t>C#.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Fibonachi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IEnumerator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GetEnumerator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FibonachiEnumerator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</a:p>
          <a:p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ru-RU" sz="2400" dirty="0" smtClean="0">
                <a:latin typeface="Bookman Old Style" panose="02050604050505020204" pitchFamily="18" charset="0"/>
              </a:rPr>
              <a:t>В любом случае лучше явно реализовывать интерфейс.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 типом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IEnumerable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тесно связан оператор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yield</a:t>
            </a:r>
            <a:r>
              <a:rPr lang="ru-RU" sz="2400" b="1" dirty="0" smtClean="0">
                <a:latin typeface="Bookman Old Style" panose="02050604050505020204" pitchFamily="18" charset="0"/>
              </a:rPr>
              <a:t>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return</a:t>
            </a:r>
            <a:r>
              <a:rPr lang="ru-RU" sz="2400" dirty="0" smtClean="0">
                <a:latin typeface="Bookman Old Style" panose="02050604050505020204" pitchFamily="18" charset="0"/>
              </a:rPr>
              <a:t>. Данный оператор означает, что при последующем вызове метода мы зайдем на том месте, где вышли.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IEnumerator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GetEnumerator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yield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yield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yield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5;</a:t>
            </a: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yield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7;</a:t>
            </a: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64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9249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Рассмотрим применение </a:t>
            </a:r>
            <a:r>
              <a:rPr lang="en-US" sz="2400" dirty="0" smtClean="0">
                <a:latin typeface="Bookman Old Style" panose="02050604050505020204" pitchFamily="18" charset="0"/>
              </a:rPr>
              <a:t>yield </a:t>
            </a:r>
            <a:r>
              <a:rPr lang="ru-RU" sz="2400" dirty="0" smtClean="0">
                <a:latin typeface="Bookman Old Style" panose="02050604050505020204" pitchFamily="18" charset="0"/>
              </a:rPr>
              <a:t>на примере простых чисел:</a:t>
            </a:r>
            <a:endParaRPr lang="en-US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Primes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IEnumerator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GetEnumerator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yield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       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При следующем вызове зайдем в метод здесь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       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current = 2; 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current++; 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isPrime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(current))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continue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yield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current;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При следующем вызове зайдем в метод здесь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67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Определяем простое число или нет: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isPrime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number)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(number &lt;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2)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(number == 2)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(number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%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0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Math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.Sqrt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(number);</a:t>
            </a:r>
          </a:p>
          <a:p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3; i &lt;= sqrt; i += 2)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(number %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0)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IEnumerator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.GetEnumerator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GetEnumerator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12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67765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Выведем первые 10 простых чисел: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item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Primes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().Take(10))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{item}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319" y="2824131"/>
            <a:ext cx="6535062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7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1999" cy="470898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Пример. 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Пусть </a:t>
            </a:r>
            <a:r>
              <a:rPr lang="ru-RU" sz="2400" dirty="0">
                <a:latin typeface="Bookman Old Style" panose="02050604050505020204" pitchFamily="18" charset="0"/>
              </a:rPr>
              <a:t>у нас есть </a:t>
            </a:r>
            <a:r>
              <a:rPr lang="ru-RU" sz="2400" dirty="0" smtClean="0">
                <a:latin typeface="Bookman Old Style" panose="02050604050505020204" pitchFamily="18" charset="0"/>
              </a:rPr>
              <a:t>класс </a:t>
            </a:r>
            <a:r>
              <a:rPr lang="ru-RU" sz="2400" dirty="0" err="1" smtClean="0">
                <a:latin typeface="Bookman Old Style" panose="02050604050505020204" pitchFamily="18" charset="0"/>
              </a:rPr>
              <a:t>Company</a:t>
            </a:r>
            <a:r>
              <a:rPr lang="ru-RU" sz="2400" dirty="0">
                <a:latin typeface="Bookman Old Style" panose="02050604050505020204" pitchFamily="18" charset="0"/>
              </a:rPr>
              <a:t>, которая представляет компанию и которая хранит в массиве </a:t>
            </a:r>
            <a:r>
              <a:rPr lang="ru-RU" sz="2400" dirty="0" err="1">
                <a:latin typeface="Bookman Old Style" panose="02050604050505020204" pitchFamily="18" charset="0"/>
              </a:rPr>
              <a:t>personnel</a:t>
            </a:r>
            <a:r>
              <a:rPr lang="ru-RU" sz="2400" dirty="0">
                <a:latin typeface="Bookman Old Style" panose="02050604050505020204" pitchFamily="18" charset="0"/>
              </a:rPr>
              <a:t> штат сотрудников - объектов </a:t>
            </a:r>
            <a:r>
              <a:rPr lang="ru-RU" sz="2400" dirty="0" err="1"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</a:rPr>
              <a:t>. Используем оператор </a:t>
            </a:r>
            <a:r>
              <a:rPr lang="ru-RU" sz="2400" dirty="0" err="1">
                <a:latin typeface="Bookman Old Style" panose="02050604050505020204" pitchFamily="18" charset="0"/>
              </a:rPr>
              <a:t>yield</a:t>
            </a:r>
            <a:r>
              <a:rPr lang="ru-RU" sz="2400" dirty="0">
                <a:latin typeface="Bookman Old Style" panose="02050604050505020204" pitchFamily="18" charset="0"/>
              </a:rPr>
              <a:t> для перебора этой </a:t>
            </a:r>
            <a:r>
              <a:rPr lang="ru-RU" sz="2400" dirty="0" smtClean="0">
                <a:latin typeface="Bookman Old Style" panose="02050604050505020204" pitchFamily="18" charset="0"/>
              </a:rPr>
              <a:t>коллекции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 class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name) =&gt; Name = name;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25790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Company</a:t>
            </a:r>
            <a:r>
              <a:rPr lang="ru-RU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latin typeface="Cascadia Mono" panose="020B0609020000020004" pitchFamily="49" charset="0"/>
              </a:rPr>
              <a:t>:</a:t>
            </a:r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</a:rPr>
              <a:t>IEnumerable</a:t>
            </a:r>
            <a:r>
              <a:rPr lang="en-US" sz="2400" dirty="0" smtClean="0">
                <a:latin typeface="Cascadia Mono" panose="020B0609020000020004" pitchFamily="49" charset="0"/>
              </a:rPr>
              <a:t>&lt;</a:t>
            </a:r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 smtClean="0">
                <a:latin typeface="Cascadia Mono" panose="020B0609020000020004" pitchFamily="49" charset="0"/>
              </a:rPr>
              <a:t>&gt;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[] personnel;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// Сотрудники</a:t>
            </a:r>
            <a:endParaRPr lang="en-US" sz="2400" dirty="0" smtClean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Company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[] personnel)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{ 		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.personnel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personnel;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Length =&gt;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personnel.Length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// Кол-во сотрудников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IEnumerator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GetEnumerator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       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При итерировании компании возвращаем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сотрудников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= 0;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&lt;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personnel.Length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++)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yield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personnel[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];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IEnumerator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.GetEnumerator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GetEnumerator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71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Пример перебора сотрудников компании:</a:t>
            </a:r>
            <a:endParaRPr lang="ru-RU" sz="2400" dirty="0"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people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[]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"Sam"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Company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(people);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employee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Итерируем компанию, в результате на каждой итерации блок </a:t>
            </a:r>
            <a:r>
              <a:rPr lang="en-US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yield return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возвращает нам сотрудника </a:t>
            </a:r>
            <a:r>
              <a:rPr lang="en-US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employee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employee.Name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50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Пример. </a:t>
            </a:r>
            <a:r>
              <a:rPr lang="ru-RU" sz="2400" dirty="0" smtClean="0">
                <a:latin typeface="Bookman Old Style" panose="02050604050505020204" pitchFamily="18" charset="0"/>
              </a:rPr>
              <a:t>Применение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IEnumerable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для инкапсуляции: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people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"Sam"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Company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(people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latin typeface="Bookman Old Style" panose="02050604050505020204" pitchFamily="18" charset="0"/>
              </a:rPr>
              <a:t>Модификатор доступа не позволяет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получить работников: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workers =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microsoft.personnel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сделать </a:t>
            </a:r>
            <a:r>
              <a:rPr lang="ru-RU" sz="2400" dirty="0" err="1" smtClean="0">
                <a:latin typeface="Bookman Old Style" panose="02050604050505020204" pitchFamily="18" charset="0"/>
              </a:rPr>
              <a:t>personnel</a:t>
            </a:r>
            <a:r>
              <a:rPr lang="ru-RU" sz="2400" dirty="0" smtClean="0">
                <a:latin typeface="Bookman Old Style" panose="02050604050505020204" pitchFamily="18" charset="0"/>
              </a:rPr>
              <a:t> публичным, то список можно будет поменять и старая коллекция будет потеряна: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microsoft.personnel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[1];</a:t>
            </a:r>
            <a:endParaRPr lang="ru-RU" sz="2400" dirty="0" smtClean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76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Решение проблемы:</a:t>
            </a:r>
            <a:endParaRPr lang="ru-RU" sz="2400" dirty="0">
              <a:latin typeface="Bookman Old Style" panose="02050604050505020204" pitchFamily="18" charset="0"/>
            </a:endParaRPr>
          </a:p>
          <a:p>
            <a:endParaRPr lang="ru-RU" sz="2400" dirty="0" smtClean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workers =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microsoft.Personnel.ToArray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US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Company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personnel;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Сотрудники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Personnel =&gt; personnel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 или</a:t>
            </a:r>
            <a:endParaRPr lang="ru-RU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IReadOnlyCollection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Personnel =&gt; personnel;</a:t>
            </a:r>
            <a:endParaRPr lang="ru-RU" sz="2400" b="0" dirty="0" smtClean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Получился очень удобный доступ к данным, коллекция остается приватной (её нельзя удалить или как-то испортить), но доступ к её значениям есть.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82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" y="654356"/>
            <a:ext cx="12191999" cy="286232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 smtClean="0">
                <a:latin typeface="Bookman Old Style" panose="02050604050505020204" pitchFamily="18" charset="0"/>
              </a:rPr>
              <a:t>IEnumerable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 smtClean="0">
                <a:latin typeface="Bookman Old Style" panose="02050604050505020204" pitchFamily="18" charset="0"/>
              </a:rPr>
              <a:t>Metanit</a:t>
            </a:r>
            <a:r>
              <a:rPr lang="en-US" sz="2400" dirty="0" smtClean="0">
                <a:latin typeface="Bookman Old Style" panose="02050604050505020204" pitchFamily="18" charset="0"/>
              </a:rPr>
              <a:t>: </a:t>
            </a:r>
            <a:r>
              <a:rPr lang="en-US" sz="2400" dirty="0">
                <a:latin typeface="Bookman Old Style" panose="02050604050505020204" pitchFamily="18" charset="0"/>
                <a:hlinkClick r:id="rId3"/>
              </a:rPr>
              <a:t>https://</a:t>
            </a:r>
            <a:r>
              <a:rPr lang="en-US" sz="2400" dirty="0" smtClean="0">
                <a:latin typeface="Bookman Old Style" panose="02050604050505020204" pitchFamily="18" charset="0"/>
                <a:hlinkClick r:id="rId3"/>
              </a:rPr>
              <a:t>metanit.com/sharp/tutorial/4.11.php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man Old Style" panose="02050604050505020204" pitchFamily="18" charset="0"/>
              </a:rPr>
              <a:t>ulearn.me: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  <a:hlinkClick r:id="rId4"/>
              </a:rPr>
              <a:t>https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  <a:hlinkClick r:id="rId4"/>
              </a:rPr>
              <a:t>://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  <a:hlinkClick r:id="rId4"/>
              </a:rPr>
              <a:t>ulearn.me/Course/BasicProgramming2/foreach_IEnumerable_i_IEnumerator_49c485c2-d2a7-4362-a473-5757719bd002</a:t>
            </a: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Полезные материалы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19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15473</TotalTime>
  <Words>2032</Words>
  <Application>Microsoft Office PowerPoint</Application>
  <PresentationFormat>Широкоэкранный</PresentationFormat>
  <Paragraphs>449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Bookman Old Style</vt:lpstr>
      <vt:lpstr>Calibri</vt:lpstr>
      <vt:lpstr>Calibri Light</vt:lpstr>
      <vt:lpstr>Cascadia Mono</vt:lpstr>
      <vt:lpstr>Consolas</vt:lpstr>
      <vt:lpstr>Times New Roman</vt:lpstr>
      <vt:lpstr>Тема Office</vt:lpstr>
      <vt:lpstr>2 семестр Лекция 6.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881</cp:revision>
  <dcterms:modified xsi:type="dcterms:W3CDTF">2026-02-10T07:13:37Z</dcterms:modified>
</cp:coreProperties>
</file>