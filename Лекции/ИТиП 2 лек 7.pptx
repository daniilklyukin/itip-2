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2"/>
  </p:notesMasterIdLst>
  <p:sldIdLst>
    <p:sldId id="273" r:id="rId2"/>
    <p:sldId id="307" r:id="rId3"/>
    <p:sldId id="319" r:id="rId4"/>
    <p:sldId id="320" r:id="rId5"/>
    <p:sldId id="318" r:id="rId6"/>
    <p:sldId id="308" r:id="rId7"/>
    <p:sldId id="309" r:id="rId8"/>
    <p:sldId id="274" r:id="rId9"/>
    <p:sldId id="275" r:id="rId10"/>
    <p:sldId id="276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10" r:id="rId34"/>
    <p:sldId id="311" r:id="rId35"/>
    <p:sldId id="312" r:id="rId36"/>
    <p:sldId id="313" r:id="rId37"/>
    <p:sldId id="314" r:id="rId38"/>
    <p:sldId id="315" r:id="rId39"/>
    <p:sldId id="316" r:id="rId40"/>
    <p:sldId id="31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99" autoAdjust="0"/>
    <p:restoredTop sz="75199" autoAdjust="0"/>
  </p:normalViewPr>
  <p:slideViewPr>
    <p:cSldViewPr snapToGrid="0">
      <p:cViewPr varScale="1">
        <p:scale>
          <a:sx n="85" d="100"/>
          <a:sy n="85" d="100"/>
        </p:scale>
        <p:origin x="270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2/10/2026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68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346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785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639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0904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51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682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Описание </a:t>
            </a:r>
            <a:r>
              <a:rPr lang="ru-RU" baseline="0" dirty="0" smtClean="0"/>
              <a:t>с сайта </a:t>
            </a:r>
            <a:r>
              <a:rPr lang="ru-RU" baseline="0" dirty="0" err="1" smtClean="0"/>
              <a:t>майкрософт</a:t>
            </a:r>
            <a:r>
              <a:rPr lang="ru-RU" baseline="0" dirty="0" smtClean="0"/>
              <a:t> на почитать и подумать, ссылка: </a:t>
            </a:r>
            <a:r>
              <a:rPr lang="en-US" baseline="0" dirty="0" smtClean="0"/>
              <a:t>https://learn.microsoft.com/ru-ru/dotnet/standard/garbage-collection/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433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116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033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62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6522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9021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382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257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1632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08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75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0814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816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369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861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931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9491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5317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3971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2847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5284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3948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5217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Пример кода:</a:t>
            </a:r>
          </a:p>
          <a:p>
            <a:endParaRPr lang="nn-NO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nn-NO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 (int i = 0; i &lt; 20; i++)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Test();</a:t>
            </a:r>
          </a:p>
          <a:p>
            <a:endParaRPr lang="ru-RU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if (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== 10)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GC.Collect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endParaRPr lang="ru-RU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 Test()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using Person tom = new Person("Tom");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Console.WriteLine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($"{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tom.Name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 created");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Thread.Sleep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(1000);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endParaRPr lang="ru-RU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 class Person : 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IDisposable</a:t>
            </a:r>
            <a:endParaRPr lang="en-US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public string Name { get; }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public Person(string name) =&gt; Name = name;</a:t>
            </a:r>
          </a:p>
          <a:p>
            <a:endParaRPr lang="ru-RU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~Person()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{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Console.WriteLine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($"{Name} has been deleted");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}</a:t>
            </a:r>
          </a:p>
          <a:p>
            <a:endParaRPr lang="ru-RU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public void Dispose()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{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Console.WriteLine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($"{Name} has been disposed");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}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10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98634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2403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6282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267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7085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2711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5795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8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5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903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1569658"/>
            <a:ext cx="8978016" cy="1760699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7.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 dirty="0" err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3330357"/>
            <a:ext cx="11041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Стек </a:t>
            </a: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 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Куча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Сборщик мусора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GC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Исключения (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Exceptions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Неуправляемые ресурсы и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IDisposable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Оператор </a:t>
            </a:r>
            <a:r>
              <a:rPr lang="en-US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using</a:t>
            </a:r>
            <a:endParaRPr lang="ru-RU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Где живут ваши данные</a:t>
            </a:r>
            <a:r>
              <a:rPr lang="ru-RU" sz="2400" dirty="0" smtClean="0">
                <a:latin typeface="Bookman Old Style" panose="02050604050505020204" pitchFamily="18" charset="0"/>
              </a:rPr>
              <a:t>?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Техническая </a:t>
            </a:r>
            <a:r>
              <a:rPr lang="ru-RU" sz="2400" b="1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деталь: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Стек работает на уровне процессора (регистр указателя стека). Куча — это сегменты памяти, выделяемые CLR.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Стек и Куча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567384"/>
              </p:ext>
            </p:extLst>
          </p:nvPr>
        </p:nvGraphicFramePr>
        <p:xfrm>
          <a:off x="838200" y="1419949"/>
          <a:ext cx="10515600" cy="39243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50056678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62242629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54405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200" b="1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Характеристика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1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Стек (</a:t>
                      </a:r>
                      <a:r>
                        <a:rPr lang="en-US" sz="2200" b="1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Stack)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1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Куча (</a:t>
                      </a:r>
                      <a:r>
                        <a:rPr lang="en-US" sz="2200" b="1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Heap)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148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200" b="1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Тип доступа</a:t>
                      </a:r>
                      <a:endParaRPr lang="ru-RU" sz="2200" b="0" dirty="0">
                        <a:solidFill>
                          <a:srgbClr val="2B2D3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LIFO (Последним пришел — первым ушел)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Произвольный доступ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567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200" b="1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Управление</a:t>
                      </a:r>
                      <a:endParaRPr lang="ru-RU" sz="2200" b="0">
                        <a:solidFill>
                          <a:srgbClr val="2B2D3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Автоматическое (при выходе из метода)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Сборщик мусора (</a:t>
                      </a:r>
                      <a:r>
                        <a:rPr lang="en-US" sz="2200" b="0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Garbage Collector)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691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200" b="1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Скорость</a:t>
                      </a:r>
                      <a:endParaRPr lang="ru-RU" sz="2200" b="0">
                        <a:solidFill>
                          <a:srgbClr val="2B2D3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Очень быстрая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Медленнее (поиск свободного места)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5207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200" b="1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Размер</a:t>
                      </a:r>
                      <a:endParaRPr lang="ru-RU" sz="2200" b="0">
                        <a:solidFill>
                          <a:srgbClr val="2B2D3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Ограничен (обычно 1 МБ)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200" b="0" dirty="0">
                          <a:solidFill>
                            <a:srgbClr val="2B2D31"/>
                          </a:solidFill>
                          <a:effectLst/>
                          <a:latin typeface="Bookman Old Style" panose="02050604050505020204" pitchFamily="18" charset="0"/>
                        </a:rPr>
                        <a:t>Ограничен только оперативной памятью</a:t>
                      </a:r>
                    </a:p>
                  </a:txBody>
                  <a:tcPr marL="114300" marR="11430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9022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9005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Value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Types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vs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Reference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Types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Значимые типы (</a:t>
            </a:r>
            <a:r>
              <a:rPr lang="ru-RU" sz="2400" b="1" dirty="0" err="1">
                <a:latin typeface="Bookman Old Style" panose="02050604050505020204" pitchFamily="18" charset="0"/>
              </a:rPr>
              <a:t>Value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Types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Типы: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int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bool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double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char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struct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enum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Где хранятся:</a:t>
            </a:r>
            <a:r>
              <a:rPr lang="ru-RU" sz="2400" dirty="0">
                <a:latin typeface="Bookman Old Style" panose="02050604050505020204" pitchFamily="18" charset="0"/>
              </a:rPr>
              <a:t> В стеке (если это локальные переменные метода).</a:t>
            </a: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Особенность:</a:t>
            </a:r>
            <a:r>
              <a:rPr lang="ru-RU" sz="2400" dirty="0">
                <a:latin typeface="Bookman Old Style" panose="02050604050505020204" pitchFamily="18" charset="0"/>
              </a:rPr>
              <a:t> Хранят само </a:t>
            </a:r>
            <a:r>
              <a:rPr lang="ru-RU" sz="2400" b="1" dirty="0">
                <a:latin typeface="Bookman Old Style" panose="02050604050505020204" pitchFamily="18" charset="0"/>
              </a:rPr>
              <a:t>значение</a:t>
            </a:r>
            <a:r>
              <a:rPr lang="ru-RU" sz="2400" dirty="0">
                <a:latin typeface="Bookman Old Style" panose="02050604050505020204" pitchFamily="18" charset="0"/>
              </a:rPr>
              <a:t>. При копировании данные дублируются.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Ссылочные типы (</a:t>
            </a:r>
            <a:r>
              <a:rPr lang="ru-RU" sz="2400" b="1" dirty="0" err="1">
                <a:latin typeface="Bookman Old Style" panose="02050604050505020204" pitchFamily="18" charset="0"/>
              </a:rPr>
              <a:t>Reference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Types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Типы: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class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string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array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dirty="0" err="1">
                <a:latin typeface="Bookman Old Style" panose="02050604050505020204" pitchFamily="18" charset="0"/>
              </a:rPr>
              <a:t>delegate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Где хранятся:</a:t>
            </a:r>
            <a:r>
              <a:rPr lang="ru-RU" sz="2400" dirty="0">
                <a:latin typeface="Bookman Old Style" panose="02050604050505020204" pitchFamily="18" charset="0"/>
              </a:rPr>
              <a:t> Объект — в </a:t>
            </a:r>
            <a:r>
              <a:rPr lang="ru-RU" sz="2400" b="1" dirty="0">
                <a:latin typeface="Bookman Old Style" panose="02050604050505020204" pitchFamily="18" charset="0"/>
              </a:rPr>
              <a:t>куче</a:t>
            </a:r>
            <a:r>
              <a:rPr lang="ru-RU" sz="2400" dirty="0">
                <a:latin typeface="Bookman Old Style" panose="02050604050505020204" pitchFamily="18" charset="0"/>
              </a:rPr>
              <a:t>, ссылка на него (адрес) — в </a:t>
            </a:r>
            <a:r>
              <a:rPr lang="ru-RU" sz="2400" b="1" dirty="0">
                <a:latin typeface="Bookman Old Style" panose="02050604050505020204" pitchFamily="18" charset="0"/>
              </a:rPr>
              <a:t>стеке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Особенность:</a:t>
            </a:r>
            <a:r>
              <a:rPr lang="ru-RU" sz="2400" dirty="0">
                <a:latin typeface="Bookman Old Style" panose="02050604050505020204" pitchFamily="18" charset="0"/>
              </a:rPr>
              <a:t> Хранят </a:t>
            </a:r>
            <a:r>
              <a:rPr lang="ru-RU" sz="2400" b="1" dirty="0">
                <a:latin typeface="Bookman Old Style" panose="02050604050505020204" pitchFamily="18" charset="0"/>
              </a:rPr>
              <a:t>адрес</a:t>
            </a:r>
            <a:r>
              <a:rPr lang="ru-RU" sz="2400" dirty="0">
                <a:latin typeface="Bookman Old Style" panose="02050604050505020204" pitchFamily="18" charset="0"/>
              </a:rPr>
              <a:t> в памяти. Несколько переменных могут указывать на один объект.</a:t>
            </a:r>
          </a:p>
        </p:txBody>
      </p:sp>
    </p:spTree>
    <p:extLst>
      <p:ext uri="{BB962C8B-B14F-4D97-AF65-F5344CB8AC3E}">
        <p14:creationId xmlns:p14="http://schemas.microsoft.com/office/powerpoint/2010/main" val="2350700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Как это выглядит в памяти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?</a:t>
            </a:r>
          </a:p>
          <a:p>
            <a:pPr>
              <a:lnSpc>
                <a:spcPct val="150000"/>
              </a:lnSpc>
            </a:pPr>
            <a:endParaRPr lang="ru-RU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74531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Method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10;  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 стеке: [ 10 ]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1F377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В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стеке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[ 0xAF21 ] (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адрес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 куче:  0xAF21 -&gt; { x:0, y:0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										(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объект)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Важно:</a:t>
            </a:r>
            <a:r>
              <a:rPr lang="ru-RU" sz="2400" dirty="0">
                <a:latin typeface="Bookman Old Style" panose="02050604050505020204" pitchFamily="18" charset="0"/>
              </a:rPr>
              <a:t> Если значимый тип является полем класса (например, </a:t>
            </a:r>
            <a:r>
              <a:rPr lang="ru-RU" sz="2400" dirty="0" err="1">
                <a:latin typeface="Bookman Old Style" panose="02050604050505020204" pitchFamily="18" charset="0"/>
              </a:rPr>
              <a:t>public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int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Age</a:t>
            </a:r>
            <a:r>
              <a:rPr lang="ru-RU" sz="2400" dirty="0">
                <a:latin typeface="Bookman Old Style" panose="02050604050505020204" pitchFamily="18" charset="0"/>
              </a:rPr>
              <a:t>), он будет лежать в куче вместе со всем объектом класса. Стек используется только для локальных переменных и параметров методов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339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Упаковка представляет собой процесс преобразования </a:t>
            </a:r>
            <a:r>
              <a:rPr lang="ru-RU" sz="2400" b="1" dirty="0">
                <a:latin typeface="Bookman Old Style" panose="02050604050505020204" pitchFamily="18" charset="0"/>
              </a:rPr>
              <a:t>типа значения </a:t>
            </a:r>
            <a:r>
              <a:rPr lang="ru-RU" sz="2400" dirty="0">
                <a:latin typeface="Bookman Old Style" panose="02050604050505020204" pitchFamily="18" charset="0"/>
              </a:rPr>
              <a:t>в тип </a:t>
            </a:r>
            <a:r>
              <a:rPr lang="ru-RU" sz="2400" b="1" dirty="0" err="1">
                <a:latin typeface="Bookman Old Style" panose="02050604050505020204" pitchFamily="18" charset="0"/>
              </a:rPr>
              <a:t>object</a:t>
            </a:r>
            <a:r>
              <a:rPr lang="ru-RU" sz="2400" dirty="0">
                <a:latin typeface="Bookman Old Style" panose="02050604050505020204" pitchFamily="18" charset="0"/>
              </a:rPr>
              <a:t> или в любой другой тип интерфейса, реализуемый этим типом значения. Когда тип значения упаковывается общеязыковой средой выполнения (</a:t>
            </a:r>
            <a:r>
              <a:rPr lang="ru-RU" sz="2400" b="1" dirty="0">
                <a:latin typeface="Bookman Old Style" panose="02050604050505020204" pitchFamily="18" charset="0"/>
              </a:rPr>
              <a:t>CLR</a:t>
            </a:r>
            <a:r>
              <a:rPr lang="ru-RU" sz="2400" dirty="0">
                <a:latin typeface="Bookman Old Style" panose="02050604050505020204" pitchFamily="18" charset="0"/>
              </a:rPr>
              <a:t>), он инкапсулирует значение внутри экземпляра </a:t>
            </a:r>
            <a:r>
              <a:rPr lang="ru-RU" sz="2400" b="1" dirty="0" err="1">
                <a:latin typeface="Bookman Old Style" panose="02050604050505020204" pitchFamily="18" charset="0"/>
              </a:rPr>
              <a:t>System.Object</a:t>
            </a:r>
            <a:r>
              <a:rPr lang="ru-RU" sz="2400" dirty="0">
                <a:latin typeface="Bookman Old Style" panose="02050604050505020204" pitchFamily="18" charset="0"/>
              </a:rPr>
              <a:t> и сохраняет его в управляемой куче. Операция распаковки извлекает тип значения из объекта. Упаковка является неявной; распаковка является явной. 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Упаковка и распаковка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2068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123;</a:t>
            </a:r>
          </a:p>
          <a:p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Упаковка переменной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//</a:t>
            </a: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Затем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можно выполнить операцию распаковки объекта </a:t>
            </a:r>
            <a:r>
              <a:rPr lang="ru-RU" sz="2400" b="1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o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и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присвоить его целочисленной переменной </a:t>
            </a:r>
            <a:r>
              <a:rPr lang="ru-RU" sz="2400" b="1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i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 = 123;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)o;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unboxing</a:t>
            </a:r>
            <a:endParaRPr lang="ru-RU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Заметим, что упакованная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переменная находится в куче.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2285" y="2489390"/>
            <a:ext cx="5910307" cy="3836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158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161616"/>
                </a:solidFill>
                <a:latin typeface="Bookman Old Style" panose="02050604050505020204" pitchFamily="18" charset="0"/>
              </a:rPr>
              <a:t>По сравнению с простыми операциями присваивания операции упаковки и распаковки являются весьма затратными процессами с точки зрения вычислений. При выполнении упаковки типа значения необходимо создать и разместить новый объект. Объем вычислений при выполнении операции распаковки, хотя и в меньшей степени, но тоже весьма значителен. 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829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2" name="Rectangle 28" descr="Светлый диагональный 2">
            <a:extLst>
              <a:ext uri="{FF2B5EF4-FFF2-40B4-BE49-F238E27FC236}">
                <a16:creationId xmlns:a16="http://schemas.microsoft.com/office/drawing/2014/main" id="{2A0E99F7-A4CC-4E8F-8C74-D6A032765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Сборщик мусора. Управляемая и неуправляемая память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654356"/>
            <a:ext cx="12192000" cy="5078313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Сборщик мусора (</a:t>
            </a:r>
            <a:r>
              <a:rPr lang="ru-RU" sz="2400" dirty="0" err="1">
                <a:latin typeface="Bookman Old Style" panose="02050604050505020204" pitchFamily="18" charset="0"/>
              </a:rPr>
              <a:t>Garbage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Collector</a:t>
            </a:r>
            <a:r>
              <a:rPr lang="ru-RU" sz="2400" dirty="0">
                <a:latin typeface="Bookman Old Style" panose="02050604050505020204" pitchFamily="18" charset="0"/>
              </a:rPr>
              <a:t>, GC) — это </a:t>
            </a:r>
            <a:r>
              <a:rPr lang="ru-RU" sz="2400" dirty="0" smtClean="0">
                <a:latin typeface="Bookman Old Style" panose="02050604050505020204" pitchFamily="18" charset="0"/>
              </a:rPr>
              <a:t>компонент </a:t>
            </a:r>
            <a:r>
              <a:rPr lang="ru-RU" sz="2400" dirty="0">
                <a:latin typeface="Bookman Old Style" panose="02050604050505020204" pitchFamily="18" charset="0"/>
              </a:rPr>
              <a:t>среды выполнения .NET, отвечающий за автоматическое управление памятью в приложениях на C#.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отличие от языков программирования, которые требуют от разработчика явного управления памятью (например, C или C++), C# использует </a:t>
            </a:r>
            <a:r>
              <a:rPr lang="ru-RU" sz="2400" b="1" dirty="0">
                <a:latin typeface="Bookman Old Style" panose="02050604050505020204" pitchFamily="18" charset="0"/>
              </a:rPr>
              <a:t>автоматическое управление памятью</a:t>
            </a:r>
            <a:r>
              <a:rPr lang="ru-RU" sz="2400" dirty="0">
                <a:latin typeface="Bookman Old Style" panose="02050604050505020204" pitchFamily="18" charset="0"/>
              </a:rPr>
              <a:t>. Это означает, что разработчики не обязаны вручную освобождать память, которая больше не </a:t>
            </a:r>
            <a:r>
              <a:rPr lang="ru-RU" sz="2400" dirty="0" smtClean="0">
                <a:latin typeface="Bookman Old Style" panose="02050604050505020204" pitchFamily="18" charset="0"/>
              </a:rPr>
              <a:t>используется.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Но…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026036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1999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Управляемая и неуправляемая </a:t>
            </a:r>
            <a:r>
              <a:rPr lang="ru-RU" sz="2400" b="1" dirty="0" smtClean="0">
                <a:latin typeface="Bookman Old Style" panose="02050604050505020204" pitchFamily="18" charset="0"/>
              </a:rPr>
              <a:t>память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Управляемая память </a:t>
            </a:r>
            <a:r>
              <a:rPr lang="ru-RU" sz="2400" dirty="0">
                <a:latin typeface="Bookman Old Style" panose="02050604050505020204" pitchFamily="18" charset="0"/>
              </a:rPr>
              <a:t>—</a:t>
            </a:r>
            <a:r>
              <a:rPr lang="ru-RU" sz="2400" dirty="0" smtClean="0">
                <a:latin typeface="Bookman Old Style" panose="02050604050505020204" pitchFamily="18" charset="0"/>
              </a:rPr>
              <a:t> память</a:t>
            </a:r>
            <a:r>
              <a:rPr lang="ru-RU" sz="2400" dirty="0">
                <a:latin typeface="Bookman Old Style" panose="02050604050505020204" pitchFamily="18" charset="0"/>
              </a:rPr>
              <a:t>, выделяемая с помощью `</a:t>
            </a:r>
            <a:r>
              <a:rPr lang="ru-RU" sz="2400" b="1" dirty="0" err="1">
                <a:latin typeface="Bookman Old Style" panose="02050604050505020204" pitchFamily="18" charset="0"/>
              </a:rPr>
              <a:t>new</a:t>
            </a:r>
            <a:r>
              <a:rPr lang="ru-RU" sz="2400" dirty="0">
                <a:latin typeface="Bookman Old Style" panose="02050604050505020204" pitchFamily="18" charset="0"/>
              </a:rPr>
              <a:t>` в C#, считается управляемой памятью. Объекты в управляемой памяти находятся под контролем сборщика мусора. 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Неуправляемая память </a:t>
            </a:r>
            <a:r>
              <a:rPr lang="ru-RU" sz="2400" dirty="0">
                <a:latin typeface="Bookman Old Style" panose="02050604050505020204" pitchFamily="18" charset="0"/>
              </a:rPr>
              <a:t>— это память, за которую отвечают разработчики. В отличие от управляемой, она </a:t>
            </a:r>
            <a:r>
              <a:rPr lang="ru-RU" sz="2400" b="1" dirty="0">
                <a:latin typeface="Bookman Old Style" panose="02050604050505020204" pitchFamily="18" charset="0"/>
              </a:rPr>
              <a:t>не контролируется сборщиком мусора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При </a:t>
            </a:r>
            <a:r>
              <a:rPr lang="ru-RU" sz="2400" dirty="0">
                <a:latin typeface="Bookman Old Style" panose="02050604050505020204" pitchFamily="18" charset="0"/>
              </a:rPr>
              <a:t>создании объектов, включающих неуправляемые ресурсы, необходимо явно освободить эти ресурсы после их завершения. Основным типом неуправляемых ресурсов являются объекты, заключающие ресурсы операционной системы, такие как </a:t>
            </a:r>
            <a:r>
              <a:rPr lang="ru-RU" sz="2400" b="1" dirty="0">
                <a:latin typeface="Bookman Old Style" panose="02050604050505020204" pitchFamily="18" charset="0"/>
              </a:rPr>
              <a:t>файлы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b="1" dirty="0">
                <a:latin typeface="Bookman Old Style" panose="02050604050505020204" pitchFamily="18" charset="0"/>
              </a:rPr>
              <a:t>окна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b="1" dirty="0">
                <a:latin typeface="Bookman Old Style" panose="02050604050505020204" pitchFamily="18" charset="0"/>
              </a:rPr>
              <a:t>сетевые подключения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b="1" dirty="0">
                <a:latin typeface="Bookman Old Style" panose="02050604050505020204" pitchFamily="18" charset="0"/>
              </a:rPr>
              <a:t>подключения к базам данным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395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1999" cy="2308324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Работа сборщика мусора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Этапы сборки мусора:</a:t>
            </a:r>
          </a:p>
          <a:p>
            <a:pPr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Маркировка (</a:t>
            </a:r>
            <a:r>
              <a:rPr lang="en-US" sz="2400" dirty="0">
                <a:latin typeface="Bookman Old Style" panose="02050604050505020204" pitchFamily="18" charset="0"/>
              </a:rPr>
              <a:t>mark phase).</a:t>
            </a:r>
          </a:p>
          <a:p>
            <a:pPr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Чистка (</a:t>
            </a:r>
            <a:r>
              <a:rPr lang="en-US" sz="2400" dirty="0">
                <a:latin typeface="Bookman Old Style" panose="02050604050505020204" pitchFamily="18" charset="0"/>
              </a:rPr>
              <a:t>sweep phase).</a:t>
            </a:r>
          </a:p>
          <a:p>
            <a:pPr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Сжатие (</a:t>
            </a:r>
            <a:r>
              <a:rPr lang="en-US" sz="2400" dirty="0">
                <a:latin typeface="Bookman Old Style" panose="02050604050505020204" pitchFamily="18" charset="0"/>
              </a:rPr>
              <a:t>compact phase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691116" y="2753833"/>
            <a:ext cx="3189768" cy="3646967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Стек</a:t>
            </a:r>
            <a:endParaRPr lang="ru-RU" sz="24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4748955" y="2753832"/>
            <a:ext cx="7053942" cy="3646967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Куча</a:t>
            </a:r>
            <a:endParaRPr lang="ru-RU" sz="24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91116" y="3341914"/>
            <a:ext cx="3189768" cy="710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latin typeface="Bookman Old Style" panose="02050604050505020204" pitchFamily="18" charset="0"/>
              </a:rPr>
              <a:t>STR1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691116" y="4161328"/>
            <a:ext cx="3189768" cy="710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latin typeface="Bookman Old Style" panose="02050604050505020204" pitchFamily="18" charset="0"/>
              </a:rPr>
              <a:t>ARR1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841544" y="3529406"/>
            <a:ext cx="3554313" cy="5414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latin typeface="Bookman Old Style" panose="02050604050505020204" pitchFamily="18" charset="0"/>
              </a:rPr>
              <a:t>“</a:t>
            </a:r>
            <a:r>
              <a:rPr lang="ru-RU" sz="2400" dirty="0" smtClean="0">
                <a:latin typeface="Bookman Old Style" panose="02050604050505020204" pitchFamily="18" charset="0"/>
              </a:rPr>
              <a:t>Моя старая строка</a:t>
            </a:r>
            <a:r>
              <a:rPr lang="en-US" sz="2400" dirty="0" smtClean="0">
                <a:latin typeface="Bookman Old Style" panose="02050604050505020204" pitchFamily="18" charset="0"/>
              </a:rPr>
              <a:t>”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8817428" y="4516342"/>
            <a:ext cx="2623456" cy="5414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latin typeface="Bookman Old Style" panose="02050604050505020204" pitchFamily="18" charset="0"/>
              </a:rPr>
              <a:t>“</a:t>
            </a:r>
            <a:r>
              <a:rPr lang="ru-RU" sz="2400" dirty="0" smtClean="0">
                <a:latin typeface="Bookman Old Style" panose="02050604050505020204" pitchFamily="18" charset="0"/>
              </a:rPr>
              <a:t>Моя строка</a:t>
            </a:r>
            <a:r>
              <a:rPr lang="en-US" sz="2400" dirty="0" smtClean="0">
                <a:latin typeface="Bookman Old Style" panose="02050604050505020204" pitchFamily="18" charset="0"/>
              </a:rPr>
              <a:t>”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5350453" y="5158794"/>
            <a:ext cx="2634343" cy="5414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latin typeface="Bookman Old Style" panose="02050604050505020204" pitchFamily="18" charset="0"/>
              </a:rPr>
              <a:t>[0, 1, 5, 10, 25]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cxnSp>
        <p:nvCxnSpPr>
          <p:cNvPr id="6" name="Прямая со стрелкой 5"/>
          <p:cNvCxnSpPr>
            <a:stCxn id="3" idx="3"/>
            <a:endCxn id="9" idx="1"/>
          </p:cNvCxnSpPr>
          <p:nvPr/>
        </p:nvCxnSpPr>
        <p:spPr>
          <a:xfrm>
            <a:off x="3880884" y="3696929"/>
            <a:ext cx="4936544" cy="1090127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>
            <a:stCxn id="7" idx="3"/>
            <a:endCxn id="10" idx="1"/>
          </p:cNvCxnSpPr>
          <p:nvPr/>
        </p:nvCxnSpPr>
        <p:spPr>
          <a:xfrm>
            <a:off x="3880884" y="4516343"/>
            <a:ext cx="1469569" cy="91316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Умножение 13"/>
          <p:cNvSpPr/>
          <p:nvPr/>
        </p:nvSpPr>
        <p:spPr>
          <a:xfrm>
            <a:off x="10107385" y="3217934"/>
            <a:ext cx="576943" cy="622943"/>
          </a:xfrm>
          <a:prstGeom prst="mathMultiply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Умножение 16"/>
          <p:cNvSpPr/>
          <p:nvPr/>
        </p:nvSpPr>
        <p:spPr>
          <a:xfrm>
            <a:off x="11152412" y="4229052"/>
            <a:ext cx="576943" cy="622943"/>
          </a:xfrm>
          <a:prstGeom prst="mathMultiply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Умножение 17"/>
          <p:cNvSpPr/>
          <p:nvPr/>
        </p:nvSpPr>
        <p:spPr>
          <a:xfrm>
            <a:off x="7698983" y="4830599"/>
            <a:ext cx="576943" cy="622943"/>
          </a:xfrm>
          <a:prstGeom prst="mathMultiply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6774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  <p:bldP spid="14" grpId="1" animBg="1"/>
      <p:bldP spid="17" grpId="0" animBg="1"/>
      <p:bldP spid="17" grpId="1" animBg="1"/>
      <p:bldP spid="18" grpId="0" animBg="1"/>
      <p:bldP spid="18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Управление памятью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Большинство объектов, используемых в программах на C#, относятся к управляемым или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managed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-коду. Такие объекты управляются CLR и легко очищаются сборщиком мусора. Однако вместе с тем встречаются также и такие объекты, которые задействуют неуправляемые объекты (подключения к файлам, базам данных, сетевые подключения и т.д.). Такие неуправляемые объекты обращаются к API операционной системы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18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Сборщик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мусора может справиться с управляемыми объектами, однако он не знает, как удалять неуправляемые объекты. В этом случае разработчик должен сам реализовывать механизмы очистки на уровне программного кода.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Освобождение неуправляемых ресурсов подразумевает реализацию одного из двух механизмов: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Создание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деструктора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Реализация классом интерфейса </a:t>
            </a:r>
            <a:r>
              <a:rPr lang="ru-RU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System.IDisposable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9654" y="4081192"/>
            <a:ext cx="2589446" cy="2576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31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Метод 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деструктора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носит имя класса (как и конструктор), перед которым стоит знак тильды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(~).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Деструкторы можно определить только в классах. Деструктор в отличие от конструктора не может иметь модификаторов доступа и параметры. При этом каждый класс может иметь только один деструктор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~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145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FileStream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_stream;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filePath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_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stream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FileStream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filePath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FileMode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.OpenOrCreate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Write(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content)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bytes = 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System.Text.</a:t>
            </a:r>
            <a:r>
              <a:rPr lang="en-US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Encoding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.UTF8.GetBytes(content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stream.Write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(bytes, 0,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bytes.Length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~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stream.Close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72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Однако на деле при очистке сборщик мусора вызывает не деструктор, а метод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Finalize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Все потому, что компилятор C# компилирует деструктор в конструкцию, которая эквивалентна следующей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protected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override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Finalize()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здесь идут инструкции деструктора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base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.Finalize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2277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Метод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Finalize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уже определен в базовом для всех типов классе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Object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однако данный метод нельзя так просто переопределить. И фактическая его реализация происходит через создание деструктора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338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Рассмотрим пример: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tom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name) =&gt; Name = name;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~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Person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{Name}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has been deleted"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412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Test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GC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.Collect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очистка памяти под объект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tom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.Read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ставим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задержку</a:t>
            </a:r>
            <a:endParaRPr lang="ru-RU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Обратите внимание, что даже после завершения метода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Test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и соответственно удаления из стека ссылки на объект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Person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в куче, может не последовать немедленного вызова деструктора. Лишь при завершении всей программы гарантировано произойдет очистка памяти. Однако с .NET 5 и в последующих версиях при завершении программы деструкторы не вызываются. Поэтому в программе выше для более быстрой очистки памяти применяется метод </a:t>
            </a:r>
            <a:r>
              <a:rPr lang="ru-RU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GC.Collect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Как правило «ручной» вызов сборки мусора не нужен и может привести к значительной потере производительности.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Когда произойдёт сборка мусора решает сама среда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CLR.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6928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Обработка исключений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Иногда при выполнении программы возникают ошибки, которые трудно предусмотреть или предвидеть, а иногда и вовсе невозможно. Например, при передачи файла по сети может неожиданно оборваться сетевое подключение. такие ситуации называются исключениями. Язык C# предоставляет разработчикам возможности для обработки таких ситуаций. Для этого в C# предназначена конструкция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...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...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finally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Блоки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catch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finally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не являются обязательными, но требуется чтобы присутствовал хотя бы 1 из них.</a:t>
            </a:r>
            <a:endParaRPr lang="ru-RU" sz="240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954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161616"/>
                </a:solidFill>
                <a:latin typeface="Bookman Old Style" panose="02050604050505020204" pitchFamily="18" charset="0"/>
              </a:rPr>
              <a:t>Исключение</a:t>
            </a:r>
            <a:r>
              <a:rPr lang="ru-RU" sz="2400" dirty="0" smtClean="0">
                <a:solidFill>
                  <a:srgbClr val="161616"/>
                </a:solidFill>
                <a:latin typeface="Bookman Old Style" panose="02050604050505020204" pitchFamily="18" charset="0"/>
              </a:rPr>
              <a:t> – ошибка, которая происходит </a:t>
            </a:r>
            <a:r>
              <a:rPr lang="ru-RU" sz="2400" dirty="0">
                <a:solidFill>
                  <a:srgbClr val="161616"/>
                </a:solidFill>
                <a:latin typeface="Bookman Old Style" panose="02050604050505020204" pitchFamily="18" charset="0"/>
              </a:rPr>
              <a:t>во время выполнения приложения.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Базовым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для всех типов исключений является тип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Exception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Этот тип определяет ряд свойств, с помощью которых можно получить информацию об исключении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InnerException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: хранит информацию об исключении, которое послужило причиной текущего исключения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Message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: хранит сообщение об исключении, текст ошибки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Source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: хранит имя объекта или сборки, которое вызвало исключение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StackTrace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: возвращает строковое представление стека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вызывов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которые привели к возникновению исключения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TargetSite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: возвращает метод, в котором и было вызвано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исключение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87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1999" cy="378565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Рассмотрим код:</a:t>
            </a:r>
          </a:p>
          <a:p>
            <a:pPr algn="just">
              <a:lnSpc>
                <a:spcPct val="150000"/>
              </a:lnSpc>
            </a:pPr>
            <a:endParaRPr lang="ru-RU" sz="240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= 5;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y = 0;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 = x / 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3 строке происходит деление на 0, что приводит к выбрасыванию исключения при выполнении программы.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67" y="3785652"/>
            <a:ext cx="714375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387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1999" cy="360098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Рассмотрим код:</a:t>
            </a:r>
          </a:p>
          <a:p>
            <a:pPr algn="just">
              <a:lnSpc>
                <a:spcPct val="150000"/>
              </a:lnSpc>
            </a:pPr>
            <a:endParaRPr lang="ru-RU" sz="240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{ 1, 2, 3 };</a:t>
            </a: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element =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[10];</a:t>
            </a:r>
            <a:endParaRPr lang="ru-RU" sz="2400" i="0" dirty="0" smtClean="0">
              <a:solidFill>
                <a:srgbClr val="000000"/>
              </a:solidFill>
              <a:effectLst/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2 строке происходит обращение к индексу, которого нет в массиве, что также приводит к выбрасыванию исключения: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42" y="3600986"/>
            <a:ext cx="830417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45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1999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Применим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try…catch…finally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чтобы поймать и обработать исключение: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= 5;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y = x /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Результат: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y}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DivideByZeroException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"Произошло деление на 0"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Exception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Произошла непредвиденная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ошибка</a:t>
            </a:r>
          </a:p>
          <a:p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							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ex.Message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Конец"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949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При использовании блока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...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..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finally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 вначале выполняются все инструкции в блоке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Если в этом блоке не возникло исключений, то после его выполнения начинает выполняться блок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finally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 И затем конструкция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..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..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finally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завершает свою работу.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Если же в блоке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try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вдруг возникает исключение, то обычный порядок выполнения останавливается, и среда CLR начинает искать блок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который может обработать данное исключение. Если нужный блок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найден, то он выполняется, и после его завершения выполняется блок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finally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Если нужный блок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не найден, то при возникновении исключения программа </a:t>
            </a:r>
            <a:r>
              <a:rPr lang="ru-RU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аварийно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завершает свое выполнение.</a:t>
            </a: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510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Мы можем самостоятельно выбросить исключение с помощью </a:t>
            </a:r>
            <a:r>
              <a:rPr lang="en-US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throw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0" i="0" dirty="0">
              <a:solidFill>
                <a:srgbClr val="000000"/>
              </a:solidFill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 = 5;</a:t>
            </a:r>
          </a:p>
          <a:p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y =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.Parse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.ReadLine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(y == 0)</a:t>
            </a: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throw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ArgumentException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"Попытка поделить на 0"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Результат: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en-US" sz="2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Слово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throw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можно использовать внутри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catch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без создания исключения,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тогда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текущее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исключение пробросится выше по стеку вызова методов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catch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DivideByZeroException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196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Интерфейс 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IDisposable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объявляет один единственный метод </a:t>
            </a:r>
            <a:r>
              <a:rPr lang="ru-RU" sz="24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Dispose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, в котором при реализации интерфейса в классе должно происходить освобождение неуправляемых ресурсов. Например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IDisposable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FileStream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_stream;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filePath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=&gt; 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_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stream =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FileStream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filePath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FileMode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.OpenOrCreate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Dispose()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_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stream.Close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Интерфейс </a:t>
            </a:r>
            <a:r>
              <a:rPr lang="ru-RU" sz="2800" b="1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IDisposable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3218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отличие от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Finalize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очистка ресурсов запускается не сборщиком мусора, а программистом при вызове метода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Dispose.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handler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"path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handler.Write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"content"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handler.Dispose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Предпочтительнее использовать конструкцию </a:t>
            </a:r>
            <a:r>
              <a:rPr lang="en-US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try...finally, 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так как она гарантирует, что даже в случае возникновения исключения произойдет освобождение ресурсов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handler.Write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"content"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finally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handler.Dispose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1161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Обычно используется сокращенная запись с помощью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using:</a:t>
            </a: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handler =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"path"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handler.Write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"content"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метод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Dispose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вызовется автоматически после блока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using.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Можно писать так: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handler =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FileHandler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"path"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handler.Write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"content"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Тогда метод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Dispose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вызовется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при</a:t>
            </a:r>
            <a:r>
              <a:rPr lang="ru-RU" sz="2400" dirty="0">
                <a:solidFill>
                  <a:srgbClr val="000000"/>
                </a:solidFill>
                <a:latin typeface="Bookman Old Style" panose="02050604050505020204" pitchFamily="18" charset="0"/>
              </a:rPr>
              <a:t> удаления из стека ссылки на объект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handler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Также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Dispose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вызывается автоматически после </a:t>
            </a:r>
            <a:r>
              <a:rPr lang="en-US" sz="2400" dirty="0" err="1" smtClean="0">
                <a:solidFill>
                  <a:srgbClr val="000000"/>
                </a:solidFill>
                <a:latin typeface="Bookman Old Style" panose="02050604050505020204" pitchFamily="18" charset="0"/>
              </a:rPr>
              <a:t>foreach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4858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Отметим, что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Finalize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Dispose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часто используются совместно, шаблон от 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Microsoft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выглядит следующим образом: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SomeClass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IDisposable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disposed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false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реализация интерфейса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IDisposable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Dispose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 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Dispose(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// освобождаем неуправляемые 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ресурсы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GC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.SuppressFinalize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// подавляем </a:t>
            </a:r>
            <a:r>
              <a:rPr lang="ru-RU" sz="24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финализацию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6851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protected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virtual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Dispose(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disposing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(disposed)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(disposing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Освобождаем управляемые ресурсы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освобождаем неуправляемые объекты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disposed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Деструктор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~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SomeClass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Dispose(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false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085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Логика очистки реализуется перегруженной версией метода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bool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disposing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). Если параметр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disposing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имеет значение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true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, то данный метод вызывается из публичного метода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, если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false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- то из деструктора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При вызове деструктора в качестве параметра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disposing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передается значение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false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, чтобы избежать очистки управляемых ресурсов, так как мы не можем быть уверенными в их состоянии, что они до сих пор находятся в памяти. И в этом случае остается полагаться на деструкторы этих ресурсов. Ну и в обоих случаях освобождаются неуправляемые ресурсы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  <a:endParaRPr lang="ru-RU" sz="2400" dirty="0"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02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Еще 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один важный момент - вызов в методе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метода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GC.SuppressFinalize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this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).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GC.SuppressFinalize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не позволяет системе выполнить метод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Finalize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для данного объекта. Если же в классе деструктор не определен, то вызов этого метода не будет иметь никакого эффекта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Таким образом, даже если разработчик не использует в программе метод </a:t>
            </a:r>
            <a:r>
              <a:rPr lang="ru-RU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Dispose</a:t>
            </a:r>
            <a:r>
              <a:rPr lang="ru-RU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, все равно произойдет очистка и освобождение ресурсов.</a:t>
            </a:r>
          </a:p>
        </p:txBody>
      </p:sp>
    </p:spTree>
    <p:extLst>
      <p:ext uri="{BB962C8B-B14F-4D97-AF65-F5344CB8AC3E}">
        <p14:creationId xmlns:p14="http://schemas.microsoft.com/office/powerpoint/2010/main" val="3636764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2" name="Rectangle 28" descr="Светлый диагональный 2">
            <a:extLst>
              <a:ext uri="{FF2B5EF4-FFF2-40B4-BE49-F238E27FC236}">
                <a16:creationId xmlns:a16="http://schemas.microsoft.com/office/drawing/2014/main" id="{2A0E99F7-A4CC-4E8F-8C74-D6A032765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Работа с файлами и папками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654356"/>
            <a:ext cx="12192000" cy="5170646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i="0" dirty="0">
                <a:effectLst/>
                <a:latin typeface="Bookman Old Style" panose="02050604050505020204" pitchFamily="18" charset="0"/>
              </a:rPr>
              <a:t>Создание </a:t>
            </a:r>
            <a:r>
              <a:rPr lang="ru-RU" sz="2400" b="1" i="0" dirty="0" smtClean="0">
                <a:effectLst/>
                <a:latin typeface="Bookman Old Style" panose="02050604050505020204" pitchFamily="18" charset="0"/>
              </a:rPr>
              <a:t>файла</a:t>
            </a:r>
            <a:r>
              <a:rPr lang="ru-RU" sz="2400" i="0" dirty="0" smtClean="0">
                <a:effectLst/>
                <a:latin typeface="Bookman Old Style" panose="02050604050505020204" pitchFamily="18" charset="0"/>
              </a:rPr>
              <a:t>:</a:t>
            </a:r>
            <a:r>
              <a:rPr lang="en-US" sz="2400" i="0" dirty="0" smtClean="0">
                <a:effectLst/>
                <a:latin typeface="Bookman Old Style" panose="02050604050505020204" pitchFamily="18" charset="0"/>
              </a:rPr>
              <a:t> 		</a:t>
            </a:r>
            <a:endParaRPr lang="ru-RU" sz="2400" i="0" dirty="0" smtClean="0">
              <a:effectLst/>
              <a:latin typeface="Bookman Old Style" panose="02050604050505020204" pitchFamily="18" charset="0"/>
            </a:endParaRPr>
          </a:p>
          <a:p>
            <a:pPr algn="ctr">
              <a:lnSpc>
                <a:spcPct val="125000"/>
              </a:lnSpc>
            </a:pP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B0F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B0F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latin typeface="Cascadia Mono" panose="020B0609020000020004" pitchFamily="49" charset="0"/>
              </a:rPr>
              <a:t>fileStream</a:t>
            </a:r>
            <a:r>
              <a:rPr lang="en-US" sz="2400" dirty="0" smtClean="0">
                <a:latin typeface="Cascadia Mono" panose="020B0609020000020004" pitchFamily="49" charset="0"/>
              </a:rPr>
              <a:t> =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File.Create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файл.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txt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i="0" dirty="0">
              <a:effectLst/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i="0" dirty="0">
                <a:effectLst/>
                <a:latin typeface="Bookman Old Style" panose="02050604050505020204" pitchFamily="18" charset="0"/>
              </a:rPr>
              <a:t>При указании имени файла</a:t>
            </a:r>
            <a:r>
              <a:rPr lang="ru-RU" sz="2400" dirty="0">
                <a:latin typeface="Bookman Old Style" panose="02050604050505020204" pitchFamily="18" charset="0"/>
              </a:rPr>
              <a:t>, файл создается там, откуда запущено приложение.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Создание файла </a:t>
            </a:r>
            <a:r>
              <a:rPr lang="ru-RU" sz="2400" dirty="0">
                <a:latin typeface="Bookman Old Style" panose="02050604050505020204" pitchFamily="18" charset="0"/>
              </a:rPr>
              <a:t>по конкретному пути: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ctr">
              <a:lnSpc>
                <a:spcPct val="125000"/>
              </a:lnSpc>
            </a:pP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B0F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B0F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latin typeface="Cascadia Mono" panose="020B0609020000020004" pitchFamily="49" charset="0"/>
              </a:rPr>
              <a:t>fileStream</a:t>
            </a:r>
            <a:r>
              <a:rPr lang="en-US" sz="2400" dirty="0" smtClean="0">
                <a:latin typeface="Cascadia Mono" panose="020B0609020000020004" pitchFamily="49" charset="0"/>
              </a:rPr>
              <a:t> </a:t>
            </a:r>
            <a:r>
              <a:rPr lang="en-US" sz="2400" dirty="0">
                <a:latin typeface="Cascadia Mono" panose="020B0609020000020004" pitchFamily="49" charset="0"/>
              </a:rPr>
              <a:t>= </a:t>
            </a:r>
            <a:r>
              <a:rPr lang="ru-RU" sz="2400" dirty="0" err="1" smtClean="0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.Create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"D:</a:t>
            </a:r>
            <a:r>
              <a:rPr lang="ru-RU" sz="2400" dirty="0">
                <a:solidFill>
                  <a:srgbClr val="FF007F"/>
                </a:solidFill>
                <a:latin typeface="Cascadia Mono" panose="020B0609020000020004" pitchFamily="49" charset="0"/>
              </a:rPr>
              <a:t>\\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папка</a:t>
            </a:r>
            <a:r>
              <a:rPr lang="en-US" sz="2400" dirty="0">
                <a:solidFill>
                  <a:srgbClr val="FF007F"/>
                </a:solidFill>
                <a:latin typeface="Cascadia Mono" panose="020B0609020000020004" pitchFamily="49" charset="0"/>
              </a:rPr>
              <a:t>\\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 на диске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D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txt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25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25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using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спец. слово </a:t>
            </a:r>
            <a:r>
              <a:rPr lang="ru-RU" sz="2400" dirty="0" smtClean="0">
                <a:latin typeface="Bookman Old Style" panose="02050604050505020204" pitchFamily="18" charset="0"/>
              </a:rPr>
              <a:t>для автоматического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вызова методов, необходимых для </a:t>
            </a:r>
            <a:r>
              <a:rPr lang="ru-RU" sz="2400" dirty="0">
                <a:latin typeface="Bookman Old Style" panose="02050604050505020204" pitchFamily="18" charset="0"/>
              </a:rPr>
              <a:t>освобождения неуправляемых ресурсов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после выполнения блока инструкций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028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248859" y="325415"/>
            <a:ext cx="11943141" cy="5632311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Чтобы </a:t>
            </a:r>
            <a:r>
              <a:rPr lang="ru-RU" sz="2400" b="1" dirty="0">
                <a:latin typeface="Bookman Old Style" panose="02050604050505020204" pitchFamily="18" charset="0"/>
              </a:rPr>
              <a:t>использовать спец. символы в тексте необходимо их экранировать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Например</a:t>
            </a:r>
            <a:r>
              <a:rPr lang="ru-RU" sz="2400" dirty="0">
                <a:latin typeface="Bookman Old Style" panose="02050604050505020204" pitchFamily="18" charset="0"/>
              </a:rPr>
              <a:t>, если мы хотим вывести на экран символ кавычек.</a:t>
            </a:r>
          </a:p>
          <a:p>
            <a:pPr algn="ctr">
              <a:lnSpc>
                <a:spcPct val="125000"/>
              </a:lnSpc>
            </a:pP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FF007F"/>
                </a:solidFill>
                <a:latin typeface="Cascadia Mono" panose="020B0609020000020004" pitchFamily="49" charset="0"/>
              </a:rPr>
              <a:t>\"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ctr">
              <a:lnSpc>
                <a:spcPct val="125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Также можно экранировать обратный </a:t>
            </a:r>
            <a:r>
              <a:rPr lang="ru-RU" sz="2400" dirty="0" err="1">
                <a:latin typeface="Bookman Old Style" panose="02050604050505020204" pitchFamily="18" charset="0"/>
              </a:rPr>
              <a:t>слэш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FF007F"/>
                </a:solidFill>
                <a:latin typeface="Cascadia Mono" panose="020B0609020000020004" pitchFamily="49" charset="0"/>
              </a:rPr>
              <a:t>\</a:t>
            </a:r>
            <a:r>
              <a:rPr lang="ru-RU" sz="2400" dirty="0">
                <a:solidFill>
                  <a:srgbClr val="FF007F"/>
                </a:solidFill>
                <a:latin typeface="Cascadia Mono" panose="020B0609020000020004" pitchFamily="49" charset="0"/>
              </a:rPr>
              <a:t>\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Оператор «</a:t>
            </a:r>
            <a:r>
              <a:rPr lang="en-US" sz="2400" b="1" dirty="0">
                <a:latin typeface="Bookman Old Style" panose="02050604050505020204" pitchFamily="18" charset="0"/>
              </a:rPr>
              <a:t>@</a:t>
            </a:r>
            <a:r>
              <a:rPr lang="ru-RU" sz="2400" b="1" dirty="0">
                <a:latin typeface="Bookman Old Style" panose="02050604050505020204" pitchFamily="18" charset="0"/>
              </a:rPr>
              <a:t>»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в начале строки означает экранирование всей строки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ctr">
              <a:lnSpc>
                <a:spcPct val="125000"/>
              </a:lnSpc>
            </a:pP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@"\"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25000"/>
              </a:lnSpc>
            </a:pP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ctr">
              <a:lnSpc>
                <a:spcPct val="125000"/>
              </a:lnSpc>
            </a:pP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B0F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.Create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D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:</a:t>
            </a:r>
            <a:r>
              <a:rPr lang="ru-RU" sz="2400" dirty="0" smtClean="0">
                <a:solidFill>
                  <a:srgbClr val="FF007F"/>
                </a:solidFill>
                <a:latin typeface="Cascadia Mono" panose="020B0609020000020004" pitchFamily="49" charset="0"/>
              </a:rPr>
              <a:t>\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папка</a:t>
            </a:r>
            <a:r>
              <a:rPr lang="en-US" sz="2400" dirty="0" smtClean="0">
                <a:solidFill>
                  <a:srgbClr val="FF007F"/>
                </a:solidFill>
                <a:latin typeface="Cascadia Mono" panose="020B0609020000020004" pitchFamily="49" charset="0"/>
              </a:rPr>
              <a:t>\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 на диске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D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.</a:t>
            </a:r>
            <a:r>
              <a:rPr lang="ru-RU" sz="24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txt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8657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2000" cy="6186309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endParaRPr lang="en-US" sz="2200" b="1" i="0" dirty="0" smtClean="0">
              <a:effectLst/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200" b="1" i="0" dirty="0" smtClean="0">
                <a:effectLst/>
                <a:latin typeface="Bookman Old Style" panose="02050604050505020204" pitchFamily="18" charset="0"/>
              </a:rPr>
              <a:t>Создание </a:t>
            </a:r>
            <a:r>
              <a:rPr lang="ru-RU" sz="2200" i="0" dirty="0">
                <a:effectLst/>
                <a:latin typeface="Bookman Old Style" panose="02050604050505020204" pitchFamily="18" charset="0"/>
              </a:rPr>
              <a:t>текстового</a:t>
            </a:r>
            <a:r>
              <a:rPr lang="ru-RU" sz="2200" b="1" i="0" dirty="0">
                <a:effectLst/>
                <a:latin typeface="Bookman Old Style" panose="02050604050505020204" pitchFamily="18" charset="0"/>
              </a:rPr>
              <a:t> </a:t>
            </a:r>
            <a:r>
              <a:rPr lang="ru-RU" sz="2200" i="0" dirty="0">
                <a:effectLst/>
                <a:latin typeface="Bookman Old Style" panose="02050604050505020204" pitchFamily="18" charset="0"/>
              </a:rPr>
              <a:t>файла и </a:t>
            </a:r>
            <a:r>
              <a:rPr lang="ru-RU" sz="2200" b="1" i="0" dirty="0">
                <a:effectLst/>
                <a:latin typeface="Bookman Old Style" panose="02050604050505020204" pitchFamily="18" charset="0"/>
              </a:rPr>
              <a:t>запись </a:t>
            </a:r>
            <a:r>
              <a:rPr lang="ru-RU" sz="2200" i="0" dirty="0">
                <a:effectLst/>
                <a:latin typeface="Bookman Old Style" panose="02050604050505020204" pitchFamily="18" charset="0"/>
              </a:rPr>
              <a:t>данных</a:t>
            </a:r>
            <a:r>
              <a:rPr lang="ru-RU" sz="2200" i="0" dirty="0" smtClean="0">
                <a:effectLst/>
                <a:latin typeface="Bookman Old Style" panose="02050604050505020204" pitchFamily="18" charset="0"/>
              </a:rPr>
              <a:t>:</a:t>
            </a:r>
            <a:endParaRPr lang="en-US" sz="2200" i="0" dirty="0" smtClean="0">
              <a:effectLst/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ru-RU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.WriteAllText</a:t>
            </a:r>
            <a:r>
              <a:rPr lang="ru-RU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"мой файл2.txt"</a:t>
            </a:r>
            <a:r>
              <a:rPr lang="ru-RU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"что то написали"</a:t>
            </a:r>
            <a:r>
              <a:rPr lang="ru-RU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en-US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.WriteAllLines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файл2.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txt"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2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[] {</a:t>
            </a:r>
            <a:r>
              <a:rPr lang="en-US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строка 1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  <a:r>
              <a:rPr lang="en-US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строка 2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  <a:endParaRPr lang="ru-RU" sz="2200" dirty="0"/>
          </a:p>
          <a:p>
            <a:pPr>
              <a:lnSpc>
                <a:spcPct val="150000"/>
              </a:lnSpc>
            </a:pPr>
            <a:r>
              <a:rPr lang="ru-RU" sz="2200" b="1" dirty="0">
                <a:latin typeface="Bookman Old Style" panose="02050604050505020204" pitchFamily="18" charset="0"/>
              </a:rPr>
              <a:t>Запись </a:t>
            </a:r>
            <a:r>
              <a:rPr lang="ru-RU" sz="2200" dirty="0">
                <a:latin typeface="Bookman Old Style" panose="02050604050505020204" pitchFamily="18" charset="0"/>
              </a:rPr>
              <a:t>данных в существующий файл:</a:t>
            </a:r>
          </a:p>
          <a:p>
            <a:pPr algn="just">
              <a:lnSpc>
                <a:spcPct val="150000"/>
              </a:lnSpc>
            </a:pPr>
            <a:r>
              <a:rPr lang="ru-RU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ru-RU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.AppendAllText</a:t>
            </a:r>
            <a:r>
              <a:rPr lang="ru-RU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"мой файл2.txt"</a:t>
            </a:r>
            <a:r>
              <a:rPr lang="ru-RU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“что то добавили"</a:t>
            </a:r>
            <a:r>
              <a:rPr lang="ru-RU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en-US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.AppendAllLines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файл2.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txt</a:t>
            </a:r>
            <a:r>
              <a:rPr lang="en-US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2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[] {</a:t>
            </a:r>
            <a:r>
              <a:rPr lang="en-US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строка</a:t>
            </a:r>
            <a:r>
              <a:rPr lang="en-US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3"</a:t>
            </a:r>
            <a:r>
              <a:rPr lang="ru-RU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</a:t>
            </a:r>
            <a:r>
              <a:rPr lang="en-US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строка 4</a:t>
            </a:r>
            <a:r>
              <a:rPr lang="ru-RU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  <a:endParaRPr lang="ru-RU" sz="2200" dirty="0"/>
          </a:p>
          <a:p>
            <a:pPr>
              <a:lnSpc>
                <a:spcPct val="150000"/>
              </a:lnSpc>
            </a:pPr>
            <a:r>
              <a:rPr lang="ru-RU" sz="2200" b="1" dirty="0">
                <a:latin typeface="Bookman Old Style" panose="02050604050505020204" pitchFamily="18" charset="0"/>
              </a:rPr>
              <a:t>Чтение </a:t>
            </a:r>
            <a:r>
              <a:rPr lang="ru-RU" sz="2200" dirty="0">
                <a:latin typeface="Bookman Old Style" panose="02050604050505020204" pitchFamily="18" charset="0"/>
              </a:rPr>
              <a:t>данных из файла: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 text = </a:t>
            </a:r>
            <a:r>
              <a:rPr lang="en-US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en-US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.ReadAllText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файл2.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txt"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2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en-US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textLines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en-US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.ReadAllLines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файл2.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txt"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200" dirty="0"/>
          </a:p>
          <a:p>
            <a:pPr>
              <a:lnSpc>
                <a:spcPct val="150000"/>
              </a:lnSpc>
            </a:pPr>
            <a:r>
              <a:rPr lang="ru-RU" sz="2200" b="1" dirty="0">
                <a:latin typeface="Bookman Old Style" panose="02050604050505020204" pitchFamily="18" charset="0"/>
              </a:rPr>
              <a:t>Удаление </a:t>
            </a:r>
            <a:r>
              <a:rPr lang="ru-RU" sz="2200" dirty="0">
                <a:latin typeface="Bookman Old Style" panose="02050604050505020204" pitchFamily="18" charset="0"/>
              </a:rPr>
              <a:t>файла:</a:t>
            </a:r>
          </a:p>
          <a:p>
            <a:pPr algn="just">
              <a:lnSpc>
                <a:spcPct val="150000"/>
              </a:lnSpc>
            </a:pPr>
            <a:r>
              <a:rPr lang="en-US" sz="22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en-US" sz="22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.Delete</a:t>
            </a:r>
            <a:r>
              <a:rPr lang="en-US" sz="22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файл2.</a:t>
            </a:r>
            <a:r>
              <a:rPr lang="en-US" sz="2200" dirty="0">
                <a:solidFill>
                  <a:srgbClr val="A31515"/>
                </a:solidFill>
                <a:latin typeface="Cascadia Mono" panose="020B0609020000020004" pitchFamily="49" charset="0"/>
              </a:rPr>
              <a:t>txt</a:t>
            </a:r>
            <a:r>
              <a:rPr lang="en-US" sz="22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2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175062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Потоковая </a:t>
            </a:r>
            <a:r>
              <a:rPr lang="ru-RU" sz="2400" b="1" dirty="0">
                <a:latin typeface="Bookman Old Style" panose="02050604050505020204" pitchFamily="18" charset="0"/>
              </a:rPr>
              <a:t>запись в файл</a:t>
            </a:r>
            <a:r>
              <a:rPr lang="ru-RU" sz="2400" dirty="0">
                <a:latin typeface="Bookman Old Style" panose="020506040505050202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fs = </a:t>
            </a: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File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.OpenWrite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мой файл2.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txt"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StreamWriter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StreamWriter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(fs);</a:t>
            </a:r>
          </a:p>
          <a:p>
            <a:pPr>
              <a:lnSpc>
                <a:spcPct val="150000"/>
              </a:lnSpc>
            </a:pP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sw.Write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"когда хотим писать на ходу"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sw.Close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закрыли поток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записи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611117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117693"/>
            <a:ext cx="12191999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b="1" i="0" dirty="0">
                <a:effectLst/>
                <a:latin typeface="Bookman Old Style" panose="02050604050505020204" pitchFamily="18" charset="0"/>
              </a:rPr>
              <a:t>Получить путь </a:t>
            </a:r>
            <a:r>
              <a:rPr lang="ru-RU" sz="2400" i="0" dirty="0">
                <a:effectLst/>
                <a:latin typeface="Bookman Old Style" panose="02050604050505020204" pitchFamily="18" charset="0"/>
              </a:rPr>
              <a:t>до текущей папки с программой:</a:t>
            </a:r>
            <a:endParaRPr lang="en-US" sz="2400" i="0" dirty="0">
              <a:effectLst/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Directory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.GetCurrentDirectory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>
              <a:latin typeface="Bookman Old Style" panose="02050604050505020204" pitchFamily="18" charset="0"/>
            </a:endParaRPr>
          </a:p>
          <a:p>
            <a:endParaRPr lang="en-US" sz="2400" b="1" i="0" dirty="0" smtClean="0">
              <a:effectLst/>
              <a:latin typeface="Bookman Old Style" panose="02050604050505020204" pitchFamily="18" charset="0"/>
            </a:endParaRPr>
          </a:p>
          <a:p>
            <a:r>
              <a:rPr lang="ru-RU" sz="2400" b="1" i="0" dirty="0" smtClean="0">
                <a:effectLst/>
                <a:latin typeface="Bookman Old Style" panose="02050604050505020204" pitchFamily="18" charset="0"/>
              </a:rPr>
              <a:t>Создать</a:t>
            </a:r>
            <a:r>
              <a:rPr lang="ru-RU" sz="2400" i="0" dirty="0" smtClean="0">
                <a:effectLst/>
                <a:latin typeface="Bookman Old Style" panose="02050604050505020204" pitchFamily="18" charset="0"/>
              </a:rPr>
              <a:t> </a:t>
            </a:r>
            <a:r>
              <a:rPr lang="ru-RU" sz="2400" i="0" dirty="0">
                <a:effectLst/>
                <a:latin typeface="Bookman Old Style" panose="02050604050505020204" pitchFamily="18" charset="0"/>
              </a:rPr>
              <a:t>папку (и подпапки, если их нет):</a:t>
            </a:r>
            <a:endParaRPr lang="en-US" sz="2400" i="0" dirty="0">
              <a:effectLst/>
              <a:latin typeface="Bookman Old Style" panose="02050604050505020204" pitchFamily="18" charset="0"/>
            </a:endParaRPr>
          </a:p>
          <a:p>
            <a:r>
              <a:rPr lang="ru-RU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Directory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.CreateDirectory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@"G:\папка 1\папка 2\папка 3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en-US" sz="2400" i="0" dirty="0">
              <a:effectLst/>
              <a:latin typeface="Bookman Old Style" panose="02050604050505020204" pitchFamily="18" charset="0"/>
            </a:endParaRPr>
          </a:p>
          <a:p>
            <a:r>
              <a:rPr lang="ru-RU" sz="2400" b="1" dirty="0">
                <a:latin typeface="Bookman Old Style" panose="02050604050505020204" pitchFamily="18" charset="0"/>
              </a:rPr>
              <a:t>Удалить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b="1" dirty="0">
                <a:latin typeface="Bookman Old Style" panose="02050604050505020204" pitchFamily="18" charset="0"/>
              </a:rPr>
              <a:t>пустую</a:t>
            </a:r>
            <a:r>
              <a:rPr lang="ru-RU" sz="2400" dirty="0">
                <a:latin typeface="Bookman Old Style" panose="02050604050505020204" pitchFamily="18" charset="0"/>
              </a:rPr>
              <a:t> папку: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Directory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.Delete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@"G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:\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папка 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1\папка 2\папка 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3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\"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i="0" dirty="0">
              <a:effectLst/>
              <a:latin typeface="Bookman Old Style" panose="02050604050505020204" pitchFamily="18" charset="0"/>
            </a:endParaRPr>
          </a:p>
          <a:p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ru-RU" sz="2400" b="1" dirty="0">
                <a:latin typeface="Bookman Old Style" panose="02050604050505020204" pitchFamily="18" charset="0"/>
              </a:rPr>
              <a:t>Рекурсивное удаление </a:t>
            </a:r>
            <a:r>
              <a:rPr lang="ru-RU" sz="2400" dirty="0">
                <a:latin typeface="Bookman Old Style" panose="02050604050505020204" pitchFamily="18" charset="0"/>
              </a:rPr>
              <a:t>всего содержимого папки и самой папки: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ru-RU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Directory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.Delete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@"G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:\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папка 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1\папка 2\папка 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3\"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true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ru-RU" sz="2400" dirty="0">
                <a:latin typeface="Bookman Old Style" panose="02050604050505020204" pitchFamily="18" charset="0"/>
              </a:rPr>
              <a:t>Получить </a:t>
            </a:r>
            <a:r>
              <a:rPr lang="ru-RU" sz="2400" b="1" dirty="0">
                <a:latin typeface="Bookman Old Style" panose="02050604050505020204" pitchFamily="18" charset="0"/>
              </a:rPr>
              <a:t>массив файлов </a:t>
            </a:r>
            <a:r>
              <a:rPr lang="ru-RU" sz="2400" dirty="0">
                <a:latin typeface="Bookman Old Style" panose="02050604050505020204" pitchFamily="18" charset="0"/>
              </a:rPr>
              <a:t>в папке (имена включая путь):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ru-RU" sz="2400" dirty="0" err="1">
                <a:solidFill>
                  <a:srgbClr val="00B0F0"/>
                </a:solidFill>
                <a:latin typeface="Cascadia Mono" panose="020B0609020000020004" pitchFamily="49" charset="0"/>
              </a:rPr>
              <a:t>Directory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.GetFiles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@"G:\папка 1\папка 2\папка 3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ru-RU" sz="2400" dirty="0">
                <a:latin typeface="Bookman Old Style" panose="02050604050505020204" pitchFamily="18" charset="0"/>
              </a:rPr>
              <a:t>Получить </a:t>
            </a:r>
            <a:r>
              <a:rPr lang="ru-RU" sz="2400" b="1" dirty="0">
                <a:latin typeface="Bookman Old Style" panose="02050604050505020204" pitchFamily="18" charset="0"/>
              </a:rPr>
              <a:t>массив папок </a:t>
            </a:r>
            <a:r>
              <a:rPr lang="ru-RU" sz="2400" dirty="0">
                <a:latin typeface="Bookman Old Style" panose="02050604050505020204" pitchFamily="18" charset="0"/>
              </a:rPr>
              <a:t>в папке (имена включая путь):</a:t>
            </a:r>
          </a:p>
          <a:p>
            <a:r>
              <a:rPr lang="ru-RU" sz="2400" dirty="0" err="1" smtClean="0">
                <a:solidFill>
                  <a:srgbClr val="00B0F0"/>
                </a:solidFill>
                <a:latin typeface="Cascadia Mono" panose="020B0609020000020004" pitchFamily="49" charset="0"/>
              </a:rPr>
              <a:t>Directory</a:t>
            </a:r>
            <a:r>
              <a:rPr lang="ru-RU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.GetDirectories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800000"/>
                </a:solidFill>
                <a:latin typeface="Cascadia Mono" panose="020B0609020000020004" pitchFamily="49" charset="0"/>
              </a:rPr>
              <a:t>@"G:\папка 1\папка 2\папка 3</a:t>
            </a:r>
            <a:r>
              <a:rPr lang="ru-RU" sz="2400" dirty="0" smtClean="0">
                <a:solidFill>
                  <a:srgbClr val="800000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/>
          </a:p>
        </p:txBody>
      </p:sp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976839"/>
            <a:ext cx="11341100" cy="62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804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Поиск всех папок </a:t>
            </a:r>
            <a:r>
              <a:rPr lang="ru-RU" sz="2400" dirty="0">
                <a:latin typeface="Bookman Old Style" panose="02050604050505020204" pitchFamily="18" charset="0"/>
              </a:rPr>
              <a:t>внутри папки</a:t>
            </a:r>
            <a:r>
              <a:rPr lang="ru-RU" sz="2400" b="1" dirty="0">
                <a:latin typeface="Bookman Old Style" panose="02050604050505020204" pitchFamily="18" charset="0"/>
              </a:rPr>
              <a:t> (поиск в ширину</a:t>
            </a:r>
            <a:r>
              <a:rPr lang="ru-RU" sz="2400" b="1" dirty="0" smtClean="0">
                <a:latin typeface="Bookman Old Style" panose="02050604050505020204" pitchFamily="18" charset="0"/>
              </a:rPr>
              <a:t>):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Directory.GetCurrentDirectory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visited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)&gt;();</a:t>
            </a:r>
          </a:p>
          <a:p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queue =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Queue&lt;(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)&gt;();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queue.Enqueue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((root, 0));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while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&gt; 0)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currentPath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distance)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queue.Dequeue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visited.Add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currentPath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distance));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subDirectories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Directory.GetDirectories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currentPath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subDirectory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subDirectories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queue.Enqueue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subDirectory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distance + 1));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(path, distance)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visited)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{path}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удаленность: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distance}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папок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4" name="Прямоугольник 3"/>
          <p:cNvSpPr/>
          <p:nvPr/>
        </p:nvSpPr>
        <p:spPr>
          <a:xfrm>
            <a:off x="156526" y="694200"/>
            <a:ext cx="1203547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663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b="1" dirty="0" smtClean="0">
                <a:latin typeface="Bookman Old Style" panose="02050604050505020204" pitchFamily="18" charset="0"/>
              </a:rPr>
              <a:t>Пример: </a:t>
            </a:r>
            <a:r>
              <a:rPr lang="ru-RU" sz="2400" b="1" dirty="0">
                <a:latin typeface="Bookman Old Style" panose="02050604050505020204" pitchFamily="18" charset="0"/>
              </a:rPr>
              <a:t>Подсчет символов в </a:t>
            </a:r>
            <a:r>
              <a:rPr lang="ru-RU" sz="2400" b="1" dirty="0" smtClean="0">
                <a:latin typeface="Bookman Old Style" panose="02050604050505020204" pitchFamily="18" charset="0"/>
              </a:rPr>
              <a:t>строке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System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Collections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Generic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Введите строку: "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ReadLine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();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Dictionary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charCount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Dictionary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&gt;();</a:t>
            </a:r>
          </a:p>
          <a:p>
            <a:r>
              <a:rPr lang="en-US" sz="2400" dirty="0" err="1" smtClean="0">
                <a:solidFill>
                  <a:srgbClr val="AF00DB"/>
                </a:solidFill>
                <a:latin typeface="Consolas" panose="020B0609020204030204" pitchFamily="49" charset="0"/>
              </a:rPr>
              <a:t>foreach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charCount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ContainsKey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charCount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charCount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Частота символов:"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AF00DB"/>
                </a:solidFill>
                <a:latin typeface="Consolas" panose="020B06090202040302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charCount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$"'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Key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':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4" name="Прямоугольник 3"/>
          <p:cNvSpPr/>
          <p:nvPr/>
        </p:nvSpPr>
        <p:spPr>
          <a:xfrm>
            <a:off x="156526" y="694200"/>
            <a:ext cx="1203547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532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99DF0FE0-DB9D-4180-8370-CD26FB46DF57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 lIns="360000" rIns="360000">
            <a:spAutoFit/>
          </a:bodyPr>
          <a:lstStyle/>
          <a:p>
            <a:r>
              <a:rPr lang="ru-RU" sz="2400" b="1" dirty="0">
                <a:latin typeface="Bookman Old Style" panose="02050604050505020204" pitchFamily="18" charset="0"/>
              </a:rPr>
              <a:t>Пример: Анализ текстового </a:t>
            </a:r>
            <a:r>
              <a:rPr lang="ru-RU" sz="2400" b="1" dirty="0" smtClean="0">
                <a:latin typeface="Bookman Old Style" panose="02050604050505020204" pitchFamily="18" charset="0"/>
              </a:rPr>
              <a:t>файла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Write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Введите путь к текстовому файлу: "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filePath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ReadLine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Exists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filePath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Файл не найден."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ReadAllText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filePath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words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Split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[]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\n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\r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\t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												 </a:t>
            </a:r>
            <a:r>
              <a:rPr lang="en-US" sz="24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StringSplitOptions</a:t>
            </a:r>
            <a:r>
              <a:rPr lang="en-US" sz="24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RemoveEmptyEntries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lineCount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ReadAllLines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filePath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Length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HashSet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uniqueWords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HashSet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&gt;(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words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Количество строк: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lineCount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Количество слов: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words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Length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WriteLine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Количество уникальных слов: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uniqueWords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Count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7" name="Rectangle 26"/>
          <p:cNvSpPr>
            <a:spLocks noChangeArrowheads="1"/>
          </p:cNvSpPr>
          <p:nvPr/>
        </p:nvSpPr>
        <p:spPr bwMode="auto">
          <a:xfrm>
            <a:off x="6147240" y="1887472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sp>
        <p:nvSpPr>
          <p:cNvPr id="4" name="Прямоугольник 3"/>
          <p:cNvSpPr/>
          <p:nvPr/>
        </p:nvSpPr>
        <p:spPr>
          <a:xfrm>
            <a:off x="156526" y="694200"/>
            <a:ext cx="1203547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250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14965</TotalTime>
  <Words>2237</Words>
  <Application>Microsoft Office PowerPoint</Application>
  <PresentationFormat>Широкоэкранный</PresentationFormat>
  <Paragraphs>465</Paragraphs>
  <Slides>40</Slides>
  <Notes>40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8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2 семестр Лекция 7.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802</cp:revision>
  <dcterms:modified xsi:type="dcterms:W3CDTF">2026-02-10T17:55:19Z</dcterms:modified>
</cp:coreProperties>
</file>