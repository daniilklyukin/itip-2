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44"/>
  </p:notesMasterIdLst>
  <p:sldIdLst>
    <p:sldId id="273" r:id="rId2"/>
    <p:sldId id="1107" r:id="rId3"/>
    <p:sldId id="1108" r:id="rId4"/>
    <p:sldId id="1109" r:id="rId5"/>
    <p:sldId id="1113" r:id="rId6"/>
    <p:sldId id="1112" r:id="rId7"/>
    <p:sldId id="1114" r:id="rId8"/>
    <p:sldId id="1115" r:id="rId9"/>
    <p:sldId id="1142" r:id="rId10"/>
    <p:sldId id="1122" r:id="rId11"/>
    <p:sldId id="1123" r:id="rId12"/>
    <p:sldId id="1124" r:id="rId13"/>
    <p:sldId id="1125" r:id="rId14"/>
    <p:sldId id="1126" r:id="rId15"/>
    <p:sldId id="1127" r:id="rId16"/>
    <p:sldId id="1128" r:id="rId17"/>
    <p:sldId id="1129" r:id="rId18"/>
    <p:sldId id="1130" r:id="rId19"/>
    <p:sldId id="1131" r:id="rId20"/>
    <p:sldId id="1132" r:id="rId21"/>
    <p:sldId id="1133" r:id="rId22"/>
    <p:sldId id="1134" r:id="rId23"/>
    <p:sldId id="1135" r:id="rId24"/>
    <p:sldId id="1136" r:id="rId25"/>
    <p:sldId id="1143" r:id="rId26"/>
    <p:sldId id="1144" r:id="rId27"/>
    <p:sldId id="1145" r:id="rId28"/>
    <p:sldId id="1146" r:id="rId29"/>
    <p:sldId id="1147" r:id="rId30"/>
    <p:sldId id="1148" r:id="rId31"/>
    <p:sldId id="1157" r:id="rId32"/>
    <p:sldId id="1158" r:id="rId33"/>
    <p:sldId id="1159" r:id="rId34"/>
    <p:sldId id="1160" r:id="rId35"/>
    <p:sldId id="1149" r:id="rId36"/>
    <p:sldId id="1150" r:id="rId37"/>
    <p:sldId id="1151" r:id="rId38"/>
    <p:sldId id="1152" r:id="rId39"/>
    <p:sldId id="1153" r:id="rId40"/>
    <p:sldId id="1154" r:id="rId41"/>
    <p:sldId id="1155" r:id="rId42"/>
    <p:sldId id="1156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2929"/>
    <a:srgbClr val="BFEFC9"/>
    <a:srgbClr val="5A5A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55" autoAdjust="0"/>
    <p:restoredTop sz="82523" autoAdjust="0"/>
  </p:normalViewPr>
  <p:slideViewPr>
    <p:cSldViewPr snapToGrid="0">
      <p:cViewPr varScale="1">
        <p:scale>
          <a:sx n="131" d="100"/>
          <a:sy n="131" d="100"/>
        </p:scale>
        <p:origin x="942" y="11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F9473-F066-431E-A6E8-1D478C995A6B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4E2F1-1521-4C3A-A563-2F7D19AB6E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975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481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222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7497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406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016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0408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6907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276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3071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9025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5625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8987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192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8871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4833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4056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8453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5219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3725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7715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3605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941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9162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0133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6438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7966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78502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226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132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59755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23379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4215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0138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49674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42956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16459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355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48017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29468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92607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9846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751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5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736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5897"/>
            <a:ext cx="12192000" cy="949324"/>
          </a:xfrm>
        </p:spPr>
        <p:txBody>
          <a:bodyPr/>
          <a:lstStyle>
            <a:lvl1pPr algn="ctr">
              <a:defRPr sz="27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5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214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5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892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86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0" y="983347"/>
            <a:ext cx="12192000" cy="1569658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indent="254000" algn="ctr">
              <a:spcBef>
                <a:spcPct val="20000"/>
              </a:spcBef>
            </a:pPr>
            <a:r>
              <a:rPr lang="ru-RU" sz="4800" b="1" dirty="0">
                <a:solidFill>
                  <a:schemeClr val="accent1">
                    <a:lumMod val="50000"/>
                  </a:schemeClr>
                </a:solidFill>
                <a:latin typeface="Bookman Old Style" pitchFamily="18" charset="0"/>
              </a:rPr>
              <a:t>Информационные технологии</a:t>
            </a:r>
            <a:br>
              <a:rPr lang="ru-RU" sz="4800" b="1" dirty="0">
                <a:solidFill>
                  <a:schemeClr val="accent1">
                    <a:lumMod val="50000"/>
                  </a:schemeClr>
                </a:solidFill>
                <a:latin typeface="Bookman Old Style" pitchFamily="18" charset="0"/>
              </a:rPr>
            </a:br>
            <a:r>
              <a:rPr lang="ru-RU" sz="4800" b="1" dirty="0">
                <a:solidFill>
                  <a:schemeClr val="accent1">
                    <a:lumMod val="50000"/>
                  </a:schemeClr>
                </a:solidFill>
                <a:latin typeface="Bookman Old Style" pitchFamily="18" charset="0"/>
              </a:rPr>
              <a:t>и программирование</a:t>
            </a:r>
            <a:endParaRPr lang="ru-RU" altLang="ru-RU" sz="4800" b="1" dirty="0">
              <a:solidFill>
                <a:schemeClr val="accent1">
                  <a:lumMod val="50000"/>
                </a:schemeClr>
              </a:solidFill>
              <a:latin typeface="Bookman Old Style" pitchFamily="18" charset="0"/>
            </a:endParaRPr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D630362D-1F09-46B4-9DE4-AEA483AC82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160" y="2553005"/>
            <a:ext cx="8978016" cy="1713020"/>
          </a:xfrm>
        </p:spPr>
        <p:txBody>
          <a:bodyPr>
            <a:noAutofit/>
          </a:bodyPr>
          <a:lstStyle/>
          <a:p>
            <a:pPr algn="l"/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2 </a:t>
            </a: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семестр</a:t>
            </a:r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/>
            </a:r>
            <a:br>
              <a:rPr lang="en-US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Лекция </a:t>
            </a: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3</a:t>
            </a: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.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/>
            </a:r>
            <a:b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/>
            </a:r>
            <a:b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Содержание лекции:</a:t>
            </a:r>
            <a:endParaRPr lang="ru-RU" sz="2800" dirty="0">
              <a:latin typeface="Bookman Old Style" panose="02050604050505020204" pitchFamily="18" charset="0"/>
            </a:endParaRPr>
          </a:p>
        </p:txBody>
      </p:sp>
      <p:sp>
        <p:nvSpPr>
          <p:cNvPr id="10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6336807"/>
            <a:ext cx="12192000" cy="521193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9050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indent="723900" algn="just"/>
            <a:r>
              <a:rPr lang="ru-RU" b="1" dirty="0">
                <a:solidFill>
                  <a:srgbClr val="292929"/>
                </a:solidFill>
                <a:latin typeface="Bookman Old Style" pitchFamily="18" charset="0"/>
              </a:rPr>
              <a:t>Преподаватель курса: Клюкин Даниил Анатольевич, ст. преподаватель каф. </a:t>
            </a:r>
            <a:r>
              <a:rPr lang="ru-RU" b="1">
                <a:solidFill>
                  <a:srgbClr val="292929"/>
                </a:solidFill>
                <a:latin typeface="Bookman Old Style" pitchFamily="18" charset="0"/>
              </a:rPr>
              <a:t>ПМиИТ</a:t>
            </a:r>
            <a:endParaRPr lang="ru-RU" b="1" dirty="0">
              <a:solidFill>
                <a:srgbClr val="292929"/>
              </a:solidFill>
              <a:latin typeface="Bookman Old Style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B00361-5492-4290-B470-295172C16526}"/>
              </a:ext>
            </a:extLst>
          </p:cNvPr>
          <p:cNvSpPr txBox="1"/>
          <p:nvPr/>
        </p:nvSpPr>
        <p:spPr>
          <a:xfrm>
            <a:off x="511160" y="4266025"/>
            <a:ext cx="1168084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Наследование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Система типов и Приведение (</a:t>
            </a:r>
            <a:r>
              <a:rPr lang="ru-RU" sz="2800" dirty="0" err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Casting</a:t>
            </a:r>
            <a:r>
              <a:rPr lang="ru-RU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Полиморфизм </a:t>
            </a:r>
            <a:r>
              <a:rPr lang="ru-RU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подтипов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Абстрактные классы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654356"/>
            <a:ext cx="12192000" cy="2799036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Наследование</a:t>
            </a:r>
            <a:r>
              <a:rPr lang="ru-RU" sz="2400" dirty="0" smtClean="0">
                <a:latin typeface="Bookman Old Style" panose="02050604050505020204" pitchFamily="18" charset="0"/>
              </a:rPr>
              <a:t> —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создание нового класса </a:t>
            </a:r>
            <a:r>
              <a:rPr lang="ru-RU" sz="2400" b="1" dirty="0">
                <a:latin typeface="Bookman Old Style" panose="02050604050505020204" pitchFamily="18" charset="0"/>
              </a:rPr>
              <a:t>на основе уже существующего</a:t>
            </a:r>
            <a:r>
              <a:rPr lang="ru-RU" sz="2400" dirty="0">
                <a:latin typeface="Bookman Old Style" panose="02050604050505020204" pitchFamily="18" charset="0"/>
              </a:rPr>
              <a:t> с частично или полностью заимствованной функциональностью. Класс, от которого производится наследование, называется </a:t>
            </a:r>
            <a:r>
              <a:rPr lang="ru-RU" sz="2400" b="1" dirty="0" smtClean="0">
                <a:latin typeface="Bookman Old Style" panose="02050604050505020204" pitchFamily="18" charset="0"/>
              </a:rPr>
              <a:t>базовым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или </a:t>
            </a:r>
            <a:r>
              <a:rPr lang="ru-RU" sz="2400" b="1" dirty="0" smtClean="0">
                <a:latin typeface="Bookman Old Style" panose="02050604050505020204" pitchFamily="18" charset="0"/>
              </a:rPr>
              <a:t>родительским</a:t>
            </a:r>
            <a:r>
              <a:rPr lang="ru-RU" sz="2400" dirty="0" smtClean="0">
                <a:latin typeface="Bookman Old Style" panose="02050604050505020204" pitchFamily="18" charset="0"/>
              </a:rPr>
              <a:t>. </a:t>
            </a:r>
            <a:r>
              <a:rPr lang="ru-RU" sz="2400" dirty="0">
                <a:latin typeface="Bookman Old Style" panose="02050604050505020204" pitchFamily="18" charset="0"/>
              </a:rPr>
              <a:t>Новый класс — </a:t>
            </a:r>
            <a:r>
              <a:rPr lang="ru-RU" sz="2400" b="1" dirty="0">
                <a:latin typeface="Bookman Old Style" panose="02050604050505020204" pitchFamily="18" charset="0"/>
              </a:rPr>
              <a:t>потомком, наследником, дочерним</a:t>
            </a:r>
            <a:r>
              <a:rPr lang="ru-RU" sz="2400" dirty="0">
                <a:latin typeface="Bookman Old Style" panose="02050604050505020204" pitchFamily="18" charset="0"/>
              </a:rPr>
              <a:t> или </a:t>
            </a:r>
            <a:r>
              <a:rPr lang="ru-RU" sz="2400" b="1" dirty="0">
                <a:latin typeface="Bookman Old Style" panose="02050604050505020204" pitchFamily="18" charset="0"/>
              </a:rPr>
              <a:t>производным</a:t>
            </a:r>
            <a:r>
              <a:rPr lang="ru-RU" sz="2400" dirty="0">
                <a:latin typeface="Bookman Old Style" panose="02050604050505020204" pitchFamily="18" charset="0"/>
              </a:rPr>
              <a:t> классом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en-US" sz="2400" dirty="0" smtClean="0">
              <a:latin typeface="Bookman Old Style" panose="02050604050505020204" pitchFamily="18" charset="0"/>
            </a:endParaRPr>
          </a:p>
        </p:txBody>
      </p:sp>
      <p:sp>
        <p:nvSpPr>
          <p:cNvPr id="9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Наследование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61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400" dirty="0" smtClean="0">
                <a:latin typeface="Bookman Old Style" panose="02050604050505020204" pitchFamily="18" charset="0"/>
              </a:rPr>
              <a:t>Создадим экземпляры наших классов:</a:t>
            </a:r>
          </a:p>
          <a:p>
            <a:endParaRPr lang="en-US" sz="2400" dirty="0" smtClean="0">
              <a:latin typeface="Bookman Old Style" panose="02050604050505020204" pitchFamily="18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bob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Name =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"Bob"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};</a:t>
            </a:r>
          </a:p>
          <a:p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bill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Name =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"Bill"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Salary = 5000 };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bob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SayHi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bill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SayHi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Name;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SayHi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=&gt;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WriteLine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"Hi"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Employee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Наследуемся от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Salary;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74625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p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Person(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"Bob"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e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Employee(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"Bill"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5000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Person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Name;</a:t>
            </a:r>
            <a:endParaRPr lang="ru-RU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name)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Name = name;</a:t>
            </a:r>
          </a:p>
          <a:p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Employee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en-US" sz="2400" dirty="0" smtClean="0">
                <a:solidFill>
                  <a:srgbClr val="2B91AF"/>
                </a:solidFill>
                <a:latin typeface="Cascadia Mono" panose="020B0609020000020004" pitchFamily="49" charset="0"/>
              </a:rPr>
              <a:t>Person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Employee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name,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salary) :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base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(name)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Salary = salary;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Salary;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  <p:cxnSp>
        <p:nvCxnSpPr>
          <p:cNvPr id="3" name="Прямая со стрелкой 2"/>
          <p:cNvCxnSpPr/>
          <p:nvPr/>
        </p:nvCxnSpPr>
        <p:spPr>
          <a:xfrm flipH="1">
            <a:off x="9473184" y="3970318"/>
            <a:ext cx="4645" cy="45537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рямоугольник 1"/>
          <p:cNvSpPr/>
          <p:nvPr/>
        </p:nvSpPr>
        <p:spPr>
          <a:xfrm>
            <a:off x="6749143" y="0"/>
            <a:ext cx="544285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Ключевое слово </a:t>
            </a:r>
            <a:r>
              <a:rPr lang="ru-RU" sz="2400" b="1" dirty="0" err="1">
                <a:latin typeface="Bookman Old Style" panose="02050604050505020204" pitchFamily="18" charset="0"/>
              </a:rPr>
              <a:t>base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используется </a:t>
            </a:r>
            <a:r>
              <a:rPr lang="ru-RU" sz="2400" dirty="0">
                <a:latin typeface="Bookman Old Style" panose="02050604050505020204" pitchFamily="18" charset="0"/>
              </a:rPr>
              <a:t>в производных классах для доступа к членам (методам, свойствам) базового класса, а также для вызова конструкторов родительского класса.</a:t>
            </a:r>
          </a:p>
        </p:txBody>
      </p:sp>
    </p:spTree>
    <p:extLst>
      <p:ext uri="{BB962C8B-B14F-4D97-AF65-F5344CB8AC3E}">
        <p14:creationId xmlns:p14="http://schemas.microsoft.com/office/powerpoint/2010/main" val="2887676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79268"/>
            <a:ext cx="12192000" cy="6297108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ru-RU" sz="2400" b="1" dirty="0" err="1" smtClean="0">
                <a:latin typeface="Bookman Old Style" panose="02050604050505020204" pitchFamily="18" charset="0"/>
              </a:rPr>
              <a:t>protected</a:t>
            </a:r>
            <a:r>
              <a:rPr lang="ru-RU" sz="2400" dirty="0" smtClean="0">
                <a:latin typeface="Bookman Old Style" panose="02050604050505020204" pitchFamily="18" charset="0"/>
              </a:rPr>
              <a:t>: такой компонент класса доступен из любого места в своем классе или в производных классах.</a:t>
            </a:r>
            <a:endParaRPr lang="en-US" sz="2400" b="1" dirty="0"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BankAccount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protected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Balance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BankAccount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initial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=&gt; Balance = 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initial;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SavingsAccount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BankAccount</a:t>
            </a:r>
            <a:endParaRPr lang="en-US" sz="2400" dirty="0">
              <a:solidFill>
                <a:srgbClr val="2B91A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SavingsAccount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amount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base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(amount) { 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AddInterest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decimal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rate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Доступ к </a:t>
            </a:r>
            <a:r>
              <a:rPr lang="ru-RU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Balance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разрешен, так как это наследник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Balance += Balance * rate;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sp>
        <p:nvSpPr>
          <p:cNvPr id="3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Модификатор доступа </a:t>
            </a:r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protected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799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654356"/>
            <a:ext cx="12192000" cy="581697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Чтобы </a:t>
            </a:r>
            <a:r>
              <a:rPr lang="ru-RU" sz="2400" dirty="0">
                <a:latin typeface="Bookman Old Style" panose="02050604050505020204" pitchFamily="18" charset="0"/>
              </a:rPr>
              <a:t>указать, что от класса нельзя наследоваться необходимо записать спец. слово </a:t>
            </a:r>
            <a:r>
              <a:rPr lang="en-US" sz="2400" b="1" dirty="0">
                <a:latin typeface="Bookman Old Style" panose="02050604050505020204" pitchFamily="18" charset="0"/>
              </a:rPr>
              <a:t>sealed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r>
              <a:rPr lang="ru-RU" sz="2400" dirty="0">
                <a:latin typeface="Bookman Old Style" panose="02050604050505020204" pitchFamily="18" charset="0"/>
              </a:rPr>
              <a:t>перед </a:t>
            </a:r>
            <a:r>
              <a:rPr lang="en-US" sz="2400" b="1" dirty="0">
                <a:latin typeface="Bookman Old Style" panose="02050604050505020204" pitchFamily="18" charset="0"/>
              </a:rPr>
              <a:t>class</a:t>
            </a:r>
            <a:r>
              <a:rPr lang="ru-RU" sz="2400" dirty="0">
                <a:latin typeface="Bookman Old Style" panose="02050604050505020204" pitchFamily="18" charset="0"/>
              </a:rPr>
              <a:t>. Следует запрещать наследоваться </a:t>
            </a:r>
            <a:r>
              <a:rPr lang="ru-RU" sz="2400" b="1" dirty="0">
                <a:latin typeface="Bookman Old Style" panose="02050604050505020204" pitchFamily="18" charset="0"/>
              </a:rPr>
              <a:t>всегда</a:t>
            </a:r>
            <a:r>
              <a:rPr lang="ru-RU" sz="2400" dirty="0">
                <a:latin typeface="Bookman Old Style" panose="02050604050505020204" pitchFamily="18" charset="0"/>
              </a:rPr>
              <a:t>, когда класс не предусматривает, что от него будут наследоваться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sealed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Person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Name;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name)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Name = name;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SayHi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 =&gt;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"Hi!"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  <p:sp>
        <p:nvSpPr>
          <p:cNvPr id="3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Запрет наследования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892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Тип </a:t>
            </a:r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object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654356"/>
            <a:ext cx="12192000" cy="581697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err="1" smtClean="0">
                <a:solidFill>
                  <a:srgbClr val="000000"/>
                </a:solidFill>
                <a:latin typeface="Bookman Old Style" panose="02050604050505020204" pitchFamily="18" charset="0"/>
              </a:rPr>
              <a:t>Object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 является 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исходным базовым классом для всех классов .NET и корнем иерархии типов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.</a:t>
            </a:r>
            <a:r>
              <a:rPr lang="en-US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Поэтому все типы и классы могут реализовать те методы, которые определены в классе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System.Object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Метод</a:t>
            </a:r>
            <a:r>
              <a:rPr lang="ru-RU" sz="2400" b="1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latin typeface="Bookman Old Style" panose="02050604050505020204" pitchFamily="18" charset="0"/>
              </a:rPr>
              <a:t>ToString</a:t>
            </a:r>
            <a:r>
              <a:rPr lang="en-US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служит 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для получения строкового представления данного объекта. Для базовых типов просто будет выводиться их строковое значение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:</a:t>
            </a:r>
          </a:p>
          <a:p>
            <a:pPr algn="just">
              <a:lnSpc>
                <a:spcPct val="150000"/>
              </a:lnSpc>
            </a:pPr>
            <a:endParaRPr lang="ru-RU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5;</a:t>
            </a:r>
          </a:p>
          <a:p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i.ToString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());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выведет число 5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 = 3.5;</a:t>
            </a:r>
          </a:p>
          <a:p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d.ToString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());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выведет число 3,5</a:t>
            </a: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346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526297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Для классов же этот метод выводит полное название класса с указанием пространства имен, в котором определен этот 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класс. 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Посмотрим на примере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:</a:t>
            </a:r>
          </a:p>
          <a:p>
            <a:pPr algn="just">
              <a:lnSpc>
                <a:spcPct val="150000"/>
              </a:lnSpc>
            </a:pPr>
            <a:endParaRPr lang="ru-RU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Name =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"Tom"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};</a:t>
            </a:r>
          </a:p>
          <a:p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person.ToString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()); </a:t>
            </a:r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выведет название класса </a:t>
            </a:r>
            <a:r>
              <a:rPr lang="en-US" sz="24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Person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Name {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 =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4330" y="2985304"/>
            <a:ext cx="1533739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541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GetType</a:t>
            </a:r>
            <a:r>
              <a:rPr lang="ru-RU" sz="2400" b="1" dirty="0" smtClean="0">
                <a:latin typeface="Bookman Old Style" panose="02050604050505020204" pitchFamily="18" charset="0"/>
              </a:rPr>
              <a:t>()</a:t>
            </a:r>
            <a:r>
              <a:rPr lang="en-US" sz="2400" b="1" dirty="0" smtClean="0">
                <a:latin typeface="Bookman Old Style" panose="02050604050505020204" pitchFamily="18" charset="0"/>
              </a:rPr>
              <a:t> – </a:t>
            </a:r>
            <a:r>
              <a:rPr lang="ru-RU" sz="2400" dirty="0" smtClean="0">
                <a:latin typeface="Bookman Old Style" panose="02050604050505020204" pitchFamily="18" charset="0"/>
              </a:rPr>
              <a:t>возвращает </a:t>
            </a:r>
            <a:r>
              <a:rPr lang="ru-RU" sz="2400" dirty="0">
                <a:latin typeface="Bookman Old Style" panose="02050604050505020204" pitchFamily="18" charset="0"/>
              </a:rPr>
              <a:t>тип объекта во время выполнения (используется в рефлексии</a:t>
            </a:r>
            <a:r>
              <a:rPr lang="ru-RU" sz="2400" dirty="0" smtClean="0">
                <a:latin typeface="Bookman Old Style" panose="02050604050505020204" pitchFamily="18" charset="0"/>
              </a:rPr>
              <a:t>).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Equals</a:t>
            </a:r>
            <a:r>
              <a:rPr lang="ru-RU" sz="2400" b="1" dirty="0">
                <a:latin typeface="Bookman Old Style" panose="02050604050505020204" pitchFamily="18" charset="0"/>
              </a:rPr>
              <a:t>(</a:t>
            </a:r>
            <a:r>
              <a:rPr lang="ru-RU" sz="2400" b="1" dirty="0" err="1">
                <a:latin typeface="Bookman Old Style" panose="02050604050505020204" pitchFamily="18" charset="0"/>
              </a:rPr>
              <a:t>object</a:t>
            </a:r>
            <a:r>
              <a:rPr lang="ru-RU" sz="2400" b="1" dirty="0">
                <a:latin typeface="Bookman Old Style" panose="02050604050505020204" pitchFamily="18" charset="0"/>
              </a:rPr>
              <a:t> </a:t>
            </a:r>
            <a:r>
              <a:rPr lang="ru-RU" sz="2400" b="1" dirty="0" err="1" smtClean="0">
                <a:latin typeface="Bookman Old Style" panose="02050604050505020204" pitchFamily="18" charset="0"/>
              </a:rPr>
              <a:t>obj</a:t>
            </a:r>
            <a:r>
              <a:rPr lang="ru-RU" sz="2400" b="1" dirty="0" smtClean="0">
                <a:latin typeface="Bookman Old Style" panose="02050604050505020204" pitchFamily="18" charset="0"/>
              </a:rPr>
              <a:t>)</a:t>
            </a:r>
            <a:r>
              <a:rPr lang="en-US" sz="2400" b="1" dirty="0">
                <a:latin typeface="Bookman Old Style" panose="02050604050505020204" pitchFamily="18" charset="0"/>
              </a:rPr>
              <a:t> – </a:t>
            </a:r>
            <a:r>
              <a:rPr lang="ru-RU" sz="2400" dirty="0" smtClean="0">
                <a:latin typeface="Bookman Old Style" panose="02050604050505020204" pitchFamily="18" charset="0"/>
              </a:rPr>
              <a:t>проверяет </a:t>
            </a:r>
            <a:r>
              <a:rPr lang="ru-RU" sz="2400" dirty="0">
                <a:latin typeface="Bookman Old Style" panose="02050604050505020204" pitchFamily="18" charset="0"/>
              </a:rPr>
              <a:t>объекты на равенство. Для ссылочных типов по умолчанию сравнивает </a:t>
            </a:r>
            <a:r>
              <a:rPr lang="ru-RU" sz="2400" b="1" dirty="0">
                <a:latin typeface="Bookman Old Style" panose="02050604050505020204" pitchFamily="18" charset="0"/>
              </a:rPr>
              <a:t>адреса в памяти</a:t>
            </a:r>
            <a:r>
              <a:rPr lang="ru-RU" sz="2400" dirty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GetHashCode</a:t>
            </a:r>
            <a:r>
              <a:rPr lang="ru-RU" sz="2400" b="1" dirty="0" smtClean="0">
                <a:latin typeface="Bookman Old Style" panose="02050604050505020204" pitchFamily="18" charset="0"/>
              </a:rPr>
              <a:t>()</a:t>
            </a:r>
            <a:r>
              <a:rPr lang="en-US" sz="2400" b="1" dirty="0" smtClean="0">
                <a:latin typeface="Bookman Old Style" panose="02050604050505020204" pitchFamily="18" charset="0"/>
              </a:rPr>
              <a:t> </a:t>
            </a:r>
            <a:r>
              <a:rPr lang="en-US" sz="2400" b="1" dirty="0">
                <a:latin typeface="Bookman Old Style" panose="02050604050505020204" pitchFamily="18" charset="0"/>
              </a:rPr>
              <a:t>– </a:t>
            </a:r>
            <a:r>
              <a:rPr lang="ru-RU" sz="2400" dirty="0" smtClean="0">
                <a:latin typeface="Bookman Old Style" panose="02050604050505020204" pitchFamily="18" charset="0"/>
              </a:rPr>
              <a:t>возвращает </a:t>
            </a:r>
            <a:r>
              <a:rPr lang="ru-RU" sz="2400" dirty="0">
                <a:latin typeface="Bookman Old Style" panose="02050604050505020204" pitchFamily="18" charset="0"/>
              </a:rPr>
              <a:t>числовой хэш-код объекта. Необходим для работы коллекций типа </a:t>
            </a:r>
            <a:r>
              <a:rPr lang="ru-RU" sz="2400" dirty="0" err="1">
                <a:latin typeface="Bookman Old Style" panose="02050604050505020204" pitchFamily="18" charset="0"/>
              </a:rPr>
              <a:t>Dictionary</a:t>
            </a:r>
            <a:r>
              <a:rPr lang="ru-RU" sz="2400" dirty="0">
                <a:latin typeface="Bookman Old Style" panose="02050604050505020204" pitchFamily="18" charset="0"/>
              </a:rPr>
              <a:t> или </a:t>
            </a:r>
            <a:r>
              <a:rPr lang="ru-RU" sz="2400" dirty="0" err="1">
                <a:latin typeface="Bookman Old Style" panose="02050604050505020204" pitchFamily="18" charset="0"/>
              </a:rPr>
              <a:t>HashSet</a:t>
            </a:r>
            <a:r>
              <a:rPr lang="ru-RU" sz="2400" dirty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MemberwiseClone</a:t>
            </a:r>
            <a:r>
              <a:rPr lang="ru-RU" sz="2400" b="1" dirty="0" smtClean="0">
                <a:latin typeface="Bookman Old Style" panose="02050604050505020204" pitchFamily="18" charset="0"/>
              </a:rPr>
              <a:t>()</a:t>
            </a:r>
            <a:r>
              <a:rPr lang="en-US" sz="2400" b="1" dirty="0" smtClean="0">
                <a:latin typeface="Bookman Old Style" panose="02050604050505020204" pitchFamily="18" charset="0"/>
              </a:rPr>
              <a:t> </a:t>
            </a:r>
            <a:r>
              <a:rPr lang="en-US" sz="2400" b="1" dirty="0">
                <a:latin typeface="Bookman Old Style" panose="02050604050505020204" pitchFamily="18" charset="0"/>
              </a:rPr>
              <a:t>– </a:t>
            </a:r>
            <a:r>
              <a:rPr lang="ru-RU" sz="2400" dirty="0" smtClean="0">
                <a:latin typeface="Bookman Old Style" panose="02050604050505020204" pitchFamily="18" charset="0"/>
              </a:rPr>
              <a:t>создает </a:t>
            </a:r>
            <a:r>
              <a:rPr lang="ru-RU" sz="2400" dirty="0">
                <a:latin typeface="Bookman Old Style" panose="02050604050505020204" pitchFamily="18" charset="0"/>
              </a:rPr>
              <a:t>поверхностную (</a:t>
            </a:r>
            <a:r>
              <a:rPr lang="ru-RU" sz="2400" dirty="0" err="1">
                <a:latin typeface="Bookman Old Style" panose="02050604050505020204" pitchFamily="18" charset="0"/>
              </a:rPr>
              <a:t>shallow</a:t>
            </a:r>
            <a:r>
              <a:rPr lang="ru-RU" sz="2400" dirty="0">
                <a:latin typeface="Bookman Old Style" panose="02050604050505020204" pitchFamily="18" charset="0"/>
              </a:rPr>
              <a:t>) копию объекта (</a:t>
            </a:r>
            <a:r>
              <a:rPr lang="ru-RU" sz="2400" dirty="0" err="1">
                <a:latin typeface="Bookman Old Style" panose="02050604050505020204" pitchFamily="18" charset="0"/>
              </a:rPr>
              <a:t>protected</a:t>
            </a:r>
            <a:r>
              <a:rPr lang="ru-RU" sz="2400" dirty="0">
                <a:latin typeface="Bookman Old Style" panose="02050604050505020204" pitchFamily="18" charset="0"/>
              </a:rPr>
              <a:t>).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Finalize</a:t>
            </a:r>
            <a:r>
              <a:rPr lang="ru-RU" sz="2400" b="1" dirty="0" smtClean="0">
                <a:latin typeface="Bookman Old Style" panose="02050604050505020204" pitchFamily="18" charset="0"/>
              </a:rPr>
              <a:t>()</a:t>
            </a:r>
            <a:r>
              <a:rPr lang="en-US" sz="2400" b="1" dirty="0" smtClean="0">
                <a:latin typeface="Bookman Old Style" panose="02050604050505020204" pitchFamily="18" charset="0"/>
              </a:rPr>
              <a:t> </a:t>
            </a:r>
            <a:r>
              <a:rPr lang="en-US" sz="2400" b="1" dirty="0">
                <a:latin typeface="Bookman Old Style" panose="02050604050505020204" pitchFamily="18" charset="0"/>
              </a:rPr>
              <a:t>– </a:t>
            </a:r>
            <a:r>
              <a:rPr lang="ru-RU" sz="2400" dirty="0" smtClean="0">
                <a:latin typeface="Bookman Old Style" panose="02050604050505020204" pitchFamily="18" charset="0"/>
              </a:rPr>
              <a:t>вызывается </a:t>
            </a:r>
            <a:r>
              <a:rPr lang="ru-RU" sz="2400" dirty="0">
                <a:latin typeface="Bookman Old Style" panose="02050604050505020204" pitchFamily="18" charset="0"/>
              </a:rPr>
              <a:t>сборщиком мусора перед уничтожением объекта (деструктор</a:t>
            </a:r>
            <a:r>
              <a:rPr lang="ru-RU" sz="2400" dirty="0" smtClean="0">
                <a:latin typeface="Bookman Old Style" panose="02050604050505020204" pitchFamily="18" charset="0"/>
              </a:rPr>
              <a:t>).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9687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Преобразование сложных типов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654356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В 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предыдущем семестре мы 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говорили о преобразованиях объектов простых типов. Сейчас затронем тему преобразования объектов классов. Допустим, у нас есть следующая иерархия классов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:</a:t>
            </a:r>
            <a:endParaRPr lang="ru-RU" sz="2400" dirty="0" smtClean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Person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Name {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name)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Name = name;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Print()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$"Person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{Name}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9716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37097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Employee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: Person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Company {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Employee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name,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company) :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base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(name)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Company = company;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Client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: Person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Bank {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Client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name,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bank) :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base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(name)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Bank = bank;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ru-RU" sz="24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197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54356"/>
            <a:ext cx="12192000" cy="452431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 err="1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Upcasting</a:t>
            </a:r>
            <a:r>
              <a:rPr lang="en-US" sz="24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– </a:t>
            </a:r>
            <a:r>
              <a:rPr lang="ru-RU" sz="24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преобразование от типа потомка к типу родителя.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Объекты </a:t>
            </a:r>
            <a:r>
              <a:rPr lang="ru-RU" sz="2400" dirty="0">
                <a:latin typeface="Bookman Old Style" panose="02050604050505020204" pitchFamily="18" charset="0"/>
              </a:rPr>
              <a:t>производного типа (который находится внизу иерархии) в то же время представляют и базовый тип. Например, объект </a:t>
            </a:r>
            <a:r>
              <a:rPr lang="ru-RU" sz="2400" dirty="0" err="1">
                <a:latin typeface="Bookman Old Style" panose="02050604050505020204" pitchFamily="18" charset="0"/>
              </a:rPr>
              <a:t>Employee</a:t>
            </a:r>
            <a:r>
              <a:rPr lang="ru-RU" sz="2400" dirty="0">
                <a:latin typeface="Bookman Old Style" panose="02050604050505020204" pitchFamily="18" charset="0"/>
              </a:rPr>
              <a:t> в то же время является и </a:t>
            </a:r>
            <a:r>
              <a:rPr lang="ru-RU" sz="2400" dirty="0" smtClean="0">
                <a:latin typeface="Bookman Old Style" panose="02050604050505020204" pitchFamily="18" charset="0"/>
              </a:rPr>
              <a:t>объектом </a:t>
            </a:r>
            <a:r>
              <a:rPr lang="ru-RU" sz="2400" dirty="0">
                <a:latin typeface="Bookman Old Style" panose="02050604050505020204" pitchFamily="18" charset="0"/>
              </a:rPr>
              <a:t>класса </a:t>
            </a:r>
            <a:r>
              <a:rPr lang="ru-RU" sz="2400" dirty="0" err="1">
                <a:latin typeface="Bookman Old Style" panose="02050604050505020204" pitchFamily="18" charset="0"/>
              </a:rPr>
              <a:t>Person</a:t>
            </a:r>
            <a:r>
              <a:rPr lang="ru-RU" sz="2400" dirty="0">
                <a:latin typeface="Bookman Old Style" panose="02050604050505020204" pitchFamily="18" charset="0"/>
              </a:rPr>
              <a:t>. Что в принципе естественно, так как </a:t>
            </a:r>
            <a:r>
              <a:rPr lang="ru-RU" sz="2400" dirty="0" smtClean="0">
                <a:latin typeface="Bookman Old Style" panose="02050604050505020204" pitchFamily="18" charset="0"/>
              </a:rPr>
              <a:t>каждый </a:t>
            </a:r>
            <a:r>
              <a:rPr lang="ru-RU" sz="2400" dirty="0">
                <a:latin typeface="Bookman Old Style" panose="02050604050505020204" pitchFamily="18" charset="0"/>
              </a:rPr>
              <a:t>сотрудник (</a:t>
            </a:r>
            <a:r>
              <a:rPr lang="ru-RU" sz="2400" dirty="0" err="1">
                <a:latin typeface="Bookman Old Style" panose="02050604050505020204" pitchFamily="18" charset="0"/>
              </a:rPr>
              <a:t>Employee</a:t>
            </a:r>
            <a:r>
              <a:rPr lang="ru-RU" sz="2400" dirty="0">
                <a:latin typeface="Bookman Old Style" panose="02050604050505020204" pitchFamily="18" charset="0"/>
              </a:rPr>
              <a:t>) является человеком (</a:t>
            </a:r>
            <a:r>
              <a:rPr lang="ru-RU" sz="2400" dirty="0" err="1">
                <a:latin typeface="Bookman Old Style" panose="02050604050505020204" pitchFamily="18" charset="0"/>
              </a:rPr>
              <a:t>Person</a:t>
            </a:r>
            <a:r>
              <a:rPr lang="ru-RU" sz="2400" dirty="0">
                <a:latin typeface="Bookman Old Style" panose="02050604050505020204" pitchFamily="18" charset="0"/>
              </a:rPr>
              <a:t>). И мы можем написать, например, следующим образом</a:t>
            </a:r>
            <a:r>
              <a:rPr lang="ru-RU" sz="2400" dirty="0" smtClean="0">
                <a:latin typeface="Bookman Old Style" panose="02050604050505020204" pitchFamily="18" charset="0"/>
              </a:rPr>
              <a:t>:</a:t>
            </a:r>
            <a:endParaRPr lang="ru-RU" sz="2400" dirty="0">
              <a:latin typeface="Bookman Old Style" panose="02050604050505020204" pitchFamily="18" charset="0"/>
            </a:endParaRPr>
          </a:p>
          <a:p>
            <a:pPr>
              <a:spcAft>
                <a:spcPts val="0"/>
              </a:spcAft>
            </a:pPr>
            <a:endParaRPr lang="en-US" sz="2400" dirty="0" smtClean="0">
              <a:solidFill>
                <a:srgbClr val="000000"/>
              </a:solidFill>
              <a:latin typeface="Cascadia Mono" panose="020B0609020000020004" pitchFamily="49" charset="0"/>
              <a:ea typeface="Times New Roman" panose="02020603050405020304" pitchFamily="18" charset="0"/>
              <a:cs typeface="Cascadia Mono" panose="020B0609020000020004" pitchFamily="49" charset="0"/>
            </a:endParaRPr>
          </a:p>
          <a:p>
            <a:pPr>
              <a:spcAft>
                <a:spcPts val="0"/>
              </a:spcAft>
            </a:pP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Employee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employee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Employee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"Tom"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,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"Microsoft"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);</a:t>
            </a: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= employee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;</a:t>
            </a:r>
            <a:r>
              <a:rPr lang="en-US" sz="2400" dirty="0" smtClean="0">
                <a:solidFill>
                  <a:srgbClr val="008000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преобразование от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Employee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к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8000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Cascadia Mono" panose="020B0609020000020004" pitchFamily="49" charset="0"/>
              </a:rPr>
              <a:t>Person</a:t>
            </a:r>
            <a:endParaRPr lang="ru-RU" sz="2400" dirty="0" smtClean="0">
              <a:solidFill>
                <a:srgbClr val="008000"/>
              </a:solidFill>
              <a:latin typeface="Cascadia Mono" panose="020B0609020000020004" pitchFamily="49" charset="0"/>
              <a:ea typeface="Times New Roman" panose="02020603050405020304" pitchFamily="18" charset="0"/>
              <a:cs typeface="Cascadia Mono" panose="020B0609020000020004" pitchFamily="49" charset="0"/>
            </a:endParaRPr>
          </a:p>
        </p:txBody>
      </p:sp>
      <p:sp>
        <p:nvSpPr>
          <p:cNvPr id="4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Восходящие преобразования. </a:t>
            </a:r>
            <a:r>
              <a:rPr lang="en-US" sz="2800" b="1" dirty="0" err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Upcasting</a:t>
            </a:r>
            <a:endParaRPr lang="en-US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2587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715" y="413056"/>
            <a:ext cx="10753263" cy="588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277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В данном случае переменной </a:t>
            </a:r>
            <a:r>
              <a:rPr lang="ru-RU" sz="2400" dirty="0" err="1">
                <a:latin typeface="Bookman Old Style" panose="02050604050505020204" pitchFamily="18" charset="0"/>
                <a:ea typeface="Times New Roman" panose="02020603050405020304" pitchFamily="18" charset="0"/>
              </a:rPr>
              <a:t>person</a:t>
            </a:r>
            <a:r>
              <a:rPr lang="ru-RU" sz="2400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, которая представляет тип </a:t>
            </a:r>
            <a:r>
              <a:rPr lang="ru-RU" sz="2400" dirty="0" err="1">
                <a:latin typeface="Bookman Old Style" panose="02050604050505020204" pitchFamily="18" charset="0"/>
                <a:ea typeface="Times New Roman" panose="02020603050405020304" pitchFamily="18" charset="0"/>
              </a:rPr>
              <a:t>Person</a:t>
            </a:r>
            <a:r>
              <a:rPr lang="ru-RU" sz="2400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, присваивается ссылка на объект </a:t>
            </a:r>
            <a:r>
              <a:rPr lang="ru-RU" sz="2400" dirty="0" err="1">
                <a:latin typeface="Bookman Old Style" panose="02050604050505020204" pitchFamily="18" charset="0"/>
                <a:ea typeface="Times New Roman" panose="02020603050405020304" pitchFamily="18" charset="0"/>
              </a:rPr>
              <a:t>Employee</a:t>
            </a:r>
            <a:r>
              <a:rPr lang="ru-RU" sz="2400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. Но чтобы сохранить ссылку на объект одного класса в переменную другого класса, необходимо выполнить преобразование типов - в данном случае от типа </a:t>
            </a:r>
            <a:r>
              <a:rPr lang="ru-RU" sz="2400" dirty="0" err="1">
                <a:latin typeface="Bookman Old Style" panose="02050604050505020204" pitchFamily="18" charset="0"/>
                <a:ea typeface="Times New Roman" panose="02020603050405020304" pitchFamily="18" charset="0"/>
              </a:rPr>
              <a:t>Employee</a:t>
            </a:r>
            <a:r>
              <a:rPr lang="ru-RU" sz="2400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 к типу </a:t>
            </a:r>
            <a:r>
              <a:rPr lang="ru-RU" sz="2400" dirty="0" err="1">
                <a:latin typeface="Bookman Old Style" panose="02050604050505020204" pitchFamily="18" charset="0"/>
                <a:ea typeface="Times New Roman" panose="02020603050405020304" pitchFamily="18" charset="0"/>
              </a:rPr>
              <a:t>Person</a:t>
            </a:r>
            <a:r>
              <a:rPr lang="ru-RU" sz="2400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. И так как </a:t>
            </a:r>
            <a:r>
              <a:rPr lang="ru-RU" sz="2400" dirty="0" err="1">
                <a:latin typeface="Bookman Old Style" panose="02050604050505020204" pitchFamily="18" charset="0"/>
                <a:ea typeface="Times New Roman" panose="02020603050405020304" pitchFamily="18" charset="0"/>
              </a:rPr>
              <a:t>Employee</a:t>
            </a:r>
            <a:r>
              <a:rPr lang="ru-RU" sz="2400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 наследуется от класса </a:t>
            </a:r>
            <a:r>
              <a:rPr lang="ru-RU" sz="2400" dirty="0" err="1">
                <a:latin typeface="Bookman Old Style" panose="02050604050505020204" pitchFamily="18" charset="0"/>
                <a:ea typeface="Times New Roman" panose="02020603050405020304" pitchFamily="18" charset="0"/>
              </a:rPr>
              <a:t>Person</a:t>
            </a:r>
            <a:r>
              <a:rPr lang="ru-RU" sz="2400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, то автоматически выполняется неявное восходящее преобразование - преобразование к типу, которые находятся вверху иерархии классов, то есть к базовому классу</a:t>
            </a:r>
            <a:r>
              <a:rPr lang="ru-RU" sz="2400" dirty="0" smtClean="0">
                <a:latin typeface="Bookman Old Style" panose="02050604050505020204" pitchFamily="18" charset="0"/>
                <a:ea typeface="Times New Roman" panose="02020603050405020304" pitchFamily="18" charset="0"/>
              </a:rPr>
              <a:t>.</a:t>
            </a:r>
            <a:endParaRPr lang="en-US" sz="2400" dirty="0">
              <a:latin typeface="Bookman Old Style" panose="020506040505050202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Подобным образом </a:t>
            </a:r>
            <a:r>
              <a:rPr lang="ru-RU" sz="2400" dirty="0" smtClean="0">
                <a:latin typeface="Bookman Old Style" panose="02050604050505020204" pitchFamily="18" charset="0"/>
                <a:ea typeface="Times New Roman" panose="02020603050405020304" pitchFamily="18" charset="0"/>
              </a:rPr>
              <a:t>производятся </a:t>
            </a:r>
            <a:r>
              <a:rPr lang="ru-RU" sz="2400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и другие восходящие преобразования</a:t>
            </a:r>
            <a:r>
              <a:rPr lang="ru-RU" sz="2400" dirty="0" smtClean="0">
                <a:latin typeface="Bookman Old Style" panose="02050604050505020204" pitchFamily="18" charset="0"/>
                <a:ea typeface="Times New Roman" panose="02020603050405020304" pitchFamily="18" charset="0"/>
              </a:rPr>
              <a:t>:</a:t>
            </a:r>
            <a:endParaRPr lang="en-US" sz="2400" dirty="0" smtClean="0">
              <a:latin typeface="Bookman Old Style" panose="020506040505050202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bob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Client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"Bob"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Д Банк</a:t>
            </a:r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  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преобразование от 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Client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к 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Person</a:t>
            </a:r>
            <a:endParaRPr lang="ru-RU" sz="2400" dirty="0">
              <a:latin typeface="Bookman Old Style" panose="020506040505050202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002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654356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Но </a:t>
            </a:r>
            <a:r>
              <a:rPr lang="ru-RU" sz="2400" dirty="0">
                <a:latin typeface="Bookman Old Style" panose="02050604050505020204" pitchFamily="18" charset="0"/>
              </a:rPr>
              <a:t>кроме восходящих преобразований от производного к базовому типу есть нисходящие преобразования или </a:t>
            </a:r>
            <a:r>
              <a:rPr lang="ru-RU" sz="2400" b="1" dirty="0" err="1">
                <a:latin typeface="Bookman Old Style" panose="02050604050505020204" pitchFamily="18" charset="0"/>
              </a:rPr>
              <a:t>downcasting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- преобразование </a:t>
            </a:r>
            <a:r>
              <a:rPr lang="ru-RU" sz="2400" dirty="0">
                <a:latin typeface="Bookman Old Style" panose="02050604050505020204" pitchFamily="18" charset="0"/>
              </a:rPr>
              <a:t>от базового типа к </a:t>
            </a:r>
            <a:r>
              <a:rPr lang="ru-RU" sz="2400" dirty="0" smtClean="0">
                <a:latin typeface="Bookman Old Style" panose="02050604050505020204" pitchFamily="18" charset="0"/>
              </a:rPr>
              <a:t>производному.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И </a:t>
            </a:r>
            <a:r>
              <a:rPr lang="ru-RU" sz="2400" dirty="0">
                <a:latin typeface="Bookman Old Style" panose="02050604050505020204" pitchFamily="18" charset="0"/>
              </a:rPr>
              <a:t>может возникнуть вопрос, можно ли обратиться к функционалу типа </a:t>
            </a:r>
            <a:r>
              <a:rPr lang="ru-RU" sz="2400" dirty="0" err="1">
                <a:latin typeface="Bookman Old Style" panose="02050604050505020204" pitchFamily="18" charset="0"/>
              </a:rPr>
              <a:t>Employee</a:t>
            </a:r>
            <a:r>
              <a:rPr lang="ru-RU" sz="2400" dirty="0">
                <a:latin typeface="Bookman Old Style" panose="02050604050505020204" pitchFamily="18" charset="0"/>
              </a:rPr>
              <a:t> через переменную типа </a:t>
            </a:r>
            <a:r>
              <a:rPr lang="ru-RU" sz="2400" dirty="0" err="1">
                <a:latin typeface="Bookman Old Style" panose="02050604050505020204" pitchFamily="18" charset="0"/>
              </a:rPr>
              <a:t>Person</a:t>
            </a:r>
            <a:r>
              <a:rPr lang="ru-RU" sz="2400" dirty="0">
                <a:latin typeface="Bookman Old Style" panose="02050604050505020204" pitchFamily="18" charset="0"/>
              </a:rPr>
              <a:t>. </a:t>
            </a:r>
            <a:r>
              <a:rPr lang="ru-RU" sz="2400" b="1" dirty="0">
                <a:latin typeface="Bookman Old Style" panose="02050604050505020204" pitchFamily="18" charset="0"/>
              </a:rPr>
              <a:t>Но автоматически такие преобразования не проходят</a:t>
            </a:r>
            <a:r>
              <a:rPr lang="ru-RU" sz="2400" dirty="0">
                <a:latin typeface="Bookman Old Style" panose="02050604050505020204" pitchFamily="18" charset="0"/>
              </a:rPr>
              <a:t>, ведь не каждый человек (объект </a:t>
            </a:r>
            <a:r>
              <a:rPr lang="ru-RU" sz="2400" dirty="0" err="1">
                <a:latin typeface="Bookman Old Style" panose="02050604050505020204" pitchFamily="18" charset="0"/>
              </a:rPr>
              <a:t>Person</a:t>
            </a:r>
            <a:r>
              <a:rPr lang="ru-RU" sz="2400" dirty="0">
                <a:latin typeface="Bookman Old Style" panose="02050604050505020204" pitchFamily="18" charset="0"/>
              </a:rPr>
              <a:t>) является сотрудником предприятия (объектом </a:t>
            </a:r>
            <a:r>
              <a:rPr lang="ru-RU" sz="2400" dirty="0" err="1">
                <a:latin typeface="Bookman Old Style" panose="02050604050505020204" pitchFamily="18" charset="0"/>
              </a:rPr>
              <a:t>Employee</a:t>
            </a:r>
            <a:r>
              <a:rPr lang="ru-RU" sz="2400" dirty="0">
                <a:latin typeface="Bookman Old Style" panose="02050604050505020204" pitchFamily="18" charset="0"/>
              </a:rPr>
              <a:t>). 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И </a:t>
            </a:r>
            <a:r>
              <a:rPr lang="ru-RU" sz="2400" dirty="0">
                <a:latin typeface="Bookman Old Style" panose="02050604050505020204" pitchFamily="18" charset="0"/>
              </a:rPr>
              <a:t>для нисходящего преобразования необходимо применить явное преобразование, указав в скобках тип, к которому нужно выполнить преобразование:</a:t>
            </a:r>
            <a:endParaRPr lang="en-US" sz="2400" i="0" dirty="0">
              <a:effectLst/>
              <a:latin typeface="Bookman Old Style" panose="02050604050505020204" pitchFamily="18" charset="0"/>
            </a:endParaRPr>
          </a:p>
        </p:txBody>
      </p:sp>
      <p:sp>
        <p:nvSpPr>
          <p:cNvPr id="3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Нисходящие преобразования. </a:t>
            </a:r>
            <a:r>
              <a:rPr lang="en-US" sz="2800" b="1" dirty="0" err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Downcasting</a:t>
            </a:r>
            <a:endParaRPr lang="en-US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996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452431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endParaRPr lang="ru-RU" sz="2400" dirty="0" smtClean="0">
              <a:solidFill>
                <a:srgbClr val="2B91AF"/>
              </a:solidFill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2B91AF"/>
                </a:solidFill>
                <a:latin typeface="Cascadia Mono" panose="020B0609020000020004" pitchFamily="49" charset="0"/>
              </a:rPr>
              <a:t>Employee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employee1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Employee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"Tom"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"Microsoft"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employee1;   </a:t>
            </a:r>
            <a:endParaRPr lang="ru-RU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en-US" sz="2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преобразование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от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 Employee к Person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ru-RU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</a:t>
            </a:r>
            <a:r>
              <a:rPr lang="ru-RU" sz="2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Employee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 employee2 = </a:t>
            </a:r>
            <a:r>
              <a:rPr lang="ru-RU" sz="2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person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;    </a:t>
            </a:r>
            <a:endParaRPr lang="ru-RU" sz="2400" dirty="0" smtClean="0">
              <a:solidFill>
                <a:srgbClr val="008000"/>
              </a:solidFill>
              <a:latin typeface="Cascadia Mono" panose="020B0609020000020004" pitchFamily="49" charset="0"/>
            </a:endParaRPr>
          </a:p>
          <a:p>
            <a:r>
              <a:rPr lang="ru-RU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так нельзя, нужно явное </a:t>
            </a:r>
            <a:r>
              <a:rPr lang="ru-RU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преобразование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Employee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employee2 = (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Employee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)person;  </a:t>
            </a:r>
            <a:endParaRPr lang="ru-RU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en-US" sz="2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преобразование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от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 Person к </a:t>
            </a:r>
            <a:r>
              <a:rPr lang="en-US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Employee</a:t>
            </a:r>
            <a:endParaRPr lang="ru-RU" sz="2400" dirty="0" smtClean="0">
              <a:solidFill>
                <a:srgbClr val="008000"/>
              </a:solidFill>
              <a:latin typeface="Cascadia Mono" panose="020B0609020000020004" pitchFamily="49" charset="0"/>
            </a:endParaRPr>
          </a:p>
          <a:p>
            <a:endParaRPr lang="ru-RU" sz="2400" i="0" dirty="0">
              <a:solidFill>
                <a:srgbClr val="008000"/>
              </a:solidFill>
              <a:effectLst/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7947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489364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400" b="1" dirty="0">
                <a:latin typeface="Bookman Old Style" panose="02050604050505020204" pitchFamily="18" charset="0"/>
              </a:rPr>
              <a:t>Ещё примеры</a:t>
            </a:r>
            <a:r>
              <a:rPr lang="ru-RU" sz="2400" b="1" dirty="0" smtClean="0">
                <a:latin typeface="Bookman Old Style" panose="02050604050505020204" pitchFamily="18" charset="0"/>
              </a:rPr>
              <a:t>:</a:t>
            </a:r>
            <a:endParaRPr lang="en-US" sz="2400" b="1" dirty="0" smtClean="0">
              <a:latin typeface="Bookman Old Style" panose="02050604050505020204" pitchFamily="18" charset="0"/>
            </a:endParaRPr>
          </a:p>
          <a:p>
            <a:endParaRPr lang="ru-RU" sz="2400" b="1" dirty="0">
              <a:latin typeface="Bookman Old Style" panose="02050604050505020204" pitchFamily="18" charset="0"/>
            </a:endParaRPr>
          </a:p>
          <a:p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Объект </a:t>
            </a:r>
            <a:r>
              <a:rPr lang="ru-RU" sz="2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Employee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 также представляет тип </a:t>
            </a:r>
            <a:r>
              <a:rPr lang="ru-RU" sz="2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object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object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obj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Employee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"Bill"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"Microsoft"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чтобы обратиться к возможностям типа </a:t>
            </a:r>
            <a:r>
              <a:rPr lang="ru-RU" sz="2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Employee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, приводим объект к типу </a:t>
            </a:r>
            <a:r>
              <a:rPr lang="ru-RU" sz="2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Employee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Employee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employee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(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Employee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obj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объект </a:t>
            </a:r>
            <a:r>
              <a:rPr lang="ru-RU" sz="2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Client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 также представляет тип </a:t>
            </a:r>
            <a:r>
              <a:rPr lang="ru-RU" sz="2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Person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Client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"Sam"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Д Банк</a:t>
            </a:r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преобразование от типа </a:t>
            </a:r>
            <a:r>
              <a:rPr lang="ru-RU" sz="2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Person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 к </a:t>
            </a:r>
            <a:r>
              <a:rPr lang="ru-RU" sz="2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Client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Client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client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(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Client</a:t>
            </a:r>
            <a:r>
              <a:rPr lang="en-US" sz="2400" dirty="0">
                <a:latin typeface="Cascadia Mono" panose="020B0609020000020004" pitchFamily="49" charset="0"/>
              </a:rPr>
              <a:t>)person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endParaRPr lang="en-US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7177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8021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В то же время необходимо соблюдать </a:t>
            </a:r>
            <a:r>
              <a:rPr lang="ru-RU" sz="2400" b="1" dirty="0">
                <a:latin typeface="Bookman Old Style" panose="02050604050505020204" pitchFamily="18" charset="0"/>
              </a:rPr>
              <a:t>осторожность</a:t>
            </a:r>
            <a:r>
              <a:rPr lang="ru-RU" sz="2400" dirty="0">
                <a:latin typeface="Bookman Old Style" panose="02050604050505020204" pitchFamily="18" charset="0"/>
              </a:rPr>
              <a:t> при подобных преобразованиях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Например</a:t>
            </a:r>
            <a:r>
              <a:rPr lang="ru-RU" sz="2400" dirty="0">
                <a:latin typeface="Bookman Old Style" panose="02050604050505020204" pitchFamily="18" charset="0"/>
              </a:rPr>
              <a:t>, что будет в следующем случае</a:t>
            </a:r>
            <a:r>
              <a:rPr lang="ru-RU" sz="2400" dirty="0" smtClean="0">
                <a:latin typeface="Bookman Old Style" panose="020506040505050202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Объект </a:t>
            </a:r>
            <a:r>
              <a:rPr lang="ru-RU" sz="2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Employee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 также представляет тип </a:t>
            </a:r>
            <a:r>
              <a:rPr lang="ru-RU" sz="2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object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object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obj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Employee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"Bill"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"Microsoft"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преобразование к типу </a:t>
            </a:r>
            <a:r>
              <a:rPr lang="ru-RU" sz="2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Client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, чтобы получить свойство </a:t>
            </a:r>
            <a:r>
              <a:rPr lang="ru-RU" sz="2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Bank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bank = ((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Client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obj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).Bank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//ОШИБКА!!!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В данном случае мы получим ошибку, так как переменная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obj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хранит ссылку на объект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Employee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. Данный объект является также объектом типов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object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и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Person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, поэтому мы можем преобразовать его к этим типам. Но к типу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Client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мы преобразовать не можем.</a:t>
            </a:r>
            <a:endParaRPr lang="en-US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427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55564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Ещё примеры ошибок:</a:t>
            </a:r>
            <a:endParaRPr lang="ru-RU" sz="2400" b="1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Employee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employee1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"Tom"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! </a:t>
            </a:r>
            <a:r>
              <a:rPr lang="en-US" sz="2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Ошибка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"Bob"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Employee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employee2 = (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Employee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)person; 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! </a:t>
            </a:r>
            <a:r>
              <a:rPr lang="ru-RU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Ошибка</a:t>
            </a:r>
            <a:endParaRPr lang="ru-RU" sz="2400" dirty="0">
              <a:solidFill>
                <a:srgbClr val="008000"/>
              </a:solidFill>
              <a:latin typeface="Cascadia Mono" panose="020B0609020000020004" pitchFamily="49" charset="0"/>
            </a:endParaRPr>
          </a:p>
          <a:p>
            <a:pPr>
              <a:lnSpc>
                <a:spcPct val="150000"/>
              </a:lnSpc>
            </a:pPr>
            <a:endParaRPr lang="ru-RU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 данном </a:t>
            </a:r>
            <a:r>
              <a:rPr lang="ru-RU" sz="2400" dirty="0">
                <a:latin typeface="Bookman Old Style" panose="02050604050505020204" pitchFamily="18" charset="0"/>
              </a:rPr>
              <a:t>случае мы пытаемся преобразовать объект типа </a:t>
            </a:r>
            <a:r>
              <a:rPr lang="ru-RU" sz="2400" dirty="0" err="1">
                <a:latin typeface="Bookman Old Style" panose="02050604050505020204" pitchFamily="18" charset="0"/>
              </a:rPr>
              <a:t>Person</a:t>
            </a:r>
            <a:r>
              <a:rPr lang="ru-RU" sz="2400" dirty="0">
                <a:latin typeface="Bookman Old Style" panose="02050604050505020204" pitchFamily="18" charset="0"/>
              </a:rPr>
              <a:t> к типу </a:t>
            </a:r>
            <a:r>
              <a:rPr lang="ru-RU" sz="2400" dirty="0" err="1">
                <a:latin typeface="Bookman Old Style" panose="02050604050505020204" pitchFamily="18" charset="0"/>
              </a:rPr>
              <a:t>Employee</a:t>
            </a:r>
            <a:r>
              <a:rPr lang="ru-RU" sz="2400" dirty="0">
                <a:latin typeface="Bookman Old Style" panose="02050604050505020204" pitchFamily="18" charset="0"/>
              </a:rPr>
              <a:t>, а объект </a:t>
            </a:r>
            <a:r>
              <a:rPr lang="ru-RU" sz="2400" dirty="0" err="1">
                <a:latin typeface="Bookman Old Style" panose="02050604050505020204" pitchFamily="18" charset="0"/>
              </a:rPr>
              <a:t>Person</a:t>
            </a:r>
            <a:r>
              <a:rPr lang="ru-RU" sz="2400" dirty="0">
                <a:latin typeface="Bookman Old Style" panose="02050604050505020204" pitchFamily="18" charset="0"/>
              </a:rPr>
              <a:t> не является объектом </a:t>
            </a:r>
            <a:r>
              <a:rPr lang="ru-RU" sz="2400" dirty="0" err="1">
                <a:latin typeface="Bookman Old Style" panose="02050604050505020204" pitchFamily="18" charset="0"/>
              </a:rPr>
              <a:t>Employee</a:t>
            </a:r>
            <a:r>
              <a:rPr lang="ru-RU" sz="2400" dirty="0">
                <a:latin typeface="Bookman Old Style" panose="02050604050505020204" pitchFamily="18" charset="0"/>
              </a:rPr>
              <a:t>. Причем в последнем случае </a:t>
            </a:r>
            <a:r>
              <a:rPr lang="ru-RU" sz="2400" dirty="0" err="1">
                <a:latin typeface="Bookman Old Style" panose="02050604050505020204" pitchFamily="18" charset="0"/>
              </a:rPr>
              <a:t>Visual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Studio</a:t>
            </a:r>
            <a:r>
              <a:rPr lang="ru-RU" sz="2400" dirty="0">
                <a:latin typeface="Bookman Old Style" panose="02050604050505020204" pitchFamily="18" charset="0"/>
              </a:rPr>
              <a:t> не </a:t>
            </a:r>
            <a:r>
              <a:rPr lang="ru-RU" sz="2400" dirty="0" smtClean="0">
                <a:latin typeface="Bookman Old Style" panose="02050604050505020204" pitchFamily="18" charset="0"/>
              </a:rPr>
              <a:t>подскажет</a:t>
            </a:r>
            <a:r>
              <a:rPr lang="ru-RU" sz="2400" dirty="0">
                <a:latin typeface="Bookman Old Style" panose="02050604050505020204" pitchFamily="18" charset="0"/>
              </a:rPr>
              <a:t>, что в данной строке ошибка, и данная строка даже нормально </a:t>
            </a:r>
            <a:r>
              <a:rPr lang="ru-RU" sz="2400" dirty="0" err="1">
                <a:latin typeface="Bookman Old Style" panose="02050604050505020204" pitchFamily="18" charset="0"/>
              </a:rPr>
              <a:t>скомилируется</a:t>
            </a:r>
            <a:r>
              <a:rPr lang="ru-RU" sz="2400" dirty="0">
                <a:latin typeface="Bookman Old Style" panose="02050604050505020204" pitchFamily="18" charset="0"/>
              </a:rPr>
              <a:t>, тем не менее в процессе выполнения программы мы получим </a:t>
            </a:r>
            <a:r>
              <a:rPr lang="ru-RU" sz="2400" dirty="0" smtClean="0">
                <a:latin typeface="Bookman Old Style" panose="02050604050505020204" pitchFamily="18" charset="0"/>
              </a:rPr>
              <a:t>ошибку</a:t>
            </a:r>
            <a:r>
              <a:rPr lang="ru-RU" sz="2400" dirty="0">
                <a:latin typeface="Bookman Old Style" panose="02050604050505020204" pitchFamily="18" charset="0"/>
              </a:rPr>
              <a:t>. В этом в том числе и </a:t>
            </a:r>
            <a:r>
              <a:rPr lang="ru-RU" sz="2400" dirty="0" smtClean="0">
                <a:latin typeface="Bookman Old Style" panose="02050604050505020204" pitchFamily="18" charset="0"/>
              </a:rPr>
              <a:t>кроется </a:t>
            </a:r>
            <a:r>
              <a:rPr lang="ru-RU" sz="2400" dirty="0">
                <a:latin typeface="Bookman Old Style" panose="02050604050505020204" pitchFamily="18" charset="0"/>
              </a:rPr>
              <a:t>коварство преобразований, поэтому в подобных ситуациях надо проявлять осторожность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3134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654356"/>
            <a:ext cx="12192000" cy="600164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Во-первых, можно использовать ключевое слово </a:t>
            </a:r>
            <a:r>
              <a:rPr lang="ru-RU" sz="2400" b="1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as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. С помощью него программа пытается преобразовать выражение к определенному типу, при этом не выбрасывает исключение. В случае неудачного преобразования выражение будет содержать значение </a:t>
            </a:r>
            <a:r>
              <a:rPr lang="ru-RU" sz="2400" b="1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null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:</a:t>
            </a:r>
            <a:endParaRPr lang="en-US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"Tom"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Employee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? employee = person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as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Employee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(employee ==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Преобразование прошло неудачно"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else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employee.Company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Способы преобразование типов, </a:t>
            </a:r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is, as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0" y="4744649"/>
            <a:ext cx="2286000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094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Стоит отметить, что переменная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employee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здесь определяется не просто как переменная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Employee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, а именно </a:t>
            </a:r>
            <a:r>
              <a:rPr lang="ru-RU" sz="2400" b="1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Employee</a:t>
            </a:r>
            <a:r>
              <a:rPr lang="ru-RU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? 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- после названия типа ставится </a:t>
            </a:r>
            <a:r>
              <a:rPr lang="ru-RU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вопросительный знак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. Что указывает, что переменная может хранить как значение </a:t>
            </a:r>
            <a:r>
              <a:rPr lang="ru-RU" sz="2400" b="1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null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, так и значение </a:t>
            </a:r>
            <a:r>
              <a:rPr lang="ru-RU" sz="2400" b="1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Employee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.</a:t>
            </a:r>
            <a:endParaRPr lang="en-US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400" b="1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По аналогии можно задать типы:</a:t>
            </a:r>
          </a:p>
          <a:p>
            <a:r>
              <a:rPr lang="ru-RU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? a = 0;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теперь можно положить </a:t>
            </a:r>
            <a:r>
              <a:rPr lang="ru-RU" sz="2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null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a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double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? d = 0</a:t>
            </a:r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endParaRPr lang="en-US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и т.д.</a:t>
            </a: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8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Второй способ заключается в проверке допустимости преобразования с помощью ключевого слова </a:t>
            </a:r>
            <a:r>
              <a:rPr lang="ru-RU" sz="2400" b="1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is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endParaRPr lang="en-US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ru-RU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значение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is</a:t>
            </a:r>
            <a:r>
              <a:rPr lang="en-US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 </a:t>
            </a:r>
            <a:r>
              <a:rPr lang="ru-RU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тип</a:t>
            </a:r>
            <a:endParaRPr lang="en-US" sz="2400" dirty="0">
              <a:solidFill>
                <a:srgbClr val="2B91AF"/>
              </a:solidFill>
              <a:latin typeface="Cascadia Mono" panose="020B0609020000020004" pitchFamily="49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Если 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значение слева от оператора представляет тип,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указаный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справа от оператора, то оператор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is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возвращает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true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, иначе возвращается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false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.</a:t>
            </a:r>
            <a:endParaRPr lang="en-US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? d = 0.0;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b = d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is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true</a:t>
            </a: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897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581697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Причем оператор </a:t>
            </a:r>
            <a:r>
              <a:rPr lang="ru-RU" sz="2400" b="1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is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позволяет автоматически преобразовать значение к типу, если это значение представляет данный тип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.</a:t>
            </a:r>
          </a:p>
          <a:p>
            <a:pPr lvl="0" algn="just">
              <a:lnSpc>
                <a:spcPct val="150000"/>
              </a:lnSpc>
            </a:pPr>
            <a:r>
              <a:rPr lang="ru-RU" sz="2400" b="1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Например</a:t>
            </a:r>
            <a:r>
              <a:rPr lang="ru-RU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:</a:t>
            </a:r>
            <a:endParaRPr lang="en-US" sz="2400" b="1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endParaRPr lang="ru-RU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Person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"Tom"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(person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is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ascadia Mono" panose="020B0609020000020004" pitchFamily="49" charset="0"/>
              </a:rPr>
              <a:t>Employee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employee) 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</a:t>
            </a:r>
            <a:r>
              <a:rPr lang="en-US" sz="2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Обратить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внимание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на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 employee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employee.Company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else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Преобразование не допустимо"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667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Выражение </a:t>
            </a:r>
            <a:r>
              <a:rPr lang="ru-RU" sz="2400" dirty="0" err="1">
                <a:latin typeface="Bookman Old Style" panose="02050604050505020204" pitchFamily="18" charset="0"/>
              </a:rPr>
              <a:t>if</a:t>
            </a:r>
            <a:r>
              <a:rPr lang="ru-RU" sz="2400" dirty="0">
                <a:latin typeface="Bookman Old Style" panose="02050604050505020204" pitchFamily="18" charset="0"/>
              </a:rPr>
              <a:t> (</a:t>
            </a:r>
            <a:r>
              <a:rPr lang="ru-RU" sz="2400" dirty="0" err="1">
                <a:latin typeface="Bookman Old Style" panose="02050604050505020204" pitchFamily="18" charset="0"/>
              </a:rPr>
              <a:t>person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is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Employee</a:t>
            </a:r>
            <a:r>
              <a:rPr lang="ru-RU" sz="2400" dirty="0">
                <a:latin typeface="Bookman Old Style" panose="02050604050505020204" pitchFamily="18" charset="0"/>
              </a:rPr>
              <a:t> </a:t>
            </a:r>
            <a:r>
              <a:rPr lang="ru-RU" sz="2400" dirty="0" err="1">
                <a:latin typeface="Bookman Old Style" panose="02050604050505020204" pitchFamily="18" charset="0"/>
              </a:rPr>
              <a:t>employee</a:t>
            </a:r>
            <a:r>
              <a:rPr lang="ru-RU" sz="2400" dirty="0">
                <a:latin typeface="Bookman Old Style" panose="02050604050505020204" pitchFamily="18" charset="0"/>
              </a:rPr>
              <a:t>) проверяет, является ли переменная </a:t>
            </a:r>
            <a:r>
              <a:rPr lang="ru-RU" sz="2400" dirty="0" err="1">
                <a:latin typeface="Bookman Old Style" panose="02050604050505020204" pitchFamily="18" charset="0"/>
              </a:rPr>
              <a:t>person</a:t>
            </a:r>
            <a:r>
              <a:rPr lang="ru-RU" sz="2400" dirty="0">
                <a:latin typeface="Bookman Old Style" panose="02050604050505020204" pitchFamily="18" charset="0"/>
              </a:rPr>
              <a:t> объектом типа </a:t>
            </a:r>
            <a:r>
              <a:rPr lang="ru-RU" sz="2400" dirty="0" err="1">
                <a:latin typeface="Bookman Old Style" panose="02050604050505020204" pitchFamily="18" charset="0"/>
              </a:rPr>
              <a:t>Employee</a:t>
            </a:r>
            <a:r>
              <a:rPr lang="ru-RU" sz="2400" dirty="0">
                <a:latin typeface="Bookman Old Style" panose="02050604050505020204" pitchFamily="18" charset="0"/>
              </a:rPr>
              <a:t>. И если </a:t>
            </a:r>
            <a:r>
              <a:rPr lang="ru-RU" sz="2400" dirty="0" err="1">
                <a:latin typeface="Bookman Old Style" panose="02050604050505020204" pitchFamily="18" charset="0"/>
              </a:rPr>
              <a:t>person</a:t>
            </a:r>
            <a:r>
              <a:rPr lang="ru-RU" sz="2400" dirty="0">
                <a:latin typeface="Bookman Old Style" panose="02050604050505020204" pitchFamily="18" charset="0"/>
              </a:rPr>
              <a:t> является объектом </a:t>
            </a:r>
            <a:r>
              <a:rPr lang="ru-RU" sz="2400" dirty="0" err="1">
                <a:latin typeface="Bookman Old Style" panose="02050604050505020204" pitchFamily="18" charset="0"/>
              </a:rPr>
              <a:t>Employee</a:t>
            </a:r>
            <a:r>
              <a:rPr lang="ru-RU" sz="2400" dirty="0">
                <a:latin typeface="Bookman Old Style" panose="02050604050505020204" pitchFamily="18" charset="0"/>
              </a:rPr>
              <a:t>, то автоматически преобразует значение переменной </a:t>
            </a:r>
            <a:r>
              <a:rPr lang="ru-RU" sz="2400" dirty="0" err="1">
                <a:latin typeface="Bookman Old Style" panose="02050604050505020204" pitchFamily="18" charset="0"/>
              </a:rPr>
              <a:t>person</a:t>
            </a:r>
            <a:r>
              <a:rPr lang="ru-RU" sz="2400" dirty="0">
                <a:latin typeface="Bookman Old Style" panose="02050604050505020204" pitchFamily="18" charset="0"/>
              </a:rPr>
              <a:t> в тип </a:t>
            </a:r>
            <a:r>
              <a:rPr lang="ru-RU" sz="2400" dirty="0" err="1">
                <a:latin typeface="Bookman Old Style" panose="02050604050505020204" pitchFamily="18" charset="0"/>
              </a:rPr>
              <a:t>Employee</a:t>
            </a:r>
            <a:r>
              <a:rPr lang="ru-RU" sz="2400" dirty="0">
                <a:latin typeface="Bookman Old Style" panose="02050604050505020204" pitchFamily="18" charset="0"/>
              </a:rPr>
              <a:t> и преобразованное значение сохраняет в переменную </a:t>
            </a:r>
            <a:r>
              <a:rPr lang="ru-RU" sz="2400" dirty="0" err="1">
                <a:latin typeface="Bookman Old Style" panose="02050604050505020204" pitchFamily="18" charset="0"/>
              </a:rPr>
              <a:t>employee</a:t>
            </a:r>
            <a:r>
              <a:rPr lang="ru-RU" sz="2400" dirty="0">
                <a:latin typeface="Bookman Old Style" panose="02050604050505020204" pitchFamily="18" charset="0"/>
              </a:rPr>
              <a:t>. Далее в блоке </a:t>
            </a:r>
            <a:r>
              <a:rPr lang="ru-RU" sz="2400" dirty="0" err="1">
                <a:latin typeface="Bookman Old Style" panose="02050604050505020204" pitchFamily="18" charset="0"/>
              </a:rPr>
              <a:t>if</a:t>
            </a:r>
            <a:r>
              <a:rPr lang="ru-RU" sz="2400" dirty="0">
                <a:latin typeface="Bookman Old Style" panose="02050604050505020204" pitchFamily="18" charset="0"/>
              </a:rPr>
              <a:t> мы можем использовать объект </a:t>
            </a:r>
            <a:r>
              <a:rPr lang="ru-RU" sz="2400" dirty="0" err="1">
                <a:latin typeface="Bookman Old Style" panose="02050604050505020204" pitchFamily="18" charset="0"/>
              </a:rPr>
              <a:t>employee</a:t>
            </a:r>
            <a:r>
              <a:rPr lang="ru-RU" sz="2400" dirty="0">
                <a:latin typeface="Bookman Old Style" panose="02050604050505020204" pitchFamily="18" charset="0"/>
              </a:rPr>
              <a:t> как значение типа </a:t>
            </a:r>
            <a:r>
              <a:rPr lang="ru-RU" sz="2400" dirty="0" err="1">
                <a:latin typeface="Bookman Old Style" panose="02050604050505020204" pitchFamily="18" charset="0"/>
              </a:rPr>
              <a:t>Employee</a:t>
            </a:r>
            <a:r>
              <a:rPr lang="ru-RU" sz="2400" dirty="0">
                <a:latin typeface="Bookman Old Style" panose="02050604050505020204" pitchFamily="18" charset="0"/>
              </a:rPr>
              <a:t>.</a:t>
            </a:r>
          </a:p>
          <a:p>
            <a:pPr lvl="0"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Однако, если </a:t>
            </a:r>
            <a:r>
              <a:rPr lang="ru-RU" sz="2400" dirty="0" err="1">
                <a:latin typeface="Bookman Old Style" panose="02050604050505020204" pitchFamily="18" charset="0"/>
              </a:rPr>
              <a:t>person</a:t>
            </a:r>
            <a:r>
              <a:rPr lang="ru-RU" sz="2400" dirty="0">
                <a:latin typeface="Bookman Old Style" panose="02050604050505020204" pitchFamily="18" charset="0"/>
              </a:rPr>
              <a:t> не является объектом </a:t>
            </a:r>
            <a:r>
              <a:rPr lang="ru-RU" sz="2400" dirty="0" err="1">
                <a:latin typeface="Bookman Old Style" panose="02050604050505020204" pitchFamily="18" charset="0"/>
              </a:rPr>
              <a:t>Employee</a:t>
            </a:r>
            <a:r>
              <a:rPr lang="ru-RU" sz="2400" dirty="0">
                <a:latin typeface="Bookman Old Style" panose="02050604050505020204" pitchFamily="18" charset="0"/>
              </a:rPr>
              <a:t>, как в данном случае, то такая проверка вернет значение </a:t>
            </a:r>
            <a:r>
              <a:rPr lang="ru-RU" sz="2400" dirty="0" err="1">
                <a:latin typeface="Bookman Old Style" panose="02050604050505020204" pitchFamily="18" charset="0"/>
              </a:rPr>
              <a:t>false</a:t>
            </a:r>
            <a:r>
              <a:rPr lang="ru-RU" sz="2400" dirty="0">
                <a:latin typeface="Bookman Old Style" panose="02050604050505020204" pitchFamily="18" charset="0"/>
              </a:rPr>
              <a:t>, и преобразование не сработает.</a:t>
            </a:r>
            <a:endParaRPr lang="en-US" sz="2400" dirty="0" smtClean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061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Полиморфизм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654356"/>
            <a:ext cx="12192000" cy="600164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Виды: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Bookman Old Style" panose="02050604050505020204" pitchFamily="18" charset="0"/>
              </a:rPr>
              <a:t>Специальный полиморфизм (</a:t>
            </a:r>
            <a:r>
              <a:rPr lang="en-US" sz="2400" dirty="0" smtClean="0">
                <a:latin typeface="Bookman Old Style" panose="02050604050505020204" pitchFamily="18" charset="0"/>
              </a:rPr>
              <a:t>ad-hoc</a:t>
            </a:r>
            <a:r>
              <a:rPr lang="ru-RU" sz="2400" dirty="0" smtClean="0">
                <a:latin typeface="Bookman Old Style" panose="02050604050505020204" pitchFamily="18" charset="0"/>
              </a:rPr>
              <a:t>)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Bookman Old Style" panose="02050604050505020204" pitchFamily="18" charset="0"/>
              </a:rPr>
              <a:t>Полиморфизм подтипов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Bookman Old Style" panose="02050604050505020204" pitchFamily="18" charset="0"/>
              </a:rPr>
              <a:t>Параметрический полиморфизм</a:t>
            </a:r>
            <a:endParaRPr lang="en-US" sz="2400" b="1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Специальный полиморфизм </a:t>
            </a:r>
            <a:r>
              <a:rPr lang="ru-RU" sz="2400" dirty="0" smtClean="0">
                <a:latin typeface="Bookman Old Style" panose="02050604050505020204" pitchFamily="18" charset="0"/>
              </a:rPr>
              <a:t>–</a:t>
            </a:r>
            <a:r>
              <a:rPr lang="ru-RU" sz="2400" b="1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способность </a:t>
            </a:r>
            <a:r>
              <a:rPr lang="ru-RU" sz="2400" dirty="0">
                <a:latin typeface="Bookman Old Style" panose="02050604050505020204" pitchFamily="18" charset="0"/>
              </a:rPr>
              <a:t>функции обрабатывать данные разных </a:t>
            </a:r>
            <a:r>
              <a:rPr lang="ru-RU" sz="2400" dirty="0" smtClean="0">
                <a:latin typeface="Bookman Old Style" panose="02050604050505020204" pitchFamily="18" charset="0"/>
              </a:rPr>
              <a:t>типов. Проявляется в виде перегрузки методов.</a:t>
            </a:r>
            <a:endParaRPr lang="en-US" sz="2400" dirty="0">
              <a:latin typeface="Bookman Old Style" panose="02050604050505020204" pitchFamily="18" charset="0"/>
            </a:endParaRPr>
          </a:p>
          <a:p>
            <a:r>
              <a:rPr lang="en-US" sz="2400" dirty="0" err="1" smtClean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int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795E26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Add</a:t>
            </a:r>
            <a:r>
              <a:rPr lang="en-US" sz="2400" dirty="0">
                <a:solidFill>
                  <a:srgbClr val="222222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1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</a:t>
            </a:r>
            <a:r>
              <a:rPr lang="en-US" sz="2400" dirty="0">
                <a:solidFill>
                  <a:srgbClr val="222222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1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b</a:t>
            </a:r>
            <a:r>
              <a:rPr lang="en-US" sz="2400" dirty="0" smtClean="0">
                <a:solidFill>
                  <a:srgbClr val="222222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 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=&gt; </a:t>
            </a:r>
            <a:r>
              <a:rPr lang="en-US" sz="2400" dirty="0">
                <a:solidFill>
                  <a:srgbClr val="001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+ </a:t>
            </a:r>
            <a:r>
              <a:rPr lang="en-US" sz="2400" dirty="0">
                <a:solidFill>
                  <a:srgbClr val="001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b</a:t>
            </a:r>
            <a:r>
              <a:rPr lang="en-US" sz="2400" dirty="0" smtClean="0">
                <a:solidFill>
                  <a:srgbClr val="222222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;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double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795E26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Add</a:t>
            </a:r>
            <a:r>
              <a:rPr lang="en-US" sz="2400" dirty="0">
                <a:solidFill>
                  <a:srgbClr val="222222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1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</a:t>
            </a:r>
            <a:r>
              <a:rPr lang="en-US" sz="2400" dirty="0">
                <a:solidFill>
                  <a:srgbClr val="222222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1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b</a:t>
            </a:r>
            <a:r>
              <a:rPr lang="en-US" sz="2400" dirty="0" smtClean="0">
                <a:solidFill>
                  <a:srgbClr val="222222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 =&gt; a + b;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en-US" sz="2400" dirty="0" err="1" smtClean="0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int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795E26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Add</a:t>
            </a:r>
            <a:r>
              <a:rPr lang="en-US" sz="2400" dirty="0">
                <a:solidFill>
                  <a:srgbClr val="222222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1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</a:t>
            </a:r>
            <a:r>
              <a:rPr lang="en-US" sz="2400" dirty="0">
                <a:solidFill>
                  <a:srgbClr val="222222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1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b</a:t>
            </a:r>
            <a:r>
              <a:rPr lang="en-US" sz="2400" dirty="0">
                <a:solidFill>
                  <a:srgbClr val="222222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1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</a:t>
            </a:r>
            <a:r>
              <a:rPr lang="en-US" sz="2400" dirty="0" smtClean="0">
                <a:solidFill>
                  <a:srgbClr val="222222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 =&gt; a + b + c;</a:t>
            </a:r>
            <a:endParaRPr lang="en-US" sz="2400" b="1" dirty="0">
              <a:solidFill>
                <a:srgbClr val="222222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en-US" sz="2400" dirty="0" smtClean="0">
              <a:solidFill>
                <a:srgbClr val="2B91AF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400" dirty="0" err="1" smtClean="0">
                <a:solidFill>
                  <a:srgbClr val="2B91A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Console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2400" dirty="0" err="1" smtClean="0">
                <a:solidFill>
                  <a:srgbClr val="001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WriteLine</a:t>
            </a:r>
            <a:r>
              <a:rPr lang="en-US" sz="2400" dirty="0" smtClean="0">
                <a:solidFill>
                  <a:srgbClr val="222222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2400" dirty="0" smtClean="0">
                <a:solidFill>
                  <a:srgbClr val="795E26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Add</a:t>
            </a:r>
            <a:r>
              <a:rPr lang="en-US" sz="2400" dirty="0" smtClean="0">
                <a:solidFill>
                  <a:srgbClr val="222222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2400" dirty="0" smtClean="0">
                <a:solidFill>
                  <a:srgbClr val="098658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  <a:r>
              <a:rPr lang="en-US" sz="2400" dirty="0">
                <a:solidFill>
                  <a:srgbClr val="222222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98658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10</a:t>
            </a:r>
            <a:r>
              <a:rPr lang="en-US" sz="2400" dirty="0">
                <a:solidFill>
                  <a:srgbClr val="222222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));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  </a:t>
            </a:r>
            <a:r>
              <a:rPr lang="en-US" sz="2400" dirty="0" smtClean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//</a:t>
            </a:r>
            <a:r>
              <a:rPr lang="ru-RU" sz="2400" dirty="0" smtClean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Вызов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метода с двумя </a:t>
            </a:r>
            <a:r>
              <a:rPr lang="en-US" sz="2400" dirty="0" err="1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int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2B91A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Console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2400" dirty="0" err="1" smtClean="0">
                <a:solidFill>
                  <a:srgbClr val="001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WriteLine</a:t>
            </a:r>
            <a:r>
              <a:rPr lang="en-US" sz="2400" dirty="0" smtClean="0">
                <a:solidFill>
                  <a:srgbClr val="222222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2400" dirty="0" smtClean="0">
                <a:solidFill>
                  <a:srgbClr val="795E26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Add</a:t>
            </a:r>
            <a:r>
              <a:rPr lang="en-US" sz="2400" dirty="0" smtClean="0">
                <a:solidFill>
                  <a:srgbClr val="222222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2400" dirty="0" smtClean="0">
                <a:solidFill>
                  <a:srgbClr val="098658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5.5</a:t>
            </a:r>
            <a:r>
              <a:rPr lang="en-US" sz="2400" dirty="0">
                <a:solidFill>
                  <a:srgbClr val="222222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98658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10.5</a:t>
            </a:r>
            <a:r>
              <a:rPr lang="en-US" sz="2400" dirty="0" smtClean="0">
                <a:solidFill>
                  <a:srgbClr val="222222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));</a:t>
            </a:r>
            <a:r>
              <a:rPr lang="en-US" sz="2400" dirty="0" smtClean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//</a:t>
            </a:r>
            <a:r>
              <a:rPr lang="ru-RU" sz="2400" dirty="0" smtClean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Вызов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метода с двумя 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double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2B91AF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Console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  <a:r>
              <a:rPr lang="en-US" sz="2400" dirty="0" err="1" smtClean="0">
                <a:solidFill>
                  <a:srgbClr val="00108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WriteLine</a:t>
            </a:r>
            <a:r>
              <a:rPr lang="en-US" sz="2400" dirty="0" smtClean="0">
                <a:solidFill>
                  <a:srgbClr val="222222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2400" dirty="0" smtClean="0">
                <a:solidFill>
                  <a:srgbClr val="795E26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Add</a:t>
            </a:r>
            <a:r>
              <a:rPr lang="en-US" sz="2400" dirty="0" smtClean="0">
                <a:solidFill>
                  <a:srgbClr val="222222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2400" dirty="0" smtClean="0">
                <a:solidFill>
                  <a:srgbClr val="098658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5</a:t>
            </a:r>
            <a:r>
              <a:rPr lang="en-US" sz="2400" dirty="0">
                <a:solidFill>
                  <a:srgbClr val="222222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98658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10</a:t>
            </a:r>
            <a:r>
              <a:rPr lang="en-US" sz="2400" dirty="0">
                <a:solidFill>
                  <a:srgbClr val="222222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98658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15</a:t>
            </a:r>
            <a:r>
              <a:rPr lang="en-US" sz="2400" dirty="0" smtClean="0">
                <a:solidFill>
                  <a:srgbClr val="222222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));</a:t>
            </a:r>
            <a:r>
              <a:rPr lang="en-US" sz="2400" dirty="0" smtClean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//</a:t>
            </a:r>
            <a:r>
              <a:rPr lang="ru-RU" sz="2400" dirty="0" smtClean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Вызов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метода с тремя </a:t>
            </a:r>
            <a:r>
              <a:rPr lang="en-US" sz="2400" dirty="0" err="1" smtClean="0">
                <a:solidFill>
                  <a:srgbClr val="008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int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4443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51" r="23767"/>
          <a:stretch/>
        </p:blipFill>
        <p:spPr>
          <a:xfrm>
            <a:off x="6807199" y="1773086"/>
            <a:ext cx="4934859" cy="4939771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0" y="0"/>
            <a:ext cx="12192000" cy="1754326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latin typeface="Bookman Old Style" panose="02050604050505020204" pitchFamily="18" charset="0"/>
              </a:rPr>
              <a:t>Полиморфизм подтипов</a:t>
            </a:r>
            <a:r>
              <a:rPr lang="en-US" sz="2400" b="1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– </a:t>
            </a:r>
            <a:r>
              <a:rPr lang="ru-RU" sz="2400" dirty="0">
                <a:latin typeface="Bookman Old Style" panose="02050604050505020204" pitchFamily="18" charset="0"/>
              </a:rPr>
              <a:t>свойство системы, позволяющее использовать объекты с одинаковым </a:t>
            </a:r>
            <a:r>
              <a:rPr lang="ru-RU" sz="2400" dirty="0" smtClean="0">
                <a:latin typeface="Bookman Old Style" panose="02050604050505020204" pitchFamily="18" charset="0"/>
              </a:rPr>
              <a:t>интерфейсом</a:t>
            </a:r>
            <a:r>
              <a:rPr lang="en-US" sz="2400" dirty="0" smtClean="0">
                <a:latin typeface="Bookman Old Style" panose="02050604050505020204" pitchFamily="18" charset="0"/>
              </a:rPr>
              <a:t> (</a:t>
            </a:r>
            <a:r>
              <a:rPr lang="ru-RU" sz="2400" dirty="0" smtClean="0">
                <a:latin typeface="Bookman Old Style" panose="02050604050505020204" pitchFamily="18" charset="0"/>
              </a:rPr>
              <a:t>набором методов</a:t>
            </a:r>
            <a:r>
              <a:rPr lang="en-US" sz="2400" dirty="0" smtClean="0">
                <a:latin typeface="Bookman Old Style" panose="02050604050505020204" pitchFamily="18" charset="0"/>
              </a:rPr>
              <a:t>)</a:t>
            </a:r>
            <a:r>
              <a:rPr lang="ru-RU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>
                <a:latin typeface="Bookman Old Style" panose="02050604050505020204" pitchFamily="18" charset="0"/>
              </a:rPr>
              <a:t>без информации о типе и внутренней структуре объекта. </a:t>
            </a:r>
            <a:endParaRPr lang="ru-RU" sz="2400" dirty="0" smtClean="0">
              <a:latin typeface="Bookman Old Style" panose="020506040505050202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2257812"/>
            <a:ext cx="6807199" cy="3970318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 </a:t>
            </a:r>
            <a:r>
              <a:rPr lang="ru-RU" sz="2400" dirty="0">
                <a:latin typeface="Bookman Old Style" panose="02050604050505020204" pitchFamily="18" charset="0"/>
              </a:rPr>
              <a:t>отличие от специального полиморфизма, где решение о том, какая реализация вызывается, принимается на этапе компиляции (раннее связывание), в полиморфизме подтипов оно принимается во время выполнения (позднее связывание).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624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655564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Animal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Базовый метод </a:t>
            </a:r>
            <a:r>
              <a:rPr lang="ru-RU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Speak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который будет переопределен в производных классах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virtual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Speak()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Животное издает звук."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Ключевое слово </a:t>
            </a:r>
            <a:r>
              <a:rPr lang="ru-RU" sz="2400" b="1" dirty="0" err="1">
                <a:solidFill>
                  <a:srgbClr val="000000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virtual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 используется в базовом классе для определения метода, который может быть переопределен в производных классах. Это означает, что вы можете задать стандартное поведение для метода, но также позволить производным классам изменять это поведение в соответствии с их требованиями.</a:t>
            </a:r>
          </a:p>
        </p:txBody>
      </p:sp>
    </p:spTree>
    <p:extLst>
      <p:ext uri="{BB962C8B-B14F-4D97-AF65-F5344CB8AC3E}">
        <p14:creationId xmlns:p14="http://schemas.microsoft.com/office/powerpoint/2010/main" val="733768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Animal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Переопределение метода </a:t>
            </a:r>
            <a:r>
              <a:rPr lang="ru-RU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Speak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для Кошки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override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Speak()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Кошка говорит: Мяу!"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Ключевое слово </a:t>
            </a:r>
            <a:r>
              <a:rPr lang="ru-RU" sz="24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override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 используется в производном классе для переопределения метода, который был объявлен как </a:t>
            </a:r>
            <a:r>
              <a:rPr lang="ru-RU" sz="24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virtual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Bookman Old Style" panose="02050604050505020204" pitchFamily="18" charset="0"/>
              </a:rPr>
              <a:t> в базовом классе. Это позволяет вам предоставить конкретную реализацию метода, отличную от той, что была определена в базовом классе.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9128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637097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Animal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Переопределение метода </a:t>
            </a:r>
            <a:r>
              <a:rPr lang="ru-RU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Speak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для Собаки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override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Speak()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Собака говорит: Гав!"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Animal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Переопределение метода </a:t>
            </a:r>
            <a:r>
              <a:rPr lang="ru-RU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Speak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для Коровы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override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Speak()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Корова говорит: </a:t>
            </a:r>
            <a:r>
              <a:rPr lang="ru-RU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Му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!"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029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600164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args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Создаем массив животных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Animal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 animals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Animal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(),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(),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Вызываем метод </a:t>
            </a:r>
            <a:r>
              <a:rPr lang="ru-RU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Speak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для каждого животного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foreach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Animal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animal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animals)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animal.Speak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  <a:endParaRPr lang="en-US" sz="2400" dirty="0">
              <a:latin typeface="Bookman Old Style" panose="020506040505050202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8683" y="4791076"/>
            <a:ext cx="5706592" cy="155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197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654356"/>
            <a:ext cx="12192000" cy="637097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Рассмотрим два способа переопределения методов в классах-потомках.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 случае с полиморфизмом получим:</a:t>
            </a:r>
            <a:endParaRPr lang="ru-RU" sz="2400" dirty="0">
              <a:latin typeface="Bookman Old Style" panose="02050604050505020204" pitchFamily="18" charset="0"/>
            </a:endParaRPr>
          </a:p>
          <a:p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Animal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virtual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Speak()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"Animal speaks"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Animal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override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Speak()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"Dog barks"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sp>
        <p:nvSpPr>
          <p:cNvPr id="3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Сравнение полиморфизма подтипов и сокрытия</a:t>
            </a:r>
            <a:endParaRPr lang="en-US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1005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4339650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endParaRPr lang="ru-RU" sz="2400" dirty="0" smtClean="0">
              <a:solidFill>
                <a:srgbClr val="2B91A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Dog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dog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US" sz="2400" dirty="0" smtClean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Animal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animal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dog;</a:t>
            </a:r>
          </a:p>
          <a:p>
            <a:endParaRPr lang="en-US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dog.Speak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Вывод: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Dog barks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animal.Speak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Вывод: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Dog </a:t>
            </a:r>
            <a:r>
              <a:rPr lang="en-US" sz="24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barks</a:t>
            </a:r>
          </a:p>
          <a:p>
            <a:endParaRPr lang="en-US" sz="2400" dirty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В переменных </a:t>
            </a:r>
            <a:r>
              <a:rPr lang="en-US" sz="2400" dirty="0" smtClean="0">
                <a:latin typeface="Bookman Old Style" panose="02050604050505020204" pitchFamily="18" charset="0"/>
              </a:rPr>
              <a:t>dog </a:t>
            </a:r>
            <a:r>
              <a:rPr lang="ru-RU" sz="2400" dirty="0" smtClean="0">
                <a:latin typeface="Bookman Old Style" panose="02050604050505020204" pitchFamily="18" charset="0"/>
              </a:rPr>
              <a:t>и </a:t>
            </a:r>
            <a:r>
              <a:rPr lang="en-US" sz="2400" dirty="0" smtClean="0">
                <a:latin typeface="Bookman Old Style" panose="02050604050505020204" pitchFamily="18" charset="0"/>
              </a:rPr>
              <a:t>animal </a:t>
            </a:r>
            <a:r>
              <a:rPr lang="ru-RU" sz="2400" dirty="0" smtClean="0">
                <a:latin typeface="Bookman Old Style" panose="02050604050505020204" pitchFamily="18" charset="0"/>
              </a:rPr>
              <a:t>лежит объект собаки, при вызове метода </a:t>
            </a:r>
            <a:r>
              <a:rPr lang="en-US" sz="2400" dirty="0" smtClean="0">
                <a:latin typeface="Bookman Old Style" panose="02050604050505020204" pitchFamily="18" charset="0"/>
              </a:rPr>
              <a:t>Speak </a:t>
            </a:r>
            <a:r>
              <a:rPr lang="ru-RU" sz="2400" dirty="0" smtClean="0">
                <a:latin typeface="Bookman Old Style" panose="02050604050505020204" pitchFamily="18" charset="0"/>
              </a:rPr>
              <a:t>в обоих случаях вызывается метод того класса, объект которого находится в переменной.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727" y="4624674"/>
            <a:ext cx="2838846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170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55564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Рассмотрим сокрытие:</a:t>
            </a:r>
            <a:endParaRPr lang="ru-RU" sz="2400" dirty="0"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Animal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Speak()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"Animal speaks"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Animal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   </a:t>
            </a:r>
            <a:r>
              <a:rPr lang="ru-RU" sz="2400" dirty="0" smtClean="0">
                <a:solidFill>
                  <a:srgbClr val="00B05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Сокрытие с помощью слова </a:t>
            </a:r>
            <a:r>
              <a:rPr lang="en-US" sz="2400" dirty="0" smtClean="0">
                <a:solidFill>
                  <a:srgbClr val="00B05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 (</a:t>
            </a:r>
            <a:r>
              <a:rPr lang="ru-RU" sz="2400" dirty="0" smtClean="0">
                <a:solidFill>
                  <a:srgbClr val="00B05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не обязательно</a:t>
            </a:r>
            <a:r>
              <a:rPr lang="en-US" sz="2400" dirty="0" smtClean="0">
                <a:solidFill>
                  <a:srgbClr val="00B05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ru-RU" sz="2400" dirty="0">
              <a:solidFill>
                <a:srgbClr val="00B05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Speak()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"Dog barks"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 smtClean="0">
                <a:latin typeface="Bookman Old Style" panose="02050604050505020204" pitchFamily="18" charset="0"/>
              </a:rPr>
              <a:t>Метод может быть как виртуальным так и нет.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435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Dog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dog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r>
              <a:rPr lang="en-US" sz="2400" dirty="0" smtClean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Animal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animal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dog;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dog.Speak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Вывод: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Dog barks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animal.Speak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Вывод: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Animal speaks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 err="1" smtClean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smtClean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$"'animal' is Dog ? 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{animal </a:t>
            </a:r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Dog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2400" dirty="0" smtClean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 </a:t>
            </a:r>
            <a:r>
              <a:rPr lang="en-US" sz="24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true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Не смотря на то, что в переменных </a:t>
            </a:r>
            <a:r>
              <a:rPr lang="en-US" sz="2400" dirty="0" smtClean="0">
                <a:latin typeface="Bookman Old Style" panose="02050604050505020204" pitchFamily="18" charset="0"/>
              </a:rPr>
              <a:t>dog </a:t>
            </a:r>
            <a:r>
              <a:rPr lang="ru-RU" sz="2400" dirty="0" smtClean="0">
                <a:latin typeface="Bookman Old Style" panose="02050604050505020204" pitchFamily="18" charset="0"/>
              </a:rPr>
              <a:t>и </a:t>
            </a:r>
            <a:r>
              <a:rPr lang="en-US" sz="2400" dirty="0" smtClean="0">
                <a:latin typeface="Bookman Old Style" panose="02050604050505020204" pitchFamily="18" charset="0"/>
              </a:rPr>
              <a:t>animal </a:t>
            </a:r>
            <a:r>
              <a:rPr lang="ru-RU" sz="2400" dirty="0" smtClean="0">
                <a:latin typeface="Bookman Old Style" panose="02050604050505020204" pitchFamily="18" charset="0"/>
              </a:rPr>
              <a:t>лежит объект собаки, при вызове метода </a:t>
            </a:r>
            <a:r>
              <a:rPr lang="en-US" sz="2400" dirty="0" smtClean="0">
                <a:latin typeface="Bookman Old Style" panose="02050604050505020204" pitchFamily="18" charset="0"/>
              </a:rPr>
              <a:t>Speak </a:t>
            </a:r>
            <a:r>
              <a:rPr lang="ru-RU" sz="2400" dirty="0" smtClean="0">
                <a:latin typeface="Bookman Old Style" panose="02050604050505020204" pitchFamily="18" charset="0"/>
              </a:rPr>
              <a:t>вызывается метод класса, соответствующего типу переменной.</a:t>
            </a: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dirty="0" smtClean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</a:rPr>
              <a:t>Сокрытия стоит избегать ввиду неочевидного поведения объекта.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7481" y="4575881"/>
            <a:ext cx="6006036" cy="149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330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654356"/>
            <a:ext cx="12192000" cy="507831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Абстрактный класс похож на обычный класс. Он также может иметь переменные, методы, конструкторы, свойства. Единственное, что при определении абстрактных классов используется ключевое слово </a:t>
            </a:r>
            <a:r>
              <a:rPr lang="ru-RU" sz="2400" b="1" dirty="0" err="1">
                <a:latin typeface="Bookman Old Style" panose="02050604050505020204" pitchFamily="18" charset="0"/>
              </a:rPr>
              <a:t>abstract</a:t>
            </a:r>
            <a:r>
              <a:rPr lang="ru-RU" sz="2400" dirty="0">
                <a:latin typeface="Bookman Old Style" panose="02050604050505020204" pitchFamily="18" charset="0"/>
              </a:rPr>
              <a:t>. </a:t>
            </a:r>
            <a:r>
              <a:rPr lang="ru-RU" sz="2400" b="1" dirty="0" smtClean="0">
                <a:latin typeface="Bookman Old Style" panose="02050604050505020204" pitchFamily="18" charset="0"/>
              </a:rPr>
              <a:t>Экземпляр абстрактного класса создать нельзя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</a:endParaRPr>
          </a:p>
          <a:p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abstract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Animal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ru-RU" sz="24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Базовый метод </a:t>
            </a:r>
            <a:r>
              <a:rPr lang="ru-RU" sz="2400" dirty="0" err="1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Speak</a:t>
            </a:r>
            <a:r>
              <a:rPr lang="ru-RU" sz="24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который будет переопределен в производных классах</a:t>
            </a:r>
            <a:endParaRPr lang="ru-RU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abstract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Speak();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200" dirty="0">
              <a:latin typeface="Bookman Old Style" panose="02050604050505020204" pitchFamily="18" charset="0"/>
            </a:endParaRPr>
          </a:p>
        </p:txBody>
      </p:sp>
      <p:sp>
        <p:nvSpPr>
          <p:cNvPr id="6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Абстрактные классы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219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0"/>
            <a:ext cx="12192000" cy="637097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Animal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Реализация метода </a:t>
            </a:r>
            <a:r>
              <a:rPr lang="ru-RU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Speak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для собаки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override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Speak()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Гав!"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Animal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Реализация метода </a:t>
            </a:r>
            <a:r>
              <a:rPr lang="ru-RU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Speak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для кошки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override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Speak()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Мяу!"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327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0"/>
            <a:ext cx="12192000" cy="507831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Animal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Реализация метода </a:t>
            </a:r>
            <a:r>
              <a:rPr lang="ru-RU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Speak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для коровы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override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Speak()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2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Му</a:t>
            </a:r>
            <a:r>
              <a:rPr lang="ru-RU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!"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Использование абстрактного класса позволяет задать общий интерфейс для всех производных классов и гарантирует, что каждый класс реализует свой собственный метод </a:t>
            </a:r>
            <a:r>
              <a:rPr lang="ru-RU" sz="2400" dirty="0" err="1">
                <a:latin typeface="Bookman Old Style" panose="02050604050505020204" pitchFamily="18" charset="0"/>
                <a:cs typeface="Times New Roman" panose="02020603050405020304" pitchFamily="18" charset="0"/>
              </a:rPr>
              <a:t>Speak</a:t>
            </a:r>
            <a:r>
              <a:rPr lang="ru-RU" sz="2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5862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1999" cy="600164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static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args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Создаем массив животных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Animal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 animals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Animal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Dog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(),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Cat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(),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Вызываем метод </a:t>
            </a:r>
            <a:r>
              <a:rPr lang="ru-RU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Speak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для каждого животного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foreach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animal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animals)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Console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.WriteLine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animal.Speak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());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3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7450" y="4691164"/>
            <a:ext cx="1304998" cy="1767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562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12192000" cy="120032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solidFill>
                  <a:srgbClr val="24292F"/>
                </a:solidFill>
                <a:latin typeface="Bookman Old Style" panose="02050604050505020204" pitchFamily="18" charset="0"/>
              </a:rPr>
              <a:t>В отличие от предыдущего примера среда разработки не позволит создать экземпляр абстрактного животного:</a:t>
            </a:r>
            <a:endParaRPr lang="ru-RU" sz="2400" dirty="0" smtClean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5633" y="1657529"/>
            <a:ext cx="6344535" cy="819264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17" y="2667472"/>
            <a:ext cx="10355040" cy="1690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722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507831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24292F"/>
                </a:solidFill>
                <a:latin typeface="Bookman Old Style" panose="02050604050505020204" pitchFamily="18" charset="0"/>
              </a:rPr>
              <a:t>Абстрактные классы в объектно-ориентированном программировании (ООП) играют важную роль и имеют несколько ключевых целей и преимуществ. Вот основные из них:</a:t>
            </a:r>
          </a:p>
          <a:p>
            <a:pPr algn="just">
              <a:lnSpc>
                <a:spcPct val="150000"/>
              </a:lnSpc>
            </a:pPr>
            <a:r>
              <a:rPr lang="ru-RU" sz="2400" b="1" dirty="0">
                <a:solidFill>
                  <a:srgbClr val="24292F"/>
                </a:solidFill>
                <a:latin typeface="Bookman Old Style" panose="02050604050505020204" pitchFamily="18" charset="0"/>
              </a:rPr>
              <a:t>1. Определение общего интерфейса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24292F"/>
                </a:solidFill>
                <a:latin typeface="Bookman Old Style" panose="02050604050505020204" pitchFamily="18" charset="0"/>
              </a:rPr>
              <a:t>Абстрактный класс позволяет определить общий интерфейс для группы связанных классов. Он может содержать как абстрактные методы (без реализации), так и методы с реализацией. Это позволяет производным классам следовать единому контракту, обеспечивая единообразие в их поведении</a:t>
            </a:r>
            <a:r>
              <a:rPr lang="ru-RU" sz="2400" dirty="0" smtClean="0">
                <a:solidFill>
                  <a:srgbClr val="24292F"/>
                </a:solidFill>
                <a:latin typeface="Bookman Old Style" panose="02050604050505020204" pitchFamily="18" charset="0"/>
              </a:rPr>
              <a:t>.</a:t>
            </a:r>
            <a:endParaRPr lang="ru-RU" sz="2400" dirty="0">
              <a:solidFill>
                <a:srgbClr val="24292F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187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solidFill>
                  <a:srgbClr val="24292F"/>
                </a:solidFill>
                <a:latin typeface="Bookman Old Style" panose="02050604050505020204" pitchFamily="18" charset="0"/>
              </a:rPr>
              <a:t>2</a:t>
            </a:r>
            <a:r>
              <a:rPr lang="ru-RU" sz="2400" b="1" dirty="0">
                <a:solidFill>
                  <a:srgbClr val="24292F"/>
                </a:solidFill>
                <a:latin typeface="Bookman Old Style" panose="02050604050505020204" pitchFamily="18" charset="0"/>
              </a:rPr>
              <a:t>. Повторное использование кода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24292F"/>
                </a:solidFill>
                <a:latin typeface="Bookman Old Style" panose="02050604050505020204" pitchFamily="18" charset="0"/>
              </a:rPr>
              <a:t>Абстрактные классы могут содержать общую реализацию, которую могут использовать производные классы. Это помогает избежать дублирования кода и упрощает его поддержку. Например, если у вас есть несколько классов, которые имеют общие свойства или методы, их можно вынести в абстрактный класс.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>
                <a:solidFill>
                  <a:srgbClr val="24292F"/>
                </a:solidFill>
                <a:latin typeface="Bookman Old Style" panose="02050604050505020204" pitchFamily="18" charset="0"/>
              </a:rPr>
              <a:t>3. Создание иерархий классов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24292F"/>
                </a:solidFill>
                <a:latin typeface="Bookman Old Style" panose="02050604050505020204" pitchFamily="18" charset="0"/>
              </a:rPr>
              <a:t>Абстрактные классы позволяют создавать иерархии классов, где общий функционал сосредоточен в базовом классе, а специфические детали реализуются в производных классах. Это делает структуру кода более организованной и понятной</a:t>
            </a:r>
            <a:r>
              <a:rPr lang="ru-RU" sz="2400" dirty="0" smtClean="0">
                <a:solidFill>
                  <a:srgbClr val="24292F"/>
                </a:solidFill>
                <a:latin typeface="Bookman Old Style" panose="02050604050505020204" pitchFamily="18" charset="0"/>
              </a:rPr>
              <a:t>.</a:t>
            </a:r>
            <a:endParaRPr lang="ru-RU" sz="2400" dirty="0">
              <a:solidFill>
                <a:srgbClr val="24292F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4881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smtClean="0">
                <a:solidFill>
                  <a:srgbClr val="24292F"/>
                </a:solidFill>
                <a:latin typeface="Bookman Old Style" panose="02050604050505020204" pitchFamily="18" charset="0"/>
              </a:rPr>
              <a:t>4</a:t>
            </a:r>
            <a:r>
              <a:rPr lang="ru-RU" sz="2400" b="1" dirty="0">
                <a:solidFill>
                  <a:srgbClr val="24292F"/>
                </a:solidFill>
                <a:latin typeface="Bookman Old Style" panose="02050604050505020204" pitchFamily="18" charset="0"/>
              </a:rPr>
              <a:t>. Запрет на создание экземпляров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24292F"/>
                </a:solidFill>
                <a:latin typeface="Bookman Old Style" panose="02050604050505020204" pitchFamily="18" charset="0"/>
              </a:rPr>
              <a:t>Вы не можете создавать экземпляры абстрактного класса. Это означает, что он предназначен только для использования в качестве базового класса, что помогает предотвратить создание объектов, которые не имеют полной реализации.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>
                <a:solidFill>
                  <a:srgbClr val="24292F"/>
                </a:solidFill>
                <a:latin typeface="Bookman Old Style" panose="02050604050505020204" pitchFamily="18" charset="0"/>
              </a:rPr>
              <a:t>5. Поддержка полиморфизма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24292F"/>
                </a:solidFill>
                <a:latin typeface="Bookman Old Style" panose="02050604050505020204" pitchFamily="18" charset="0"/>
              </a:rPr>
              <a:t>Абстрактные классы поддерживают полиморфизм. Вы можете использовать ссылки на абстрактный класс для работы с объектами производных классов. Это позволяет писать более гибкий и расширяемый код.</a:t>
            </a:r>
            <a:endParaRPr lang="ru-RU" sz="2400" b="0" i="0" dirty="0">
              <a:solidFill>
                <a:srgbClr val="24292F"/>
              </a:solidFill>
              <a:effectLst/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6635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13431</TotalTime>
  <Words>2554</Words>
  <Application>Microsoft Office PowerPoint</Application>
  <PresentationFormat>Широкоэкранный</PresentationFormat>
  <Paragraphs>453</Paragraphs>
  <Slides>42</Slides>
  <Notes>42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42</vt:i4>
      </vt:variant>
    </vt:vector>
  </HeadingPairs>
  <TitlesOfParts>
    <vt:vector size="49" baseType="lpstr">
      <vt:lpstr>Arial</vt:lpstr>
      <vt:lpstr>Bookman Old Style</vt:lpstr>
      <vt:lpstr>Calibri</vt:lpstr>
      <vt:lpstr>Calibri Light</vt:lpstr>
      <vt:lpstr>Cascadia Mono</vt:lpstr>
      <vt:lpstr>Times New Roman</vt:lpstr>
      <vt:lpstr>Тема Office</vt:lpstr>
      <vt:lpstr>2 семестр Лекция 3.  Содержание лекции: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ПРОГРАММЫ ДЛЯ РАСЧЁТА ПРОДОЛЬНО-ПОПЕРЕЧНЫХ КОЛЕБАНИЙ СТВОЛА АРТИЛЛЕРИЙСКОГО ОРУДИЯ</dc:title>
  <dc:creator>vsufiy</dc:creator>
  <cp:lastModifiedBy>Daniil Kljukin</cp:lastModifiedBy>
  <cp:revision>711</cp:revision>
  <dcterms:modified xsi:type="dcterms:W3CDTF">2026-03-06T04:10:21Z</dcterms:modified>
</cp:coreProperties>
</file>