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0"/>
  </p:notesMasterIdLst>
  <p:sldIdLst>
    <p:sldId id="273" r:id="rId2"/>
    <p:sldId id="1070" r:id="rId3"/>
    <p:sldId id="1071" r:id="rId4"/>
    <p:sldId id="1072" r:id="rId5"/>
    <p:sldId id="1062" r:id="rId6"/>
    <p:sldId id="1063" r:id="rId7"/>
    <p:sldId id="1061" r:id="rId8"/>
    <p:sldId id="1050" r:id="rId9"/>
    <p:sldId id="1049" r:id="rId10"/>
    <p:sldId id="1064" r:id="rId11"/>
    <p:sldId id="1079" r:id="rId12"/>
    <p:sldId id="1051" r:id="rId13"/>
    <p:sldId id="1052" r:id="rId14"/>
    <p:sldId id="1053" r:id="rId15"/>
    <p:sldId id="1054" r:id="rId16"/>
    <p:sldId id="984" r:id="rId17"/>
    <p:sldId id="1044" r:id="rId18"/>
    <p:sldId id="1027" r:id="rId19"/>
    <p:sldId id="1003" r:id="rId20"/>
    <p:sldId id="1045" r:id="rId21"/>
    <p:sldId id="1004" r:id="rId22"/>
    <p:sldId id="1028" r:id="rId23"/>
    <p:sldId id="1005" r:id="rId24"/>
    <p:sldId id="1006" r:id="rId25"/>
    <p:sldId id="1007" r:id="rId26"/>
    <p:sldId id="1060" r:id="rId27"/>
    <p:sldId id="1008" r:id="rId28"/>
    <p:sldId id="1009" r:id="rId29"/>
    <p:sldId id="1047" r:id="rId30"/>
    <p:sldId id="1011" r:id="rId31"/>
    <p:sldId id="1055" r:id="rId32"/>
    <p:sldId id="1073" r:id="rId33"/>
    <p:sldId id="1074" r:id="rId34"/>
    <p:sldId id="1075" r:id="rId35"/>
    <p:sldId id="1076" r:id="rId36"/>
    <p:sldId id="1077" r:id="rId37"/>
    <p:sldId id="1078" r:id="rId38"/>
    <p:sldId id="1057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82523" autoAdjust="0"/>
  </p:normalViewPr>
  <p:slideViewPr>
    <p:cSldViewPr snapToGrid="0">
      <p:cViewPr varScale="1">
        <p:scale>
          <a:sx n="92" d="100"/>
          <a:sy n="92" d="100"/>
        </p:scale>
        <p:origin x="1176" y="9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2/9/2026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9F%D1%80%D0%B5%D0%BC%D0%B8%D1%8F_%D0%9A%D0%B8%D0%BE%D1%82%D0%B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://en.wikipedia.org/wiki/Smalltalk" TargetMode="External"/><Relationship Id="rId4" Type="http://schemas.openxmlformats.org/officeDocument/2006/relationships/hyperlink" Target="https://ru.wikipedia.org/wiki/%D0%9F%D1%80%D0%B5%D0%BC%D0%B8%D1%8F_%D0%A2%D1%8C%D1%8E%D1%80%D0%B8%D0%BD%D0%B3%D0%B0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381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Алана очень яркая карьера в информатике. Он получил </a:t>
            </a:r>
            <a:r>
              <a:rPr lang="ru-RU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Премию Киото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и </a:t>
            </a:r>
            <a:r>
              <a:rPr lang="ru-RU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Премию Тьюринга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за работу над парадигмой объектно-ориентированного программирования. Он был одним из первопроходцев в области персональных компьютеров и графического интерфейса, он разработал </a:t>
            </a:r>
            <a:r>
              <a:rPr lang="ru-RU" sz="1200" b="0" i="0" u="none" strike="noStrike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Smalltalk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один из первых самых влиятельных языков программирования всех времен.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3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195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002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901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971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4938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7407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74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290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1587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3455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03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5509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4907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3829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0990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5297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571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79188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413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6679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7709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714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1201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1393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909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949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1663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7376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9079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7202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2909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9090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307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831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37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metanit.com/sharp/tutorial/3.2.php" TargetMode="External"/><Relationship Id="rId7" Type="http://schemas.openxmlformats.org/officeDocument/2006/relationships/hyperlink" Target="https://ulearn.me/course/cs2/Svoystva_76ec7986-01b1-43ef-9022-8228ce25a9ed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microsoft.com/ru-ru/dotnet/csharp/properties" TargetMode="External"/><Relationship Id="rId5" Type="http://schemas.openxmlformats.org/officeDocument/2006/relationships/hyperlink" Target="https://metanit.com/sharp/tutorial/3.4.php" TargetMode="External"/><Relationship Id="rId4" Type="http://schemas.openxmlformats.org/officeDocument/2006/relationships/hyperlink" Target="https://learn.microsoft.com/ru-ru/dotnet/csharp/programming-guide/classes-and-structs/access-modifie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1107306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=""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5468" y="2816961"/>
            <a:ext cx="8978016" cy="1670194"/>
          </a:xfrm>
        </p:spPr>
        <p:txBody>
          <a:bodyPr>
            <a:noAutofit/>
          </a:bodyPr>
          <a:lstStyle/>
          <a:p>
            <a:pPr algn="l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 семестр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2.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35468" y="4487155"/>
            <a:ext cx="1104134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Инкапсуляция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Модификаторы доступа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Свойства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ООП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Объе́ктно-ориенти́рованное</a:t>
            </a:r>
            <a:r>
              <a:rPr lang="ru-RU" sz="2400" b="1" dirty="0">
                <a:latin typeface="Bookman Old Style" panose="02050604050505020204" pitchFamily="18" charset="0"/>
              </a:rPr>
              <a:t> программирование (сокр. ООП)</a:t>
            </a:r>
            <a:r>
              <a:rPr lang="ru-RU" sz="2400" dirty="0">
                <a:latin typeface="Bookman Old Style" panose="02050604050505020204" pitchFamily="18" charset="0"/>
              </a:rPr>
              <a:t> — методология программирования, основанная на представлении программы в виде совокупности взаимодействующих </a:t>
            </a:r>
            <a:r>
              <a:rPr lang="ru-RU" sz="2400" b="1" dirty="0">
                <a:latin typeface="Bookman Old Style" panose="02050604050505020204" pitchFamily="18" charset="0"/>
              </a:rPr>
              <a:t>объектов</a:t>
            </a:r>
            <a:r>
              <a:rPr lang="ru-RU" sz="2400" dirty="0">
                <a:latin typeface="Bookman Old Style" panose="02050604050505020204" pitchFamily="18" charset="0"/>
              </a:rPr>
              <a:t>, каждый из которых является экземпляром определённого </a:t>
            </a:r>
            <a:r>
              <a:rPr lang="ru-RU" sz="2400" b="1" dirty="0">
                <a:latin typeface="Bookman Old Style" panose="02050604050505020204" pitchFamily="18" charset="0"/>
              </a:rPr>
              <a:t>класса</a:t>
            </a:r>
            <a:r>
              <a:rPr lang="ru-RU" sz="2400" dirty="0">
                <a:latin typeface="Bookman Old Style" panose="02050604050505020204" pitchFamily="18" charset="0"/>
              </a:rPr>
              <a:t>, а классы образуют </a:t>
            </a:r>
            <a:r>
              <a:rPr lang="ru-RU" sz="2400" b="1" dirty="0">
                <a:latin typeface="Bookman Old Style" panose="02050604050505020204" pitchFamily="18" charset="0"/>
              </a:rPr>
              <a:t>иерархию наследования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Идеологически ООП — подход к программированию как к моделированию информационных </a:t>
            </a:r>
            <a:r>
              <a:rPr lang="ru-RU" sz="2400" b="1" dirty="0">
                <a:latin typeface="Bookman Old Style" panose="02050604050505020204" pitchFamily="18" charset="0"/>
              </a:rPr>
              <a:t>объектов</a:t>
            </a:r>
            <a:r>
              <a:rPr lang="ru-RU" sz="2400" dirty="0">
                <a:latin typeface="Bookman Old Style" panose="02050604050505020204" pitchFamily="18" charset="0"/>
              </a:rPr>
              <a:t>, решающий на новом уровне основную задачу структурного программирования: структурирование информации с точки зрения управляемости, что существенно улучшает управляемость самим процессом моделирования, что, в свою очередь, особенно важно при реализации крупных проектов.</a:t>
            </a:r>
          </a:p>
        </p:txBody>
      </p:sp>
    </p:spTree>
    <p:extLst>
      <p:ext uri="{BB962C8B-B14F-4D97-AF65-F5344CB8AC3E}">
        <p14:creationId xmlns:p14="http://schemas.microsoft.com/office/powerpoint/2010/main" val="3226580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9029699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«Термины «</a:t>
            </a:r>
            <a:r>
              <a:rPr lang="ru-RU" sz="2400" dirty="0" err="1" smtClean="0">
                <a:latin typeface="Bookman Old Style" panose="02050604050505020204" pitchFamily="18" charset="0"/>
              </a:rPr>
              <a:t>объектно</a:t>
            </a:r>
            <a:r>
              <a:rPr lang="ru-RU" sz="2400" dirty="0" smtClean="0">
                <a:latin typeface="Bookman Old Style" panose="02050604050505020204" pitchFamily="18" charset="0"/>
              </a:rPr>
              <a:t>» </a:t>
            </a:r>
            <a:r>
              <a:rPr lang="ru-RU" sz="2400" dirty="0">
                <a:latin typeface="Bookman Old Style" panose="02050604050505020204" pitchFamily="18" charset="0"/>
              </a:rPr>
              <a:t>и «ориентированный» в современном смысле этих слов появились в MIT в конце 1950 начале 1960 годов. В среде специалистов по искусственному интеллекту термин «объект» мог относиться к идентифицированным элементам (атомы </a:t>
            </a:r>
            <a:r>
              <a:rPr lang="ru-RU" sz="2400" dirty="0" err="1">
                <a:latin typeface="Bookman Old Style" panose="02050604050505020204" pitchFamily="18" charset="0"/>
              </a:rPr>
              <a:t>Lisp</a:t>
            </a:r>
            <a:r>
              <a:rPr lang="ru-RU" sz="2400" dirty="0">
                <a:latin typeface="Bookman Old Style" panose="02050604050505020204" pitchFamily="18" charset="0"/>
              </a:rPr>
              <a:t>) со свойствами (атрибутами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Алан </a:t>
            </a:r>
            <a:r>
              <a:rPr lang="ru-RU" sz="2400" dirty="0" err="1">
                <a:latin typeface="Bookman Old Style" panose="02050604050505020204" pitchFamily="18" charset="0"/>
              </a:rPr>
              <a:t>Кэй</a:t>
            </a:r>
            <a:r>
              <a:rPr lang="ru-RU" sz="2400" dirty="0">
                <a:latin typeface="Bookman Old Style" panose="02050604050505020204" pitchFamily="18" charset="0"/>
              </a:rPr>
              <a:t> позже писал, что понимание внутреннего устройства Лиспа оказало серьезное влияние на его мышление в 1966 г.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9700" y="762000"/>
            <a:ext cx="2971800" cy="29718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9197527" y="3733800"/>
            <a:ext cx="280397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Алан </a:t>
            </a:r>
            <a:r>
              <a:rPr lang="ru-RU" sz="2400" dirty="0" err="1">
                <a:latin typeface="Bookman Old Style" panose="02050604050505020204" pitchFamily="18" charset="0"/>
              </a:rPr>
              <a:t>Кёртис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Кэй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478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3647" y="0"/>
            <a:ext cx="7656054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Объекты, как формализованный концепт появились в программировании в 1960-х в </a:t>
            </a:r>
            <a:r>
              <a:rPr lang="ru-RU" sz="2400" dirty="0" err="1">
                <a:latin typeface="Bookman Old Style" panose="02050604050505020204" pitchFamily="18" charset="0"/>
              </a:rPr>
              <a:t>Simula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67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err="1" smtClean="0">
                <a:latin typeface="Bookman Old Style" panose="02050604050505020204" pitchFamily="18" charset="0"/>
              </a:rPr>
              <a:t>Simula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включала в себя понятие классов и экземпляров (или объектов</a:t>
            </a:r>
            <a:r>
              <a:rPr lang="ru-RU" sz="2400" dirty="0" smtClean="0">
                <a:latin typeface="Bookman Old Style" panose="02050604050505020204" pitchFamily="18" charset="0"/>
              </a:rPr>
              <a:t>). </a:t>
            </a:r>
            <a:r>
              <a:rPr lang="ru-RU" sz="2400" dirty="0">
                <a:latin typeface="Bookman Old Style" panose="02050604050505020204" pitchFamily="18" charset="0"/>
              </a:rPr>
              <a:t>В языке использовался автоматический сборщик </a:t>
            </a:r>
            <a:r>
              <a:rPr lang="ru-RU" sz="2400" dirty="0" smtClean="0">
                <a:latin typeface="Bookman Old Style" panose="02050604050505020204" pitchFamily="18" charset="0"/>
              </a:rPr>
              <a:t>мусора. </a:t>
            </a:r>
            <a:r>
              <a:rPr lang="ru-RU" sz="2400" dirty="0" err="1">
                <a:latin typeface="Bookman Old Style" panose="02050604050505020204" pitchFamily="18" charset="0"/>
              </a:rPr>
              <a:t>Simula</a:t>
            </a:r>
            <a:r>
              <a:rPr lang="ru-RU" sz="2400" dirty="0">
                <a:latin typeface="Bookman Old Style" panose="02050604050505020204" pitchFamily="18" charset="0"/>
              </a:rPr>
              <a:t> использовалась тогда преимущественно для физического моделирования. Идеи </a:t>
            </a:r>
            <a:r>
              <a:rPr lang="ru-RU" sz="2400" dirty="0" err="1">
                <a:latin typeface="Bookman Old Style" panose="02050604050505020204" pitchFamily="18" charset="0"/>
              </a:rPr>
              <a:t>Simula</a:t>
            </a:r>
            <a:r>
              <a:rPr lang="ru-RU" sz="2400" dirty="0">
                <a:latin typeface="Bookman Old Style" panose="02050604050505020204" pitchFamily="18" charset="0"/>
              </a:rPr>
              <a:t> оказали серьезное влияние на более поздние языки, такие как </a:t>
            </a:r>
            <a:r>
              <a:rPr lang="ru-RU" sz="2400" dirty="0" err="1">
                <a:latin typeface="Bookman Old Style" panose="02050604050505020204" pitchFamily="18" charset="0"/>
              </a:rPr>
              <a:t>Smalltalk</a:t>
            </a:r>
            <a:r>
              <a:rPr lang="ru-RU" sz="2400" dirty="0">
                <a:latin typeface="Bookman Old Style" panose="02050604050505020204" pitchFamily="18" charset="0"/>
              </a:rPr>
              <a:t>, варианты </a:t>
            </a:r>
            <a:r>
              <a:rPr lang="ru-RU" sz="2400" dirty="0" err="1">
                <a:latin typeface="Bookman Old Style" panose="02050604050505020204" pitchFamily="18" charset="0"/>
              </a:rPr>
              <a:t>Lisp</a:t>
            </a:r>
            <a:r>
              <a:rPr lang="ru-RU" sz="2400" dirty="0">
                <a:latin typeface="Bookman Old Style" panose="02050604050505020204" pitchFamily="18" charset="0"/>
              </a:rPr>
              <a:t> (CLOS), </a:t>
            </a:r>
            <a:r>
              <a:rPr lang="ru-RU" sz="2400" dirty="0" err="1">
                <a:latin typeface="Bookman Old Style" panose="02050604050505020204" pitchFamily="18" charset="0"/>
              </a:rPr>
              <a:t>Object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Pascal</a:t>
            </a:r>
            <a:r>
              <a:rPr lang="ru-RU" sz="2400" dirty="0">
                <a:latin typeface="Bookman Old Style" panose="02050604050505020204" pitchFamily="18" charset="0"/>
              </a:rPr>
              <a:t>, и C++.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14103" y="2705100"/>
            <a:ext cx="3078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Оле-Йохан </a:t>
            </a:r>
            <a:r>
              <a:rPr lang="ru-RU" sz="2400" dirty="0" smtClean="0">
                <a:latin typeface="Bookman Old Style" panose="02050604050505020204" pitchFamily="18" charset="0"/>
              </a:rPr>
              <a:t>Даль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ru-RU" sz="2400" dirty="0" err="1">
                <a:latin typeface="Bookman Old Style" panose="02050604050505020204" pitchFamily="18" charset="0"/>
              </a:rPr>
              <a:t>Кристен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Нюгорд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2407" y="233363"/>
            <a:ext cx="4401479" cy="2471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524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Инкапсуляция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6096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основе ООП лежит 3 принципа: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Bookman Old Style" panose="02050604050505020204" pitchFamily="18" charset="0"/>
              </a:rPr>
              <a:t>Инкапсуляция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Bookman Old Style" panose="02050604050505020204" pitchFamily="18" charset="0"/>
              </a:rPr>
              <a:t>Наследование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Bookman Old Style" panose="02050604050505020204" pitchFamily="18" charset="0"/>
              </a:rPr>
              <a:t>Полиморфизм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Что такое </a:t>
            </a:r>
            <a:r>
              <a:rPr lang="ru-RU" sz="2400" b="1" dirty="0">
                <a:latin typeface="Bookman Old Style" panose="02050604050505020204" pitchFamily="18" charset="0"/>
              </a:rPr>
              <a:t>инкапсуляция</a:t>
            </a:r>
            <a:r>
              <a:rPr lang="ru-RU" sz="2400" dirty="0">
                <a:latin typeface="Bookman Old Style" panose="02050604050505020204" pitchFamily="18" charset="0"/>
              </a:rPr>
              <a:t>?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Аналогия с </a:t>
            </a:r>
            <a:r>
              <a:rPr lang="ru-RU" sz="2400" dirty="0" err="1">
                <a:latin typeface="Bookman Old Style" panose="02050604050505020204" pitchFamily="18" charset="0"/>
              </a:rPr>
              <a:t>кофемашиной</a:t>
            </a:r>
            <a:r>
              <a:rPr lang="ru-RU" sz="2400" dirty="0">
                <a:latin typeface="Bookman Old Style" panose="02050604050505020204" pitchFamily="18" charset="0"/>
              </a:rPr>
              <a:t>: мы жмем кнопку, не зная, как она работает внутри.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136" y="1213687"/>
            <a:ext cx="6096000" cy="420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785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Инкапсуляция</a:t>
            </a:r>
            <a:r>
              <a:rPr lang="ru-RU" sz="2400" dirty="0" smtClean="0">
                <a:latin typeface="Bookman Old Style" panose="02050604050505020204" pitchFamily="18" charset="0"/>
              </a:rPr>
              <a:t> — механизм, обеспечивающий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консистентность</a:t>
            </a:r>
            <a:r>
              <a:rPr lang="ru-RU" sz="2400" dirty="0" smtClean="0">
                <a:latin typeface="Bookman Old Style" panose="02050604050505020204" pitchFamily="18" charset="0"/>
              </a:rPr>
              <a:t> данных. Процесс разделения интерфейса (создание методов, позволяющих работать с классом) и реализации (содержимое класса, данные).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179" y="2708842"/>
            <a:ext cx="7047344" cy="4123797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4289632" y="1754326"/>
            <a:ext cx="7902368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 практике это означает, что класс должен состоять из двух частей: интерфейса и реализации. 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реализации большинства языков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программирования обеспечивается </a:t>
            </a:r>
            <a:r>
              <a:rPr lang="ru-RU" sz="2400" dirty="0">
                <a:latin typeface="Bookman Old Style" panose="02050604050505020204" pitchFamily="18" charset="0"/>
              </a:rPr>
              <a:t>механизм сокрытия, позволяющий разграничивать доступ к различным частям компонента.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4689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Введение в модификаторы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доступа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Все поля, методы и остальные компоненты класса имеют </a:t>
            </a:r>
            <a:r>
              <a:rPr lang="ru-RU" sz="2400" b="1" dirty="0">
                <a:latin typeface="Bookman Old Style" panose="02050604050505020204" pitchFamily="18" charset="0"/>
              </a:rPr>
              <a:t>модификаторы доступа</a:t>
            </a:r>
            <a:r>
              <a:rPr lang="ru-RU" sz="2400" dirty="0">
                <a:latin typeface="Bookman Old Style" panose="02050604050505020204" pitchFamily="18" charset="0"/>
              </a:rPr>
              <a:t>. Модификаторы доступа позволяют задать допустимую область видимости для компонентов класса. То есть модификаторы доступа определяют контекст, в котором можно употреблять данную переменную или метод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[модификатор доступа]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[модификатор доступа]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Поле</a:t>
            </a:r>
            <a:endParaRPr lang="en-US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Определение: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Поле</a:t>
            </a:r>
            <a:r>
              <a:rPr lang="ru-RU" sz="2400" dirty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переменная любого типа, </a:t>
            </a:r>
            <a:r>
              <a:rPr lang="ru-RU" sz="2400" dirty="0">
                <a:latin typeface="Bookman Old Style" panose="02050604050505020204" pitchFamily="18" charset="0"/>
              </a:rPr>
              <a:t>принадлежащая </a:t>
            </a:r>
            <a:r>
              <a:rPr lang="ru-RU" sz="2400" dirty="0" smtClean="0">
                <a:latin typeface="Bookman Old Style" panose="02050604050505020204" pitchFamily="18" charset="0"/>
              </a:rPr>
              <a:t>непосредственно классу или структуре.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1255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Некоторые базовые </a:t>
            </a:r>
            <a:r>
              <a:rPr lang="ru-RU" sz="2400" b="1" dirty="0" smtClean="0">
                <a:latin typeface="Bookman Old Style" panose="02050604050505020204" pitchFamily="18" charset="0"/>
              </a:rPr>
              <a:t>модификаторы </a:t>
            </a:r>
            <a:r>
              <a:rPr lang="ru-RU" sz="2400" b="1" dirty="0">
                <a:latin typeface="Bookman Old Style" panose="02050604050505020204" pitchFamily="18" charset="0"/>
              </a:rPr>
              <a:t>доступа</a:t>
            </a:r>
            <a:r>
              <a:rPr lang="ru-RU" sz="2400" dirty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private</a:t>
            </a:r>
            <a:r>
              <a:rPr lang="ru-RU" sz="2400" dirty="0">
                <a:latin typeface="Bookman Old Style" panose="02050604050505020204" pitchFamily="18" charset="0"/>
              </a:rPr>
              <a:t>: закрытый или приватный компонент класса или структуры. Приватный компонент доступен только в рамках своего </a:t>
            </a:r>
            <a:r>
              <a:rPr lang="ru-RU" sz="2400" dirty="0" smtClean="0">
                <a:latin typeface="Bookman Old Style" panose="02050604050505020204" pitchFamily="18" charset="0"/>
              </a:rPr>
              <a:t>класса.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public</a:t>
            </a:r>
            <a:r>
              <a:rPr lang="ru-RU" sz="2400" dirty="0">
                <a:latin typeface="Bookman Old Style" panose="02050604050505020204" pitchFamily="18" charset="0"/>
              </a:rPr>
              <a:t>: публичный, общедоступный компонент класса или структуры. Такой компонент доступен из любого места в </a:t>
            </a:r>
            <a:r>
              <a:rPr lang="ru-RU" sz="2400" dirty="0" smtClean="0">
                <a:latin typeface="Bookman Old Style" panose="02050604050505020204" pitchFamily="18" charset="0"/>
              </a:rPr>
              <a:t>коде, а также из других программ и сборок.</a:t>
            </a: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Иван"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3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-1" y="0"/>
            <a:ext cx="12192001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Игорь"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ОШИБКА ЛОГИКИ: Программа скомпилируется, но данные некорректны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-500;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Вывод: Игорь, возраст: -500 (Объект находится в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невалидном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состоянии)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Публичное поле: любой может записать сюда что угодно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237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-1" y="0"/>
            <a:ext cx="12192001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 делать? Заменить на </a:t>
            </a:r>
            <a:r>
              <a:rPr lang="en-US" sz="2400" dirty="0" smtClean="0">
                <a:latin typeface="Bookman Old Style" panose="02050604050505020204" pitchFamily="18" charset="0"/>
              </a:rPr>
              <a:t>private</a:t>
            </a:r>
            <a:r>
              <a:rPr lang="ru-RU" sz="2400" dirty="0" smtClean="0">
                <a:latin typeface="Bookman Old Style" panose="02050604050505020204" pitchFamily="18" charset="0"/>
              </a:rPr>
              <a:t>?</a:t>
            </a:r>
            <a:endParaRPr lang="ru-RU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ОШИБКА: Нельзя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скомпилировать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Игорь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ОШИБКА: Нельзя скомпилировать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-500;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 string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 </a:t>
            </a:r>
            <a:r>
              <a:rPr lang="ru-RU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Приватное поле: снаружи не видно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446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9498"/>
            <a:ext cx="12213548" cy="4425696"/>
          </a:xfrm>
          <a:prstGeom prst="rect">
            <a:avLst/>
          </a:prstGeom>
        </p:spPr>
      </p:pic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Полный список модификаторов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доступа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1547" y="5435194"/>
            <a:ext cx="12192001" cy="5834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Об их назначении узнаем позже.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23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Свойства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.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Постановка проблемы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654356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поле и добавим методы для обеспечения доступа: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Person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"Undefined"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GetName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name;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возвращаем значение переменной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SetName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value)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{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name = value;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устанавливаем новое значение переменной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11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метод </a:t>
            </a:r>
            <a:r>
              <a:rPr lang="en-US" sz="24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SetName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добавим проверку входных данных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	 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MinNameLength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SetName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value)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{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.IsNullOrEmpty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(value))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throw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ArgumentNullException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MinNameLength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throw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ArgumentException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Имя должно быть не менее 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							</a:t>
            </a:r>
            <a:r>
              <a:rPr lang="ru-RU" sz="2400" dirty="0" smtClean="0">
                <a:latin typeface="Consolas" panose="020B0609020204030204" pitchFamily="49" charset="0"/>
              </a:rPr>
              <a:t>{</a:t>
            </a:r>
            <a:r>
              <a:rPr lang="en-US" sz="2400" dirty="0" err="1">
                <a:latin typeface="Consolas" panose="020B0609020204030204" pitchFamily="49" charset="0"/>
              </a:rPr>
              <a:t>MinNameLength</a:t>
            </a:r>
            <a:r>
              <a:rPr lang="en-US" sz="2400" dirty="0">
                <a:latin typeface="Consolas" panose="020B0609020204030204" pitchFamily="49" charset="0"/>
              </a:rPr>
              <a:t>} 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символов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name = value;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устанавливаем новое значение переменной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8322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Пример работы с данным классом: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Person p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Person();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p.SetName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Иван"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Привет, </a:t>
            </a:r>
            <a:r>
              <a:rPr lang="ru-RU" sz="2400" dirty="0">
                <a:latin typeface="Consolas" panose="020B0609020204030204" pitchFamily="49" charset="0"/>
              </a:rPr>
              <a:t>{</a:t>
            </a:r>
            <a:r>
              <a:rPr lang="en-US" sz="2400" dirty="0" err="1">
                <a:latin typeface="Consolas" panose="020B0609020204030204" pitchFamily="49" charset="0"/>
              </a:rPr>
              <a:t>p.GetName</a:t>
            </a:r>
            <a:r>
              <a:rPr lang="en-US" sz="2400" dirty="0">
                <a:latin typeface="Consolas" panose="020B0609020204030204" pitchFamily="49" charset="0"/>
              </a:rPr>
              <a:t>()}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 данном примере использование методов удобно,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однако, если необходимо использовать </a:t>
            </a:r>
            <a:r>
              <a:rPr lang="en-US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GetName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вместе с </a:t>
            </a:r>
            <a:r>
              <a:rPr lang="en-US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SetName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читаемость кода ухудшается: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Person p2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Person();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p2.SetName(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p.GetName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+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</a:t>
            </a:r>
            <a:r>
              <a:rPr lang="ru-RU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Иваныч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Привет, </a:t>
            </a:r>
            <a:r>
              <a:rPr lang="ru-RU" sz="2400" dirty="0" smtClean="0">
                <a:latin typeface="Consolas" panose="020B0609020204030204" pitchFamily="49" charset="0"/>
              </a:rPr>
              <a:t>{</a:t>
            </a:r>
            <a:r>
              <a:rPr lang="en-US" sz="2400" dirty="0" smtClean="0">
                <a:latin typeface="Consolas" panose="020B0609020204030204" pitchFamily="49" charset="0"/>
              </a:rPr>
              <a:t>p</a:t>
            </a:r>
            <a:r>
              <a:rPr lang="ru-RU" sz="2400" dirty="0" smtClean="0">
                <a:latin typeface="Consolas" panose="020B0609020204030204" pitchFamily="49" charset="0"/>
              </a:rPr>
              <a:t>2</a:t>
            </a:r>
            <a:r>
              <a:rPr lang="en-US" sz="2400" dirty="0" smtClean="0">
                <a:latin typeface="Consolas" panose="020B0609020204030204" pitchFamily="49" charset="0"/>
              </a:rPr>
              <a:t>.</a:t>
            </a:r>
            <a:r>
              <a:rPr lang="en-US" sz="2400" dirty="0" err="1" smtClean="0">
                <a:latin typeface="Consolas" panose="020B0609020204030204" pitchFamily="49" charset="0"/>
              </a:rPr>
              <a:t>GetName</a:t>
            </a:r>
            <a:r>
              <a:rPr lang="en-US" sz="2400" dirty="0" smtClean="0">
                <a:latin typeface="Consolas" panose="020B0609020204030204" pitchFamily="49" charset="0"/>
              </a:rPr>
              <a:t>()}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152823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Удобнее было бы работать с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name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не с помощью методов, а как с обычным полем: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Person p2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Person();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p2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name = p.name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</a:t>
            </a:r>
            <a:r>
              <a:rPr lang="ru-RU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Иваныч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Привет, </a:t>
            </a:r>
            <a:r>
              <a:rPr lang="ru-RU" sz="2400" dirty="0">
                <a:latin typeface="Consolas" panose="020B0609020204030204" pitchFamily="49" charset="0"/>
              </a:rPr>
              <a:t>{</a:t>
            </a:r>
            <a:r>
              <a:rPr lang="en-US" sz="2400" dirty="0">
                <a:latin typeface="Consolas" panose="020B0609020204030204" pitchFamily="49" charset="0"/>
              </a:rPr>
              <a:t>p</a:t>
            </a:r>
            <a:r>
              <a:rPr lang="ru-RU" sz="2400" dirty="0">
                <a:latin typeface="Consolas" panose="020B0609020204030204" pitchFamily="49" charset="0"/>
              </a:rPr>
              <a:t>2</a:t>
            </a:r>
            <a:r>
              <a:rPr lang="en-US" sz="2400" dirty="0" smtClean="0">
                <a:latin typeface="Consolas" panose="020B0609020204030204" pitchFamily="49" charset="0"/>
              </a:rPr>
              <a:t>.name}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, но в таком случае мы потеряем проверку данных (метод </a:t>
            </a:r>
            <a:r>
              <a:rPr lang="en-US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SetName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C#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существует элемент, объединяющий преимущества полей и методов. Данный элемент называется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свойство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432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Свойства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0" y="654356"/>
            <a:ext cx="12191999" cy="620836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4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Кроме обычных методов в языке C# предусмотрены специальные методы доступа, которые называют свойства. Они обеспечивают простой доступ к полям классов и структур</a:t>
            </a:r>
            <a:r>
              <a:rPr lang="ru-RU" sz="2400" dirty="0" smtClean="0">
                <a:latin typeface="Bookman Old Style" panose="02050604050505020204" pitchFamily="18" charset="0"/>
              </a:rPr>
              <a:t>, позволяют </a:t>
            </a:r>
            <a:r>
              <a:rPr lang="ru-RU" sz="2400" dirty="0">
                <a:latin typeface="Bookman Old Style" panose="02050604050505020204" pitchFamily="18" charset="0"/>
              </a:rPr>
              <a:t>узнать </a:t>
            </a:r>
            <a:r>
              <a:rPr lang="ru-RU" sz="2400" dirty="0" smtClean="0">
                <a:latin typeface="Bookman Old Style" panose="02050604050505020204" pitchFamily="18" charset="0"/>
              </a:rPr>
              <a:t>или установить значение.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[модификатор_1] </a:t>
            </a:r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тип_свойства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название_свойства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 [модификатор_2] </a:t>
            </a:r>
            <a:r>
              <a:rPr lang="ru-RU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действия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выполняемые при получении значения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свойства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[модификатор_3] </a:t>
            </a:r>
            <a:r>
              <a:rPr lang="ru-RU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действия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выполняемые при установке значения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свойства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Модификаторы 2 и 3 не могут быть установлены одновременно. Модификаторы 2 и 3 должны быть более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ограничивающими,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чем модификатор 1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232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 smtClean="0">
                <a:latin typeface="Bookman Old Style" panose="02050604050505020204" pitchFamily="18" charset="0"/>
              </a:rPr>
              <a:t>Рассмотрим пример работы с переменной </a:t>
            </a:r>
            <a:r>
              <a:rPr lang="en-US" altLang="ru-RU" sz="2400" b="1" dirty="0" smtClean="0">
                <a:latin typeface="Bookman Old Style" panose="02050604050505020204" pitchFamily="18" charset="0"/>
              </a:rPr>
              <a:t>name</a:t>
            </a:r>
            <a:r>
              <a:rPr lang="en-US" alt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altLang="ru-RU" sz="2400" dirty="0" smtClean="0">
                <a:latin typeface="Bookman Old Style" panose="02050604050505020204" pitchFamily="18" charset="0"/>
              </a:rPr>
              <a:t>через свойства.</a:t>
            </a:r>
            <a:endParaRPr lang="ru-RU" alt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 </a:t>
            </a:r>
            <a:endParaRPr lang="ru-RU" sz="2400" dirty="0" smtClean="0">
              <a:solidFill>
                <a:srgbClr val="2B91AF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"Undefined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name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возвращаем значение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переменной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name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value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ru-RU" sz="2400" spc="-8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spc="-80" dirty="0">
                <a:solidFill>
                  <a:srgbClr val="008000"/>
                </a:solidFill>
                <a:latin typeface="Cascadia Mono" panose="020B0609020000020004" pitchFamily="49" charset="0"/>
              </a:rPr>
              <a:t>устанавливаем новое значение </a:t>
            </a:r>
            <a:r>
              <a:rPr lang="ru-RU" sz="2400" spc="-8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переменной</a:t>
            </a:r>
            <a:endParaRPr lang="en-US" sz="2400" spc="-8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Блоки </a:t>
            </a:r>
            <a:r>
              <a:rPr lang="en-US" sz="2400" b="1" dirty="0">
                <a:latin typeface="Bookman Old Style" panose="02050604050505020204" pitchFamily="18" charset="0"/>
              </a:rPr>
              <a:t>get, set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методы и необходимы для обработки и поддержания целостности данных.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Они должны содержать простую логику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dirty="0">
              <a:solidFill>
                <a:srgbClr val="0000FF"/>
              </a:solidFill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Обратите внимание: </a:t>
            </a:r>
            <a:r>
              <a:rPr lang="ru-RU" sz="2400" dirty="0">
                <a:latin typeface="Bookman Old Style" panose="02050604050505020204" pitchFamily="18" charset="0"/>
              </a:rPr>
              <a:t>переменная </a:t>
            </a:r>
            <a:r>
              <a:rPr lang="en-US" sz="2400" b="1" dirty="0">
                <a:latin typeface="Bookman Old Style" panose="02050604050505020204" pitchFamily="18" charset="0"/>
              </a:rPr>
              <a:t>name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имеет закрытый модификатор </a:t>
            </a:r>
            <a:r>
              <a:rPr lang="en-US" sz="2400" dirty="0">
                <a:latin typeface="Bookman Old Style" panose="02050604050505020204" pitchFamily="18" charset="0"/>
              </a:rPr>
              <a:t>private</a:t>
            </a:r>
            <a:r>
              <a:rPr lang="ru-RU" sz="2400" dirty="0">
                <a:latin typeface="Bookman Old Style" panose="02050604050505020204" pitchFamily="18" charset="0"/>
              </a:rPr>
              <a:t>, свойство </a:t>
            </a:r>
            <a:r>
              <a:rPr lang="en-US" sz="2400" b="1" dirty="0" smtClean="0">
                <a:latin typeface="Bookman Old Style" panose="02050604050505020204" pitchFamily="18" charset="0"/>
              </a:rPr>
              <a:t>Name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имеет </a:t>
            </a:r>
            <a:r>
              <a:rPr lang="ru-RU" sz="2400" dirty="0">
                <a:latin typeface="Bookman Old Style" panose="02050604050505020204" pitchFamily="18" charset="0"/>
              </a:rPr>
              <a:t>открытый модификатор </a:t>
            </a:r>
            <a:r>
              <a:rPr lang="en-US" sz="2400" dirty="0">
                <a:latin typeface="Bookman Old Style" panose="02050604050505020204" pitchFamily="18" charset="0"/>
              </a:rPr>
              <a:t>public.</a:t>
            </a:r>
          </a:p>
        </p:txBody>
      </p:sp>
    </p:spTree>
    <p:extLst>
      <p:ext uri="{BB962C8B-B14F-4D97-AF65-F5344CB8AC3E}">
        <p14:creationId xmlns:p14="http://schemas.microsoft.com/office/powerpoint/2010/main" val="2482212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0"/>
            <a:ext cx="12192000" cy="415498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Устанавливаем свойство - срабатывает блок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Set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значение "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" и есть передаваемое в свойство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value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Получаем значение свойства и присваиваем его переменной - срабатывает блок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Get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Tom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588927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Рассмотрим пример с обработкой значений в свойстве.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= 1;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(value &lt; 1 || value &gt; 120)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		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вне диапазона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от 1 до 120"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age = value;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09833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304698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1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37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             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изменяем значение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свойства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37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-23;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вне диапазона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от 1 до 120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37 -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 не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изменился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87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Свойства только для </a:t>
            </a:r>
            <a:r>
              <a:rPr lang="ru-RU" sz="2400" b="1" dirty="0" smtClean="0">
                <a:latin typeface="Bookman Old Style" panose="02050604050505020204" pitchFamily="18" charset="0"/>
              </a:rPr>
              <a:t>чтения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endParaRPr lang="ru-RU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свойство для чтения - можно получить значение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Tom,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но нельзя установить</a:t>
            </a:r>
          </a:p>
          <a:p>
            <a:endParaRPr lang="en-US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= "Bob"; !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Ошибка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   // свойство только для чтения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396314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Свойства только для </a:t>
            </a:r>
            <a:r>
              <a:rPr lang="ru-RU" sz="2400" b="1" dirty="0" smtClean="0">
                <a:latin typeface="Bookman Old Style" panose="02050604050505020204" pitchFamily="18" charset="0"/>
              </a:rPr>
              <a:t>записи</a:t>
            </a:r>
          </a:p>
          <a:p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Person();</a:t>
            </a:r>
          </a:p>
          <a:p>
            <a:endParaRPr lang="en-US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свойство для записи - можно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устновить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значение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37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но нельзя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получить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</a:p>
          <a:p>
            <a:r>
              <a:rPr lang="en-US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);  // !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Ошибка</a:t>
            </a:r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 =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1;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Age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свойство только для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записи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age = value;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4098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710963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Вычисляемые </a:t>
            </a:r>
            <a:r>
              <a:rPr lang="ru-RU" sz="2400" b="1" dirty="0" smtClean="0">
                <a:latin typeface="Bookman Old Style" panose="02050604050505020204" pitchFamily="18" charset="0"/>
              </a:rPr>
              <a:t>свойства</a:t>
            </a:r>
          </a:p>
          <a:p>
            <a:r>
              <a:rPr lang="ru-RU" sz="2400" dirty="0">
                <a:latin typeface="Bookman Old Style" panose="02050604050505020204" pitchFamily="18" charset="0"/>
              </a:rPr>
              <a:t>Свойства необязательно связаны с определенной переменной. Они могут вычисляться на основе различных выражений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"Smith"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Tom Smith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.firstName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.lastName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170450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67875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Мы </a:t>
            </a:r>
            <a:r>
              <a:rPr lang="ru-RU" sz="2400" dirty="0">
                <a:latin typeface="Bookman Old Style" panose="02050604050505020204" pitchFamily="18" charset="0"/>
              </a:rPr>
              <a:t>можем применять </a:t>
            </a:r>
            <a:r>
              <a:rPr lang="ru-RU" sz="2400" b="1" dirty="0">
                <a:latin typeface="Bookman Old Style" panose="02050604050505020204" pitchFamily="18" charset="0"/>
              </a:rPr>
              <a:t>модификаторы доступа </a:t>
            </a:r>
            <a:r>
              <a:rPr lang="ru-RU" sz="2400" dirty="0">
                <a:latin typeface="Bookman Old Style" panose="02050604050505020204" pitchFamily="18" charset="0"/>
              </a:rPr>
              <a:t>не только ко всему свойству, но и к отдельным блокам </a:t>
            </a:r>
            <a:r>
              <a:rPr lang="ru-RU" sz="2400" dirty="0" err="1">
                <a:latin typeface="Bookman Old Style" panose="02050604050505020204" pitchFamily="18" charset="0"/>
              </a:rPr>
              <a:t>get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set</a:t>
            </a:r>
            <a:r>
              <a:rPr lang="ru-RU" sz="2400" dirty="0">
                <a:latin typeface="Bookman Old Style" panose="02050604050505020204" pitchFamily="18" charset="0"/>
              </a:rPr>
              <a:t>: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3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en-US" sz="23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tom.Name</a:t>
            </a:r>
            <a:r>
              <a:rPr lang="en-US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 = "Bob</a:t>
            </a:r>
            <a:r>
              <a:rPr lang="en-US" sz="23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";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ru-RU" sz="23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Ошибка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- </a:t>
            </a:r>
            <a:r>
              <a:rPr lang="ru-RU" sz="23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set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 объявлен с модификатором </a:t>
            </a:r>
            <a:r>
              <a:rPr lang="ru-RU" sz="23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private</a:t>
            </a:r>
            <a:endParaRPr lang="en-US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Tom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name = value;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 =&gt; Name = name;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>
                <a:latin typeface="Bookman Old Style" panose="02050604050505020204" pitchFamily="18" charset="0"/>
              </a:rPr>
              <a:t>Модификатор доступа блока </a:t>
            </a:r>
            <a:r>
              <a:rPr lang="ru-RU" sz="2400" dirty="0" err="1">
                <a:latin typeface="Bookman Old Style" panose="02050604050505020204" pitchFamily="18" charset="0"/>
              </a:rPr>
              <a:t>set</a:t>
            </a:r>
            <a:r>
              <a:rPr lang="ru-RU" sz="2400" dirty="0">
                <a:latin typeface="Bookman Old Style" panose="02050604050505020204" pitchFamily="18" charset="0"/>
              </a:rPr>
              <a:t> или </a:t>
            </a:r>
            <a:r>
              <a:rPr lang="ru-RU" sz="2400" dirty="0" err="1">
                <a:latin typeface="Bookman Old Style" panose="02050604050505020204" pitchFamily="18" charset="0"/>
              </a:rPr>
              <a:t>get</a:t>
            </a:r>
            <a:r>
              <a:rPr lang="ru-RU" sz="2400" dirty="0">
                <a:latin typeface="Bookman Old Style" panose="02050604050505020204" pitchFamily="18" charset="0"/>
              </a:rPr>
              <a:t> должен быть более ограничивающим, чем модификатор доступа </a:t>
            </a:r>
            <a:r>
              <a:rPr lang="ru-RU" sz="2400" dirty="0" smtClean="0">
                <a:latin typeface="Bookman Old Style" panose="02050604050505020204" pitchFamily="18" charset="0"/>
              </a:rPr>
              <a:t>свойства</a:t>
            </a:r>
            <a:endParaRPr lang="ru-RU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4467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701730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Автоматические </a:t>
            </a:r>
            <a:r>
              <a:rPr lang="ru-RU" sz="2400" b="1" dirty="0" smtClean="0">
                <a:latin typeface="Bookman Old Style" panose="02050604050505020204" pitchFamily="18" charset="0"/>
              </a:rPr>
              <a:t>свойства</a:t>
            </a:r>
          </a:p>
          <a:p>
            <a:pPr algn="just">
              <a:lnSpc>
                <a:spcPct val="125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Свойства управляют доступом к полям класса. Однако что, если у нас с десяток и более полей, то определять каждое поле и писать для него однотипное свойство было бы утомительно. Поэтому в .NET были добавлены автоматические свойства. Они имеют сокращенное объявление: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Age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059313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Использование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smtClean="0">
                <a:latin typeface="Bookman Old Style" panose="02050604050505020204" pitchFamily="18" charset="0"/>
              </a:rPr>
              <a:t>автоматических </a:t>
            </a:r>
            <a:r>
              <a:rPr lang="ru-RU" sz="2400" b="1" dirty="0">
                <a:latin typeface="Bookman Old Style" panose="02050604050505020204" pitchFamily="18" charset="0"/>
              </a:rPr>
              <a:t>свойств имеет несколько явных преимуществ: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Позволяет </a:t>
            </a:r>
            <a:r>
              <a:rPr lang="ru-RU" sz="2400" dirty="0" err="1">
                <a:latin typeface="Bookman Old Style" panose="02050604050505020204" pitchFamily="18" charset="0"/>
              </a:rPr>
              <a:t>версионировать</a:t>
            </a:r>
            <a:r>
              <a:rPr lang="ru-RU" sz="2400" dirty="0">
                <a:latin typeface="Bookman Old Style" panose="02050604050505020204" pitchFamily="18" charset="0"/>
              </a:rPr>
              <a:t>, если позже вам понадобится дополнительная логика. Добавление логики в геттер или сеттер не сломает существующий код.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Он позволяет корректно работать привязке данных (большинство </a:t>
            </a:r>
            <a:r>
              <a:rPr lang="ru-RU" sz="2400" dirty="0" err="1">
                <a:latin typeface="Bookman Old Style" panose="02050604050505020204" pitchFamily="18" charset="0"/>
              </a:rPr>
              <a:t>фреймворков</a:t>
            </a:r>
            <a:r>
              <a:rPr lang="ru-RU" sz="2400" dirty="0">
                <a:latin typeface="Bookman Old Style" panose="02050604050505020204" pitchFamily="18" charset="0"/>
              </a:rPr>
              <a:t> привязки данных не работают с полями).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567248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err="1" smtClean="0">
                <a:latin typeface="Bookman Old Style" panose="02050604050505020204" pitchFamily="18" charset="0"/>
              </a:rPr>
              <a:t>Автосвойствам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можно присвоить значения по умолчанию (инициализация </a:t>
            </a:r>
            <a:r>
              <a:rPr lang="ru-RU" sz="2400" dirty="0" err="1">
                <a:latin typeface="Bookman Old Style" panose="02050604050505020204" pitchFamily="18" charset="0"/>
              </a:rPr>
              <a:t>автосвойств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Tom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37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 = 37;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82378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Блок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init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Начиная </a:t>
            </a:r>
            <a:r>
              <a:rPr lang="ru-RU" sz="2400" dirty="0">
                <a:latin typeface="Bookman Old Style" panose="02050604050505020204" pitchFamily="18" charset="0"/>
              </a:rPr>
              <a:t>с версии C# 9.0 </a:t>
            </a:r>
            <a:r>
              <a:rPr lang="ru-RU" sz="2400" b="1" dirty="0">
                <a:latin typeface="Bookman Old Style" panose="02050604050505020204" pitchFamily="18" charset="0"/>
              </a:rPr>
              <a:t>сеттеры</a:t>
            </a:r>
            <a:r>
              <a:rPr lang="ru-RU" sz="2400" dirty="0">
                <a:latin typeface="Bookman Old Style" panose="02050604050505020204" pitchFamily="18" charset="0"/>
              </a:rPr>
              <a:t> в свойствах могут определяться с помощью оператора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init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>
                <a:latin typeface="Bookman Old Style" panose="02050604050505020204" pitchFamily="18" charset="0"/>
              </a:rPr>
              <a:t>Для установки значений свойств с </a:t>
            </a:r>
            <a:r>
              <a:rPr lang="ru-RU" sz="2400" dirty="0" err="1">
                <a:latin typeface="Bookman Old Style" panose="02050604050505020204" pitchFamily="18" charset="0"/>
              </a:rPr>
              <a:t>init</a:t>
            </a:r>
            <a:r>
              <a:rPr lang="ru-RU" sz="2400" dirty="0">
                <a:latin typeface="Bookman Old Style" panose="02050604050505020204" pitchFamily="18" charset="0"/>
              </a:rPr>
              <a:t> можно использовать только инициализатор, либо конструктор, либо при объявлении указать для него значение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</a:t>
            </a:r>
            <a:r>
              <a:rPr lang="ru-RU" sz="2400" dirty="0">
                <a:latin typeface="Bookman Old Style" panose="02050604050505020204" pitchFamily="18" charset="0"/>
              </a:rPr>
              <a:t>инициализации значений подобных свойств их значения изменить нельзя - они доступны только для чтения.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person.Name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= "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Bob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"; Ошибка - после инициализации изменить значение нельзя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Undefined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init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"Undefined"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860141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=&gt;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=&gt; name = value;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эквивалентно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public string Name { get { return name; } }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=&gt; name;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709804" y="0"/>
            <a:ext cx="6482195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Сокращенная запись </a:t>
            </a:r>
            <a:r>
              <a:rPr lang="ru-RU" sz="2400" b="1" dirty="0" smtClean="0">
                <a:latin typeface="Bookman Old Style" panose="02050604050505020204" pitchFamily="18" charset="0"/>
              </a:rPr>
              <a:t>свойств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Как и методы, мы можем сокращать определения свойств. Поскольку блоки </a:t>
            </a:r>
            <a:r>
              <a:rPr lang="ru-RU" sz="2400" dirty="0" err="1">
                <a:latin typeface="Bookman Old Style" panose="02050604050505020204" pitchFamily="18" charset="0"/>
              </a:rPr>
              <a:t>get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set</a:t>
            </a:r>
            <a:r>
              <a:rPr lang="ru-RU" sz="2400" dirty="0">
                <a:latin typeface="Bookman Old Style" panose="02050604050505020204" pitchFamily="18" charset="0"/>
              </a:rPr>
              <a:t> представляют специальные методы, то как и обычные методы, если они содержат одну инструкцию, то мы их можем сократить с помощью оператора </a:t>
            </a:r>
            <a:r>
              <a:rPr lang="ru-RU" sz="2400" b="1" dirty="0" smtClean="0">
                <a:latin typeface="Bookman Old Style" panose="02050604050505020204" pitchFamily="18" charset="0"/>
              </a:rPr>
              <a:t>=&gt;</a:t>
            </a:r>
          </a:p>
        </p:txBody>
      </p:sp>
    </p:spTree>
    <p:extLst>
      <p:ext uri="{BB962C8B-B14F-4D97-AF65-F5344CB8AC3E}">
        <p14:creationId xmlns:p14="http://schemas.microsoft.com/office/powerpoint/2010/main" val="3175120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модификатор </a:t>
            </a:r>
            <a:r>
              <a:rPr lang="en-US" sz="2400" b="1" dirty="0" smtClean="0">
                <a:latin typeface="Bookman Old Style" panose="02050604050505020204" pitchFamily="18" charset="0"/>
              </a:rPr>
              <a:t>required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ru-RU" sz="2400" dirty="0">
                <a:latin typeface="Bookman Old Style" panose="02050604050505020204" pitchFamily="18" charset="0"/>
              </a:rPr>
              <a:t>добавлен в C# 11) указывает, что поле или свойства с этим модификатором обязательно должны быть инициализированы. Например, в следующем примере мы получим ошибку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ошибка - свойства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Name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и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Age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не инициализированы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{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Age = 38 };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ошибки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нет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required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required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208299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28623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Правила проектирования программы: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Все поля должны иметь модификатор доступа </a:t>
            </a:r>
            <a:r>
              <a:rPr lang="en-US" sz="2400" dirty="0" smtClean="0">
                <a:latin typeface="Bookman Old Style" panose="02050604050505020204" pitchFamily="18" charset="0"/>
              </a:rPr>
              <a:t>private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Если необходимо использовать модификатор доступа выше </a:t>
            </a:r>
            <a:r>
              <a:rPr lang="en-US" sz="2400" dirty="0" smtClean="0">
                <a:latin typeface="Bookman Old Style" panose="02050604050505020204" pitchFamily="18" charset="0"/>
              </a:rPr>
              <a:t>private, </a:t>
            </a:r>
            <a:r>
              <a:rPr lang="ru-RU" sz="2400" dirty="0" smtClean="0">
                <a:latin typeface="Bookman Old Style" panose="02050604050505020204" pitchFamily="18" charset="0"/>
              </a:rPr>
              <a:t>то нужно использовать свойства (или методы) для доступа к приватным полям.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1504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654356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Приватное поле для хранения номера счета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accountNumber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Приватное поле для хранения баланса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balance;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Конструктор для инициализации банковского счета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accountNumber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.accountNumber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accountNumber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balance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0;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Начальный баланс равен 0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Пример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9397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Публичный метод для получения номера счета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GetAccountNumber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accountNumber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Публичный метод для получения текущего баланса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GetBalance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balance;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507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Публичный метод для внесения средств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Deposit(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amount)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(amount &gt; 0)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balance += amount;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Внесено: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amount}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endParaRPr lang="ru-RU" sz="2400" dirty="0" smtClean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		Текущий баланс: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balance}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"Сумма для внесения должна быть положительной."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768559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747897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Публичный метод для снятия средств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Withdraw(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decimal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amount)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(amount &gt; 0 &amp;&amp; amount &lt;= balance)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balance -= amount;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Снято: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amount}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endParaRPr lang="ru-RU" sz="2400" dirty="0" smtClean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		 Текущий баланс: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balance}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(amount &gt; balance)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ru-RU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"Недостаточно средств для снятия."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"Сумма для снятия должна быть положительной."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196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объект банковского счета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BankAccount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123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myAccount.Deposit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(500);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Вносим средства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myAccount.Deposit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(1500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Проверяем текущий баланс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Текущий баланс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   {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myAccount.GetBalance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myAccount.Withdraw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(300);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//Снимаем средства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myAccount.Withdraw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(2000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//Попытка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снять больше, чем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есть</a:t>
            </a:r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Проверяем баланс после снятия средств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Текущий баланс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</a:p>
          <a:p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		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myAccount.GetBalance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64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2333685"/>
            <a:ext cx="12191999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Преимущества инкапсуляции:</a:t>
            </a:r>
          </a:p>
          <a:p>
            <a:pPr indent="723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Безопасность данных</a:t>
            </a:r>
            <a:r>
              <a:rPr lang="ru-RU" sz="2400" dirty="0">
                <a:latin typeface="Bookman Old Style" panose="02050604050505020204" pitchFamily="18" charset="0"/>
              </a:rPr>
              <a:t>: Приватные поля защищены от прямого доступа, что предотвращает их случайное или некорректное изменение.</a:t>
            </a:r>
          </a:p>
          <a:p>
            <a:pPr indent="723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Контроль доступа</a:t>
            </a:r>
            <a:r>
              <a:rPr lang="ru-RU" sz="2400" dirty="0">
                <a:latin typeface="Bookman Old Style" panose="02050604050505020204" pitchFamily="18" charset="0"/>
              </a:rPr>
              <a:t>: Публичные методы обеспечивают контролируемый способ взаимодействия с внутренними данными класса.</a:t>
            </a:r>
          </a:p>
          <a:p>
            <a:pPr indent="723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Упрощение сопровождения кода</a:t>
            </a:r>
            <a:r>
              <a:rPr lang="ru-RU" sz="2400" dirty="0">
                <a:latin typeface="Bookman Old Style" panose="02050604050505020204" pitchFamily="18" charset="0"/>
              </a:rPr>
              <a:t>: Изменения в реализации класса не требуют изменений в коде, который использует этот класс.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89" y="123798"/>
            <a:ext cx="6982411" cy="221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057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1" y="654356"/>
            <a:ext cx="12191999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Модификаторы доступа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Metanit</a:t>
            </a:r>
            <a:r>
              <a:rPr lang="en-US" sz="2400" dirty="0">
                <a:latin typeface="Bookman Old Style" panose="02050604050505020204" pitchFamily="18" charset="0"/>
              </a:rPr>
              <a:t>: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metanit.com/sharp/tutorial/3.2.php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Bookman Old Style" panose="02050604050505020204" pitchFamily="18" charset="0"/>
              </a:rPr>
              <a:t>microsoft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  <a:hlinkClick r:id="rId4"/>
              </a:rPr>
              <a:t>learn.microsoft.com/ru-ru/dotnet/csharp/programming-guide/classes-and-structs/access-modifiers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Свойств</a:t>
            </a:r>
            <a:r>
              <a:rPr lang="ru-RU" sz="2400" b="1" dirty="0">
                <a:latin typeface="Bookman Old Style" panose="02050604050505020204" pitchFamily="18" charset="0"/>
              </a:rPr>
              <a:t>а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Metanit</a:t>
            </a:r>
            <a:r>
              <a:rPr lang="en-US" sz="2400" dirty="0">
                <a:latin typeface="Bookman Old Style" panose="02050604050505020204" pitchFamily="18" charset="0"/>
              </a:rPr>
              <a:t>: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  <a:hlinkClick r:id="rId5"/>
              </a:rPr>
              <a:t>https://metanit.com/sharp/tutorial/3.4.php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Microsoft: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  <a:hlinkClick r:id="rId6"/>
              </a:rPr>
              <a:t>https://learn.microsoft.com/ru-ru/dotnet/csharp/properties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ulearn.me: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  <a:hlinkClick r:id="rId7"/>
              </a:rPr>
              <a:t>https://ulearn.me/course/cs2/Svoystva_76ec7986-01b1-43ef-9022-8228ce25a9ed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Полезные материалы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1664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13568</TotalTime>
  <Words>2060</Words>
  <Application>Microsoft Office PowerPoint</Application>
  <PresentationFormat>Широкоэкранный</PresentationFormat>
  <Paragraphs>463</Paragraphs>
  <Slides>38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6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2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722</cp:revision>
  <dcterms:modified xsi:type="dcterms:W3CDTF">2026-02-09T12:03:01Z</dcterms:modified>
</cp:coreProperties>
</file>