
<file path=[Content_Types].xml><?xml version="1.0" encoding="utf-8"?>
<Types xmlns="http://schemas.openxmlformats.org/package/2006/content-types">
  <Default Extension="png" ContentType="image/png"/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74" r:id="rId1"/>
  </p:sldMasterIdLst>
  <p:notesMasterIdLst>
    <p:notesMasterId r:id="rId43"/>
  </p:notesMasterIdLst>
  <p:sldIdLst>
    <p:sldId id="273" r:id="rId2"/>
    <p:sldId id="1081" r:id="rId3"/>
    <p:sldId id="1082" r:id="rId4"/>
    <p:sldId id="1083" r:id="rId5"/>
    <p:sldId id="1084" r:id="rId6"/>
    <p:sldId id="1085" r:id="rId7"/>
    <p:sldId id="1086" r:id="rId8"/>
    <p:sldId id="1087" r:id="rId9"/>
    <p:sldId id="1109" r:id="rId10"/>
    <p:sldId id="1115" r:id="rId11"/>
    <p:sldId id="1110" r:id="rId12"/>
    <p:sldId id="1111" r:id="rId13"/>
    <p:sldId id="1112" r:id="rId14"/>
    <p:sldId id="1113" r:id="rId15"/>
    <p:sldId id="1114" r:id="rId16"/>
    <p:sldId id="1077" r:id="rId17"/>
    <p:sldId id="1078" r:id="rId18"/>
    <p:sldId id="1079" r:id="rId19"/>
    <p:sldId id="1066" r:id="rId20"/>
    <p:sldId id="1088" r:id="rId21"/>
    <p:sldId id="1089" r:id="rId22"/>
    <p:sldId id="1090" r:id="rId23"/>
    <p:sldId id="1091" r:id="rId24"/>
    <p:sldId id="1092" r:id="rId25"/>
    <p:sldId id="1093" r:id="rId26"/>
    <p:sldId id="1095" r:id="rId27"/>
    <p:sldId id="1096" r:id="rId28"/>
    <p:sldId id="1097" r:id="rId29"/>
    <p:sldId id="1098" r:id="rId30"/>
    <p:sldId id="1116" r:id="rId31"/>
    <p:sldId id="1099" r:id="rId32"/>
    <p:sldId id="1100" r:id="rId33"/>
    <p:sldId id="1101" r:id="rId34"/>
    <p:sldId id="1102" r:id="rId35"/>
    <p:sldId id="1103" r:id="rId36"/>
    <p:sldId id="1104" r:id="rId37"/>
    <p:sldId id="1105" r:id="rId38"/>
    <p:sldId id="1106" r:id="rId39"/>
    <p:sldId id="1107" r:id="rId40"/>
    <p:sldId id="1108" r:id="rId41"/>
    <p:sldId id="1080" r:id="rId42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292929"/>
    <a:srgbClr val="BFEFC9"/>
    <a:srgbClr val="5A5A5A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Средний стиль 2 — акцент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7DF18680-E054-41AD-8BC1-D1AEF772440D}" styleName="Средний стиль 2 — акцент 5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5">
              <a:tint val="20000"/>
            </a:schemeClr>
          </a:solidFill>
        </a:fill>
      </a:tcStyle>
    </a:wholeTbl>
    <a:band1H>
      <a:tcStyle>
        <a:tcBdr/>
        <a:fill>
          <a:solidFill>
            <a:schemeClr val="accent5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5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5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5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5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5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935" autoAdjust="0"/>
    <p:restoredTop sz="85492" autoAdjust="0"/>
  </p:normalViewPr>
  <p:slideViewPr>
    <p:cSldViewPr snapToGrid="0">
      <p:cViewPr varScale="1">
        <p:scale>
          <a:sx n="93" d="100"/>
          <a:sy n="93" d="100"/>
        </p:scale>
        <p:origin x="84" y="192"/>
      </p:cViewPr>
      <p:guideLst>
        <p:guide orient="horz" pos="2160"/>
        <p:guide pos="3840"/>
      </p:guideLst>
    </p:cSldViewPr>
  </p:slideViewPr>
  <p:notesTextViewPr>
    <p:cViewPr>
      <p:scale>
        <a:sx n="100" d="100"/>
        <a:sy n="100" d="100"/>
      </p:scale>
      <p:origin x="0" y="0"/>
    </p:cViewPr>
  </p:notesTextViewPr>
  <p:notesViewPr>
    <p:cSldViewPr snapToGrid="0">
      <p:cViewPr varScale="1">
        <p:scale>
          <a:sx n="86" d="100"/>
          <a:sy n="86" d="100"/>
        </p:scale>
        <p:origin x="3786" y="78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slide" Target="slides/slide38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slide" Target="slides/slide41.xml"/><Relationship Id="rId47" Type="http://schemas.openxmlformats.org/officeDocument/2006/relationships/tableStyles" Target="tableStyles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viewProps" Target="view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4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notesMaster" Target="notesMasters/notesMaster1.xml"/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theme" Target="theme/theme1.xml"/><Relationship Id="rId20" Type="http://schemas.openxmlformats.org/officeDocument/2006/relationships/slide" Target="slides/slide19.xml"/><Relationship Id="rId41" Type="http://schemas.openxmlformats.org/officeDocument/2006/relationships/slide" Target="slides/slide40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Верхний колонтитул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Дата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AA2F9473-F066-431E-A6E8-1D478C995A6B}" type="datetimeFigureOut">
              <a:rPr lang="en-US" smtClean="0"/>
              <a:pPr/>
              <a:t>2/10/2026</a:t>
            </a:fld>
            <a:endParaRPr lang="en-US"/>
          </a:p>
        </p:txBody>
      </p:sp>
      <p:sp>
        <p:nvSpPr>
          <p:cNvPr id="4" name="Образ слайда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Заметки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/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F0F4E2F1-1521-4C3A-A563-2F7D19AB6E0B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57975550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.xml"/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.xml"/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.xml"/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.xml"/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6.xml"/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7.xml"/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8.xml"/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9.xml"/><Relationship Id="rId1" Type="http://schemas.openxmlformats.org/officeDocument/2006/relationships/notesMaster" Target="../notesMasters/notesMaster1.xml"/></Relationships>
</file>

<file path=ppt/notesSlides/_rels/notesSlide4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0.xml"/><Relationship Id="rId1" Type="http://schemas.openxmlformats.org/officeDocument/2006/relationships/notesMaster" Target="../notesMasters/notesMaster1.xml"/></Relationships>
</file>

<file path=ppt/notesSlides/_rels/notesSlide4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0F4E2F1-1521-4C3A-A563-2F7D19AB6E0B}" type="slidenum">
              <a:rPr lang="en-US" smtClean="0"/>
              <a:pPr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89481240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0F4E2F1-1521-4C3A-A563-2F7D19AB6E0B}" type="slidenum">
              <a:rPr lang="en-US" smtClean="0"/>
              <a:pPr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60926239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0F4E2F1-1521-4C3A-A563-2F7D19AB6E0B}" type="slidenum">
              <a:rPr lang="en-US" smtClean="0"/>
              <a:pPr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04550418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0F4E2F1-1521-4C3A-A563-2F7D19AB6E0B}" type="slidenum">
              <a:rPr lang="en-US" smtClean="0"/>
              <a:pPr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63356434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0F4E2F1-1521-4C3A-A563-2F7D19AB6E0B}" type="slidenum">
              <a:rPr lang="en-US" smtClean="0"/>
              <a:pPr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32067938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0F4E2F1-1521-4C3A-A563-2F7D19AB6E0B}" type="slidenum">
              <a:rPr lang="en-US" smtClean="0"/>
              <a:pPr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24478725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0F4E2F1-1521-4C3A-A563-2F7D19AB6E0B}" type="slidenum">
              <a:rPr lang="en-US" smtClean="0"/>
              <a:pPr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16481654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0F4E2F1-1521-4C3A-A563-2F7D19AB6E0B}" type="slidenum">
              <a:rPr lang="en-US" smtClean="0"/>
              <a:pPr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9927438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0F4E2F1-1521-4C3A-A563-2F7D19AB6E0B}" type="slidenum">
              <a:rPr lang="en-US" smtClean="0"/>
              <a:pPr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15914797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0F4E2F1-1521-4C3A-A563-2F7D19AB6E0B}" type="slidenum">
              <a:rPr lang="en-US" smtClean="0"/>
              <a:pPr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70089757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0F4E2F1-1521-4C3A-A563-2F7D19AB6E0B}" type="slidenum">
              <a:rPr lang="en-US" smtClean="0"/>
              <a:pPr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40068426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0F4E2F1-1521-4C3A-A563-2F7D19AB6E0B}" type="slidenum">
              <a:rPr lang="en-US" smtClean="0"/>
              <a:pPr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72123389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0F4E2F1-1521-4C3A-A563-2F7D19AB6E0B}" type="slidenum">
              <a:rPr lang="en-US" smtClean="0"/>
              <a:pPr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68410188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0F4E2F1-1521-4C3A-A563-2F7D19AB6E0B}" type="slidenum">
              <a:rPr lang="en-US" smtClean="0"/>
              <a:pPr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08849265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0F4E2F1-1521-4C3A-A563-2F7D19AB6E0B}" type="slidenum">
              <a:rPr lang="en-US" smtClean="0"/>
              <a:pPr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90266974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0F4E2F1-1521-4C3A-A563-2F7D19AB6E0B}" type="slidenum">
              <a:rPr lang="en-US" smtClean="0"/>
              <a:pPr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5536039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0F4E2F1-1521-4C3A-A563-2F7D19AB6E0B}" type="slidenum">
              <a:rPr lang="en-US" smtClean="0"/>
              <a:pPr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50120324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0F4E2F1-1521-4C3A-A563-2F7D19AB6E0B}" type="slidenum">
              <a:rPr lang="en-US" smtClean="0"/>
              <a:pPr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26837180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0F4E2F1-1521-4C3A-A563-2F7D19AB6E0B}" type="slidenum">
              <a:rPr lang="en-US" smtClean="0"/>
              <a:pPr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80986736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0F4E2F1-1521-4C3A-A563-2F7D19AB6E0B}" type="slidenum">
              <a:rPr lang="en-US" smtClean="0"/>
              <a:pPr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97208673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0F4E2F1-1521-4C3A-A563-2F7D19AB6E0B}" type="slidenum">
              <a:rPr lang="en-US" smtClean="0"/>
              <a:pPr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8066855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0F4E2F1-1521-4C3A-A563-2F7D19AB6E0B}" type="slidenum">
              <a:rPr lang="en-US" smtClean="0"/>
              <a:pPr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51340668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0F4E2F1-1521-4C3A-A563-2F7D19AB6E0B}" type="slidenum">
              <a:rPr lang="en-US" smtClean="0"/>
              <a:pPr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32869197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0F4E2F1-1521-4C3A-A563-2F7D19AB6E0B}" type="slidenum">
              <a:rPr lang="en-US" smtClean="0"/>
              <a:pPr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94501992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0F4E2F1-1521-4C3A-A563-2F7D19AB6E0B}" type="slidenum">
              <a:rPr lang="en-US" smtClean="0"/>
              <a:pPr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66537858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0F4E2F1-1521-4C3A-A563-2F7D19AB6E0B}" type="slidenum">
              <a:rPr lang="en-US" smtClean="0"/>
              <a:pPr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14785830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0F4E2F1-1521-4C3A-A563-2F7D19AB6E0B}" type="slidenum">
              <a:rPr lang="en-US" smtClean="0"/>
              <a:pPr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35307643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0F4E2F1-1521-4C3A-A563-2F7D19AB6E0B}" type="slidenum">
              <a:rPr lang="en-US" smtClean="0"/>
              <a:pPr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3128936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0F4E2F1-1521-4C3A-A563-2F7D19AB6E0B}" type="slidenum">
              <a:rPr lang="en-US" smtClean="0"/>
              <a:pPr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92587713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0F4E2F1-1521-4C3A-A563-2F7D19AB6E0B}" type="slidenum">
              <a:rPr lang="en-US" smtClean="0"/>
              <a:pPr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88368256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0F4E2F1-1521-4C3A-A563-2F7D19AB6E0B}" type="slidenum">
              <a:rPr lang="en-US" smtClean="0"/>
              <a:pPr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78053486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0F4E2F1-1521-4C3A-A563-2F7D19AB6E0B}" type="slidenum">
              <a:rPr lang="en-US" smtClean="0"/>
              <a:pPr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5491652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0F4E2F1-1521-4C3A-A563-2F7D19AB6E0B}" type="slidenum">
              <a:rPr lang="en-US" smtClean="0"/>
              <a:pPr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31688120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0F4E2F1-1521-4C3A-A563-2F7D19AB6E0B}" type="slidenum">
              <a:rPr lang="en-US" smtClean="0"/>
              <a:pPr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37094567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0F4E2F1-1521-4C3A-A563-2F7D19AB6E0B}" type="slidenum">
              <a:rPr lang="en-US" smtClean="0"/>
              <a:pPr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05481380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0F4E2F1-1521-4C3A-A563-2F7D19AB6E0B}" type="slidenum">
              <a:rPr lang="en-US" smtClean="0"/>
              <a:pPr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38896093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0F4E2F1-1521-4C3A-A563-2F7D19AB6E0B}" type="slidenum">
              <a:rPr lang="en-US" smtClean="0"/>
              <a:pPr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49839578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0F4E2F1-1521-4C3A-A563-2F7D19AB6E0B}" type="slidenum">
              <a:rPr lang="en-US" smtClean="0"/>
              <a:pPr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98534377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0F4E2F1-1521-4C3A-A563-2F7D19AB6E0B}" type="slidenum">
              <a:rPr lang="en-US" smtClean="0"/>
              <a:pPr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8650795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0F4E2F1-1521-4C3A-A563-2F7D19AB6E0B}" type="slidenum">
              <a:rPr lang="en-US" smtClean="0"/>
              <a:pPr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5341307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0F4E2F1-1521-4C3A-A563-2F7D19AB6E0B}" type="slidenum">
              <a:rPr lang="en-US" smtClean="0"/>
              <a:pPr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65841914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Титульны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ru-RU"/>
              <a:t>Образец подзаголовка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9" name="Номер слайда 3">
            <a:extLst>
              <a:ext uri="{FF2B5EF4-FFF2-40B4-BE49-F238E27FC236}">
                <a16:creationId xmlns:a16="http://schemas.microsoft.com/office/drawing/2014/main" id="{3DF48714-7FE4-4364-BF9D-28B9C9E2979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277600" y="6376266"/>
            <a:ext cx="914400" cy="481735"/>
          </a:xfrm>
          <a:prstGeom prst="rect">
            <a:avLst/>
          </a:prstGeom>
        </p:spPr>
        <p:txBody>
          <a:bodyPr/>
          <a:lstStyle/>
          <a:p>
            <a:fld id="{3EC42A18-3AB2-40E5-884A-7E072263AE64}" type="slidenum">
              <a:rPr lang="en-US" b="1" smtClean="0">
                <a:solidFill>
                  <a:srgbClr val="292929"/>
                </a:solidFill>
                <a:latin typeface="Bookman Old Style" panose="02050604050505020204" pitchFamily="18" charset="0"/>
              </a:rPr>
              <a:pPr/>
              <a:t>‹#›</a:t>
            </a:fld>
            <a:r>
              <a:rPr lang="en-US" sz="1400" b="1" dirty="0" smtClean="0">
                <a:solidFill>
                  <a:srgbClr val="5A5A5A"/>
                </a:solidFill>
                <a:latin typeface="Bookman Old Style" panose="02050604050505020204" pitchFamily="18" charset="0"/>
              </a:rPr>
              <a:t>/</a:t>
            </a:r>
            <a:r>
              <a:rPr lang="ru-RU" sz="1400" b="1" dirty="0" smtClean="0">
                <a:solidFill>
                  <a:srgbClr val="5A5A5A"/>
                </a:solidFill>
                <a:latin typeface="Bookman Old Style" panose="02050604050505020204" pitchFamily="18" charset="0"/>
              </a:rPr>
              <a:t>2</a:t>
            </a:r>
            <a:r>
              <a:rPr lang="en-US" sz="1400" b="1" dirty="0" smtClean="0">
                <a:solidFill>
                  <a:srgbClr val="5A5A5A"/>
                </a:solidFill>
                <a:latin typeface="Bookman Old Style" panose="02050604050505020204" pitchFamily="18" charset="0"/>
              </a:rPr>
              <a:t>0</a:t>
            </a:r>
            <a:endParaRPr lang="en-US" sz="1400" b="1" dirty="0">
              <a:solidFill>
                <a:srgbClr val="5A5A5A"/>
              </a:solidFill>
              <a:latin typeface="Bookman Old Style" panose="020506040505050202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64773641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Пользовательский маке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0" y="5897"/>
            <a:ext cx="12192000" cy="949324"/>
          </a:xfrm>
        </p:spPr>
        <p:txBody>
          <a:bodyPr/>
          <a:lstStyle>
            <a:lvl1pPr algn="ctr">
              <a:defRPr sz="2700" b="1">
                <a:latin typeface="Times New Roman" panose="02020603050405020304" pitchFamily="18" charset="0"/>
                <a:cs typeface="Times New Roman" panose="02020603050405020304" pitchFamily="18" charset="0"/>
              </a:defRPr>
            </a:lvl1pPr>
          </a:lstStyle>
          <a:p>
            <a:r>
              <a:rPr lang="ru-RU" dirty="0"/>
              <a:t>Образец заголовка</a:t>
            </a:r>
          </a:p>
        </p:txBody>
      </p:sp>
      <p:sp>
        <p:nvSpPr>
          <p:cNvPr id="7" name="Номер слайда 3">
            <a:extLst>
              <a:ext uri="{FF2B5EF4-FFF2-40B4-BE49-F238E27FC236}">
                <a16:creationId xmlns:a16="http://schemas.microsoft.com/office/drawing/2014/main" id="{3DF48714-7FE4-4364-BF9D-28B9C9E2979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277600" y="6376266"/>
            <a:ext cx="914400" cy="481735"/>
          </a:xfrm>
          <a:prstGeom prst="rect">
            <a:avLst/>
          </a:prstGeom>
        </p:spPr>
        <p:txBody>
          <a:bodyPr/>
          <a:lstStyle/>
          <a:p>
            <a:fld id="{3EC42A18-3AB2-40E5-884A-7E072263AE64}" type="slidenum">
              <a:rPr lang="en-US" b="1" smtClean="0">
                <a:solidFill>
                  <a:srgbClr val="292929"/>
                </a:solidFill>
                <a:latin typeface="Bookman Old Style" panose="02050604050505020204" pitchFamily="18" charset="0"/>
              </a:rPr>
              <a:pPr/>
              <a:t>‹#›</a:t>
            </a:fld>
            <a:r>
              <a:rPr lang="en-US" sz="1400" b="1" dirty="0" smtClean="0">
                <a:solidFill>
                  <a:srgbClr val="5A5A5A"/>
                </a:solidFill>
                <a:latin typeface="Bookman Old Style" panose="02050604050505020204" pitchFamily="18" charset="0"/>
              </a:rPr>
              <a:t>/</a:t>
            </a:r>
            <a:r>
              <a:rPr lang="ru-RU" sz="1400" b="1" dirty="0" smtClean="0">
                <a:solidFill>
                  <a:srgbClr val="5A5A5A"/>
                </a:solidFill>
                <a:latin typeface="Bookman Old Style" panose="02050604050505020204" pitchFamily="18" charset="0"/>
              </a:rPr>
              <a:t>2</a:t>
            </a:r>
            <a:r>
              <a:rPr lang="en-US" sz="1400" b="1" dirty="0" smtClean="0">
                <a:solidFill>
                  <a:srgbClr val="5A5A5A"/>
                </a:solidFill>
                <a:latin typeface="Bookman Old Style" panose="02050604050505020204" pitchFamily="18" charset="0"/>
              </a:rPr>
              <a:t>0</a:t>
            </a:r>
            <a:endParaRPr lang="en-US" sz="1400" b="1" dirty="0">
              <a:solidFill>
                <a:srgbClr val="5A5A5A"/>
              </a:solidFill>
              <a:latin typeface="Bookman Old Style" panose="020506040505050202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56221473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ru-RU" dirty="0"/>
              <a:t>Образец заголовка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ru-RU" dirty="0"/>
              <a:t>Образец текста</a:t>
            </a:r>
          </a:p>
          <a:p>
            <a:pPr lvl="1"/>
            <a:r>
              <a:rPr lang="ru-RU" dirty="0"/>
              <a:t>Второй уровень</a:t>
            </a:r>
          </a:p>
          <a:p>
            <a:pPr lvl="2"/>
            <a:r>
              <a:rPr lang="ru-RU" dirty="0"/>
              <a:t>Третий уровень</a:t>
            </a:r>
          </a:p>
          <a:p>
            <a:pPr lvl="3"/>
            <a:r>
              <a:rPr lang="ru-RU" dirty="0"/>
              <a:t>Четвертый уровень</a:t>
            </a:r>
          </a:p>
          <a:p>
            <a:pPr lvl="4"/>
            <a:r>
              <a:rPr lang="ru-RU" dirty="0"/>
              <a:t>Пятый уровень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9" name="Номер слайда 3">
            <a:extLst>
              <a:ext uri="{FF2B5EF4-FFF2-40B4-BE49-F238E27FC236}">
                <a16:creationId xmlns:a16="http://schemas.microsoft.com/office/drawing/2014/main" id="{3DF48714-7FE4-4364-BF9D-28B9C9E2979D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277600" y="6376266"/>
            <a:ext cx="914400" cy="481735"/>
          </a:xfrm>
          <a:prstGeom prst="rect">
            <a:avLst/>
          </a:prstGeom>
        </p:spPr>
        <p:txBody>
          <a:bodyPr/>
          <a:lstStyle/>
          <a:p>
            <a:fld id="{3EC42A18-3AB2-40E5-884A-7E072263AE64}" type="slidenum">
              <a:rPr lang="en-US" b="1" smtClean="0">
                <a:solidFill>
                  <a:srgbClr val="292929"/>
                </a:solidFill>
                <a:latin typeface="Bookman Old Style" panose="02050604050505020204" pitchFamily="18" charset="0"/>
              </a:rPr>
              <a:pPr/>
              <a:t>‹#›</a:t>
            </a:fld>
            <a:r>
              <a:rPr lang="en-US" sz="1400" b="1" dirty="0" smtClean="0">
                <a:solidFill>
                  <a:srgbClr val="5A5A5A"/>
                </a:solidFill>
                <a:latin typeface="Bookman Old Style" panose="02050604050505020204" pitchFamily="18" charset="0"/>
              </a:rPr>
              <a:t>/</a:t>
            </a:r>
            <a:r>
              <a:rPr lang="ru-RU" sz="1400" b="1" dirty="0" smtClean="0">
                <a:solidFill>
                  <a:srgbClr val="5A5A5A"/>
                </a:solidFill>
                <a:latin typeface="Bookman Old Style" panose="02050604050505020204" pitchFamily="18" charset="0"/>
              </a:rPr>
              <a:t>2</a:t>
            </a:r>
            <a:r>
              <a:rPr lang="en-US" sz="1400" b="1" dirty="0" smtClean="0">
                <a:solidFill>
                  <a:srgbClr val="5A5A5A"/>
                </a:solidFill>
                <a:latin typeface="Bookman Old Style" panose="02050604050505020204" pitchFamily="18" charset="0"/>
              </a:rPr>
              <a:t>0</a:t>
            </a:r>
            <a:endParaRPr lang="en-US" sz="1400" b="1" dirty="0">
              <a:solidFill>
                <a:srgbClr val="5A5A5A"/>
              </a:solidFill>
              <a:latin typeface="Bookman Old Style" panose="020506040505050202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72089299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5" r:id="rId1"/>
    <p:sldLayoutId id="2147483686" r:id="rId2"/>
  </p:sldLayoutIdLst>
  <p:hf sldNum="0"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4.png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8.png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0.xml"/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hyperlink" Target="https://ru.wikipedia.org/wiki/Microsoft_Windows" TargetMode="External"/><Relationship Id="rId2" Type="http://schemas.openxmlformats.org/officeDocument/2006/relationships/notesSlide" Target="../notesSlides/notesSlide31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1.png"/><Relationship Id="rId5" Type="http://schemas.openxmlformats.org/officeDocument/2006/relationships/hyperlink" Target="https://ru.wikipedia.org/wiki/%D0%91%D0%B8%D0%B1%D0%BB%D0%B8%D0%BE%D1%82%D0%B5%D0%BA%D0%B0_(%D0%BF%D1%80%D0%BE%D0%B3%D1%80%D0%B0%D0%BC%D0%BC%D0%B8%D1%80%D0%BE%D0%B2%D0%B0%D0%BD%D0%B8%D0%B5)" TargetMode="External"/><Relationship Id="rId4" Type="http://schemas.openxmlformats.org/officeDocument/2006/relationships/hyperlink" Target="https://ru.wikipedia.org/wiki/IBM_OS/2" TargetMode="External"/></Relationships>
</file>

<file path=ppt/slides/_rels/slide32.xml.rels><?xml version="1.0" encoding="UTF-8" standalone="yes"?>
<Relationships xmlns="http://schemas.openxmlformats.org/package/2006/relationships"><Relationship Id="rId8" Type="http://schemas.openxmlformats.org/officeDocument/2006/relationships/hyperlink" Target="https://ru.wikipedia.org/wiki/%D0%9E%D0%B1%D1%89%D0%B8%D0%B9_%D0%BE%D0%B1%D1%8A%D0%B5%D0%BA%D1%82" TargetMode="External"/><Relationship Id="rId3" Type="http://schemas.openxmlformats.org/officeDocument/2006/relationships/hyperlink" Target="https://ru.wikipedia.org/wiki/ActiveX" TargetMode="External"/><Relationship Id="rId7" Type="http://schemas.openxmlformats.org/officeDocument/2006/relationships/hyperlink" Target="https://ru.wikipedia.org/wiki/Unix" TargetMode="External"/><Relationship Id="rId2" Type="http://schemas.openxmlformats.org/officeDocument/2006/relationships/notesSlide" Target="../notesSlides/notesSlide32.xml"/><Relationship Id="rId1" Type="http://schemas.openxmlformats.org/officeDocument/2006/relationships/slideLayout" Target="../slideLayouts/slideLayout2.xml"/><Relationship Id="rId6" Type="http://schemas.openxmlformats.org/officeDocument/2006/relationships/hyperlink" Target="https://ru.wikipedia.org/wiki/%D0%A0%D0%B5%D1%81%D1%83%D1%80%D1%81%D1%8B_(Windows)" TargetMode="External"/><Relationship Id="rId5" Type="http://schemas.openxmlformats.org/officeDocument/2006/relationships/hyperlink" Target="https://ru.wikipedia.org/wiki/New_Executable" TargetMode="External"/><Relationship Id="rId4" Type="http://schemas.openxmlformats.org/officeDocument/2006/relationships/hyperlink" Target="https://ru.wikipedia.org/wiki/Portable_Executable" TargetMode="External"/></Relationships>
</file>

<file path=ppt/slides/_rels/slide3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33.xml"/><Relationship Id="rId1" Type="http://schemas.openxmlformats.org/officeDocument/2006/relationships/slideLayout" Target="../slideLayouts/slideLayout2.xml"/></Relationships>
</file>

<file path=ppt/slides/_rels/slide3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4.xml"/><Relationship Id="rId1" Type="http://schemas.openxmlformats.org/officeDocument/2006/relationships/slideLayout" Target="../slideLayouts/slideLayout2.xml"/></Relationships>
</file>

<file path=ppt/slides/_rels/slide3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notesSlide" Target="../notesSlides/notesSlide35.xml"/><Relationship Id="rId1" Type="http://schemas.openxmlformats.org/officeDocument/2006/relationships/slideLayout" Target="../slideLayouts/slideLayout2.xml"/></Relationships>
</file>

<file path=ppt/slides/_rels/slide3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notesSlide" Target="../notesSlides/notesSlide36.xml"/><Relationship Id="rId1" Type="http://schemas.openxmlformats.org/officeDocument/2006/relationships/slideLayout" Target="../slideLayouts/slideLayout2.xml"/></Relationships>
</file>

<file path=ppt/slides/_rels/slide3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7.xml"/><Relationship Id="rId1" Type="http://schemas.openxmlformats.org/officeDocument/2006/relationships/slideLayout" Target="../slideLayouts/slideLayout2.xml"/></Relationships>
</file>

<file path=ppt/slides/_rels/slide3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notesSlide" Target="../notesSlides/notesSlide38.xml"/><Relationship Id="rId1" Type="http://schemas.openxmlformats.org/officeDocument/2006/relationships/slideLayout" Target="../slideLayouts/slideLayout2.xml"/></Relationships>
</file>

<file path=ppt/slides/_rels/slide3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9.xml"/><Relationship Id="rId1" Type="http://schemas.openxmlformats.org/officeDocument/2006/relationships/slideLayout" Target="../slideLayouts/slideLayout2.xml"/></Relationships>
</file>

<file path=ppt/slides/_rels/slide4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0.xml"/><Relationship Id="rId1" Type="http://schemas.openxmlformats.org/officeDocument/2006/relationships/slideLayout" Target="../slideLayouts/slideLayout2.xml"/></Relationships>
</file>

<file path=ppt/slides/_rels/slide41.xml.rels><?xml version="1.0" encoding="UTF-8" standalone="yes"?>
<Relationships xmlns="http://schemas.openxmlformats.org/package/2006/relationships"><Relationship Id="rId3" Type="http://schemas.openxmlformats.org/officeDocument/2006/relationships/hyperlink" Target="https://metanit.com/sharp/tutorial/3.18.php" TargetMode="External"/><Relationship Id="rId2" Type="http://schemas.openxmlformats.org/officeDocument/2006/relationships/notesSlide" Target="../notesSlides/notesSlide41.xml"/><Relationship Id="rId1" Type="http://schemas.openxmlformats.org/officeDocument/2006/relationships/slideLayout" Target="../slideLayouts/slideLayout2.xml"/><Relationship Id="rId6" Type="http://schemas.openxmlformats.org/officeDocument/2006/relationships/hyperlink" Target="https://learn.microsoft.com/ru-ru/dotnet/core/tutorials/library-with-visual-studio?pivots=dotnet-8-0" TargetMode="External"/><Relationship Id="rId5" Type="http://schemas.openxmlformats.org/officeDocument/2006/relationships/hyperlink" Target="https://metanit.com/sharp/tutorial/3.46.php" TargetMode="External"/><Relationship Id="rId4" Type="http://schemas.openxmlformats.org/officeDocument/2006/relationships/hyperlink" Target="https://ulearn.me/course/basicprogramming/Metody_rasshireniya_01a1f9a5-c475-4af3-bef3-060f92e69a92" TargetMode="Externa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TextBox 10"/>
          <p:cNvSpPr txBox="1"/>
          <p:nvPr/>
        </p:nvSpPr>
        <p:spPr>
          <a:xfrm>
            <a:off x="0" y="995873"/>
            <a:ext cx="12192000" cy="1569658"/>
          </a:xfrm>
          <a:prstGeom prst="rect">
            <a:avLst/>
          </a:prstGeom>
          <a:noFill/>
        </p:spPr>
        <p:txBody>
          <a:bodyPr wrap="square" lIns="91438" tIns="45719" rIns="91438" bIns="45719" rtlCol="0">
            <a:spAutoFit/>
          </a:bodyPr>
          <a:lstStyle/>
          <a:p>
            <a:pPr indent="254000" algn="ctr">
              <a:spcBef>
                <a:spcPct val="20000"/>
              </a:spcBef>
            </a:pPr>
            <a:r>
              <a:rPr lang="ru-RU" sz="4800" b="1" dirty="0">
                <a:solidFill>
                  <a:schemeClr val="accent1">
                    <a:lumMod val="50000"/>
                  </a:schemeClr>
                </a:solidFill>
                <a:latin typeface="Bookman Old Style" pitchFamily="18" charset="0"/>
              </a:rPr>
              <a:t>Информационные технологии</a:t>
            </a:r>
            <a:br>
              <a:rPr lang="ru-RU" sz="4800" b="1" dirty="0">
                <a:solidFill>
                  <a:schemeClr val="accent1">
                    <a:lumMod val="50000"/>
                  </a:schemeClr>
                </a:solidFill>
                <a:latin typeface="Bookman Old Style" pitchFamily="18" charset="0"/>
              </a:rPr>
            </a:br>
            <a:r>
              <a:rPr lang="ru-RU" sz="4800" b="1" dirty="0">
                <a:solidFill>
                  <a:schemeClr val="accent1">
                    <a:lumMod val="50000"/>
                  </a:schemeClr>
                </a:solidFill>
                <a:latin typeface="Bookman Old Style" pitchFamily="18" charset="0"/>
              </a:rPr>
              <a:t>и программирование</a:t>
            </a:r>
            <a:endParaRPr lang="ru-RU" altLang="ru-RU" sz="4800" b="1" dirty="0">
              <a:solidFill>
                <a:schemeClr val="accent1">
                  <a:lumMod val="50000"/>
                </a:schemeClr>
              </a:solidFill>
              <a:latin typeface="Bookman Old Style" pitchFamily="18" charset="0"/>
            </a:endParaRPr>
          </a:p>
        </p:txBody>
      </p:sp>
      <p:sp>
        <p:nvSpPr>
          <p:cNvPr id="17" name="Заголовок 16">
            <a:extLst>
              <a:ext uri="{FF2B5EF4-FFF2-40B4-BE49-F238E27FC236}">
                <a16:creationId xmlns:a16="http://schemas.microsoft.com/office/drawing/2014/main" id="{D630362D-1F09-46B4-9DE4-AEA483AC82F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835468" y="2565531"/>
            <a:ext cx="8978016" cy="1745212"/>
          </a:xfrm>
        </p:spPr>
        <p:txBody>
          <a:bodyPr>
            <a:noAutofit/>
          </a:bodyPr>
          <a:lstStyle/>
          <a:p>
            <a:pPr algn="l"/>
            <a:r>
              <a:rPr lang="ru-RU" sz="2800" b="1" dirty="0" smtClean="0">
                <a:solidFill>
                  <a:schemeClr val="tx2">
                    <a:lumMod val="50000"/>
                  </a:schemeClr>
                </a:solidFill>
                <a:latin typeface="Bookman Old Style" panose="02050604050505020204" pitchFamily="18" charset="0"/>
                <a:cs typeface="Times New Roman" panose="02020603050405020304" pitchFamily="18" charset="0"/>
              </a:rPr>
              <a:t>2 семестр</a:t>
            </a:r>
            <a:br>
              <a:rPr lang="ru-RU" sz="2800" b="1" dirty="0" smtClean="0">
                <a:solidFill>
                  <a:schemeClr val="tx2">
                    <a:lumMod val="50000"/>
                  </a:schemeClr>
                </a:solidFill>
                <a:latin typeface="Bookman Old Style" panose="02050604050505020204" pitchFamily="18" charset="0"/>
                <a:cs typeface="Times New Roman" panose="02020603050405020304" pitchFamily="18" charset="0"/>
              </a:rPr>
            </a:br>
            <a:r>
              <a:rPr lang="ru-RU" sz="2800" b="1" dirty="0" smtClean="0">
                <a:solidFill>
                  <a:schemeClr val="tx2">
                    <a:lumMod val="50000"/>
                  </a:schemeClr>
                </a:solidFill>
                <a:latin typeface="Bookman Old Style" panose="02050604050505020204" pitchFamily="18" charset="0"/>
                <a:cs typeface="Times New Roman" panose="02020603050405020304" pitchFamily="18" charset="0"/>
              </a:rPr>
              <a:t>Лекция 4.</a:t>
            </a:r>
            <a:br>
              <a:rPr lang="ru-RU" sz="2800" b="1" dirty="0" smtClean="0">
                <a:solidFill>
                  <a:schemeClr val="tx2">
                    <a:lumMod val="50000"/>
                  </a:schemeClr>
                </a:solidFill>
                <a:latin typeface="Bookman Old Style" panose="02050604050505020204" pitchFamily="18" charset="0"/>
                <a:cs typeface="Times New Roman" panose="02020603050405020304" pitchFamily="18" charset="0"/>
              </a:rPr>
            </a:br>
            <a:r>
              <a:rPr lang="en-US" sz="2800" b="1" dirty="0" smtClean="0">
                <a:solidFill>
                  <a:schemeClr val="tx2">
                    <a:lumMod val="50000"/>
                  </a:schemeClr>
                </a:solidFill>
                <a:latin typeface="Bookman Old Style" panose="02050604050505020204" pitchFamily="18" charset="0"/>
                <a:cs typeface="Times New Roman" panose="02020603050405020304" pitchFamily="18" charset="0"/>
              </a:rPr>
              <a:t/>
            </a:r>
            <a:br>
              <a:rPr lang="en-US" sz="2800" b="1" dirty="0" smtClean="0">
                <a:solidFill>
                  <a:schemeClr val="tx2">
                    <a:lumMod val="50000"/>
                  </a:schemeClr>
                </a:solidFill>
                <a:latin typeface="Bookman Old Style" panose="02050604050505020204" pitchFamily="18" charset="0"/>
                <a:cs typeface="Times New Roman" panose="02020603050405020304" pitchFamily="18" charset="0"/>
              </a:rPr>
            </a:br>
            <a:r>
              <a:rPr lang="ru-RU" sz="2800" b="1" dirty="0" smtClean="0">
                <a:solidFill>
                  <a:schemeClr val="tx2">
                    <a:lumMod val="50000"/>
                  </a:schemeClr>
                </a:solidFill>
                <a:latin typeface="Bookman Old Style" panose="02050604050505020204" pitchFamily="18" charset="0"/>
                <a:cs typeface="Times New Roman" panose="02020603050405020304" pitchFamily="18" charset="0"/>
              </a:rPr>
              <a:t>Содержание </a:t>
            </a:r>
            <a:r>
              <a:rPr lang="ru-RU" sz="2800" b="1" dirty="0">
                <a:solidFill>
                  <a:schemeClr val="tx2">
                    <a:lumMod val="50000"/>
                  </a:schemeClr>
                </a:solidFill>
                <a:latin typeface="Bookman Old Style" panose="02050604050505020204" pitchFamily="18" charset="0"/>
                <a:cs typeface="Times New Roman" panose="02020603050405020304" pitchFamily="18" charset="0"/>
              </a:rPr>
              <a:t>лекции:</a:t>
            </a:r>
            <a:endParaRPr lang="ru-RU" sz="2800" dirty="0">
              <a:latin typeface="Bookman Old Style" panose="02050604050505020204" pitchFamily="18" charset="0"/>
            </a:endParaRPr>
          </a:p>
        </p:txBody>
      </p:sp>
      <p:sp>
        <p:nvSpPr>
          <p:cNvPr id="10" name="Rectangle 28" descr="Светлый диагональный 2"/>
          <p:cNvSpPr>
            <a:spLocks noChangeArrowheads="1"/>
          </p:cNvSpPr>
          <p:nvPr/>
        </p:nvSpPr>
        <p:spPr bwMode="auto">
          <a:xfrm>
            <a:off x="0" y="6336807"/>
            <a:ext cx="12192000" cy="521193"/>
          </a:xfrm>
          <a:prstGeom prst="rect">
            <a:avLst/>
          </a:prstGeom>
          <a:pattFill prst="ltUpDiag">
            <a:fgClr>
              <a:schemeClr val="accent1">
                <a:lumMod val="40000"/>
                <a:lumOff val="60000"/>
              </a:schemeClr>
            </a:fgClr>
            <a:bgClr>
              <a:srgbClr val="FFFFFF"/>
            </a:bgClr>
          </a:pattFill>
          <a:ln w="19050" algn="ctr">
            <a:solidFill>
              <a:schemeClr val="accent5">
                <a:lumMod val="50000"/>
              </a:schemeClr>
            </a:solidFill>
            <a:miter lim="800000"/>
            <a:headEnd/>
            <a:tailEnd/>
          </a:ln>
          <a:effectLst/>
        </p:spPr>
        <p:txBody>
          <a:bodyPr vert="horz" wrap="square" lIns="18000" tIns="18000" rIns="18000" bIns="18000" numCol="1" anchor="ctr" anchorCtr="0" compatLnSpc="1">
            <a:prstTxWarp prst="textNoShape">
              <a:avLst/>
            </a:prstTxWarp>
          </a:bodyPr>
          <a:lstStyle/>
          <a:p>
            <a:pPr indent="723900" algn="just"/>
            <a:r>
              <a:rPr lang="ru-RU" b="1" dirty="0">
                <a:solidFill>
                  <a:srgbClr val="292929"/>
                </a:solidFill>
                <a:latin typeface="Bookman Old Style" pitchFamily="18" charset="0"/>
              </a:rPr>
              <a:t>Преподаватель курса: Клюкин Даниил Анатольевич, ст. преподаватель каф. </a:t>
            </a:r>
            <a:r>
              <a:rPr lang="ru-RU" b="1">
                <a:solidFill>
                  <a:srgbClr val="292929"/>
                </a:solidFill>
                <a:latin typeface="Bookman Old Style" pitchFamily="18" charset="0"/>
              </a:rPr>
              <a:t>ПМиИТ</a:t>
            </a:r>
            <a:endParaRPr lang="ru-RU" b="1" dirty="0">
              <a:solidFill>
                <a:srgbClr val="292929"/>
              </a:solidFill>
              <a:latin typeface="Bookman Old Style" pitchFamily="18" charset="0"/>
            </a:endParaRP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F7B00361-5492-4290-B470-295172C16526}"/>
              </a:ext>
            </a:extLst>
          </p:cNvPr>
          <p:cNvSpPr txBox="1"/>
          <p:nvPr/>
        </p:nvSpPr>
        <p:spPr>
          <a:xfrm>
            <a:off x="835468" y="4310743"/>
            <a:ext cx="11041341" cy="181588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ru-RU" sz="2800" dirty="0" smtClean="0">
                <a:solidFill>
                  <a:schemeClr val="tx2">
                    <a:lumMod val="50000"/>
                  </a:schemeClr>
                </a:solidFill>
                <a:latin typeface="Bookman Old Style" panose="02050604050505020204" pitchFamily="18" charset="0"/>
                <a:cs typeface="Times New Roman" panose="02020603050405020304" pitchFamily="18" charset="0"/>
              </a:rPr>
              <a:t>Статические классы</a:t>
            </a:r>
            <a:endParaRPr lang="en-US" sz="2800" dirty="0" smtClean="0">
              <a:solidFill>
                <a:schemeClr val="tx2">
                  <a:lumMod val="50000"/>
                </a:schemeClr>
              </a:solidFill>
              <a:latin typeface="Bookman Old Style" panose="02050604050505020204" pitchFamily="18" charset="0"/>
              <a:cs typeface="Times New Roman" panose="02020603050405020304" pitchFamily="18" charset="0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ru-RU" sz="2800" dirty="0" smtClean="0">
                <a:solidFill>
                  <a:schemeClr val="tx2">
                    <a:lumMod val="50000"/>
                  </a:schemeClr>
                </a:solidFill>
                <a:latin typeface="Bookman Old Style" panose="02050604050505020204" pitchFamily="18" charset="0"/>
                <a:cs typeface="Times New Roman" panose="02020603050405020304" pitchFamily="18" charset="0"/>
              </a:rPr>
              <a:t>Перегрузка операторов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ru-RU" sz="2800" dirty="0" smtClean="0">
                <a:solidFill>
                  <a:schemeClr val="tx2">
                    <a:lumMod val="50000"/>
                  </a:schemeClr>
                </a:solidFill>
                <a:latin typeface="Bookman Old Style" panose="02050604050505020204" pitchFamily="18" charset="0"/>
                <a:cs typeface="Times New Roman" panose="02020603050405020304" pitchFamily="18" charset="0"/>
              </a:rPr>
              <a:t>Методы расширения</a:t>
            </a:r>
            <a:endParaRPr lang="en-US" sz="2800" dirty="0" smtClean="0">
              <a:solidFill>
                <a:schemeClr val="tx2">
                  <a:lumMod val="50000"/>
                </a:schemeClr>
              </a:solidFill>
              <a:latin typeface="Bookman Old Style" panose="02050604050505020204" pitchFamily="18" charset="0"/>
              <a:cs typeface="Times New Roman" panose="02020603050405020304" pitchFamily="18" charset="0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ru-RU" sz="2800" dirty="0" smtClean="0">
                <a:solidFill>
                  <a:schemeClr val="tx2">
                    <a:lumMod val="50000"/>
                  </a:schemeClr>
                </a:solidFill>
                <a:latin typeface="Bookman Old Style" panose="02050604050505020204" pitchFamily="18" charset="0"/>
                <a:cs typeface="Times New Roman" panose="02020603050405020304" pitchFamily="18" charset="0"/>
              </a:rPr>
              <a:t>Библиотеки классов</a:t>
            </a:r>
            <a:endParaRPr lang="en-US" sz="2800" dirty="0">
              <a:solidFill>
                <a:schemeClr val="tx2">
                  <a:lumMod val="50000"/>
                </a:schemeClr>
              </a:solidFill>
              <a:latin typeface="Bookman Old Style" panose="02050604050505020204" pitchFamily="18" charset="0"/>
              <a:cs typeface="Times New Roman" panose="02020603050405020304" pitchFamily="18" charset="0"/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28" descr="Светлый диагональный 2"/>
          <p:cNvSpPr>
            <a:spLocks noChangeArrowheads="1"/>
          </p:cNvSpPr>
          <p:nvPr/>
        </p:nvSpPr>
        <p:spPr bwMode="auto">
          <a:xfrm>
            <a:off x="0" y="-1"/>
            <a:ext cx="12192000" cy="654357"/>
          </a:xfrm>
          <a:prstGeom prst="rect">
            <a:avLst/>
          </a:prstGeom>
          <a:pattFill prst="ltUpDiag">
            <a:fgClr>
              <a:schemeClr val="accent1">
                <a:lumMod val="40000"/>
                <a:lumOff val="60000"/>
              </a:schemeClr>
            </a:fgClr>
            <a:bgClr>
              <a:srgbClr val="FFFFFF"/>
            </a:bgClr>
          </a:pattFill>
          <a:ln w="15875" algn="ctr">
            <a:solidFill>
              <a:schemeClr val="accent5">
                <a:lumMod val="50000"/>
              </a:schemeClr>
            </a:solidFill>
            <a:miter lim="800000"/>
            <a:headEnd/>
            <a:tailEnd/>
          </a:ln>
          <a:effectLst/>
        </p:spPr>
        <p:txBody>
          <a:bodyPr vert="horz" wrap="square" lIns="18000" tIns="18000" rIns="18000" bIns="18000" numCol="1" anchor="ctr" anchorCtr="0" compatLnSpc="1">
            <a:prstTxWarp prst="textNoShape">
              <a:avLst/>
            </a:prstTxWarp>
          </a:bodyPr>
          <a:lstStyle/>
          <a:p>
            <a:pPr algn="ctr"/>
            <a:r>
              <a:rPr lang="ru-RU" sz="2800" b="1" dirty="0" smtClean="0">
                <a:solidFill>
                  <a:schemeClr val="tx2">
                    <a:lumMod val="50000"/>
                  </a:schemeClr>
                </a:solidFill>
                <a:latin typeface="Bookman Old Style" panose="02050604050505020204" pitchFamily="18" charset="0"/>
                <a:cs typeface="Times New Roman" panose="02020603050405020304" pitchFamily="18" charset="0"/>
              </a:rPr>
              <a:t>Модификатор </a:t>
            </a:r>
            <a:r>
              <a:rPr lang="en-US" sz="2800" b="1" dirty="0" smtClean="0">
                <a:solidFill>
                  <a:schemeClr val="tx2">
                    <a:lumMod val="50000"/>
                  </a:schemeClr>
                </a:solidFill>
                <a:latin typeface="Bookman Old Style" panose="02050604050505020204" pitchFamily="18" charset="0"/>
                <a:cs typeface="Times New Roman" panose="02020603050405020304" pitchFamily="18" charset="0"/>
              </a:rPr>
              <a:t>static</a:t>
            </a:r>
            <a:endParaRPr lang="ru-RU" sz="2800" b="1" dirty="0">
              <a:solidFill>
                <a:schemeClr val="tx2">
                  <a:lumMod val="50000"/>
                </a:schemeClr>
              </a:solidFill>
              <a:latin typeface="Bookman Old Style" panose="02050604050505020204" pitchFamily="18" charset="0"/>
              <a:cs typeface="Times New Roman" panose="02020603050405020304" pitchFamily="18" charset="0"/>
            </a:endParaRPr>
          </a:p>
        </p:txBody>
      </p:sp>
      <p:sp>
        <p:nvSpPr>
          <p:cNvPr id="6" name="Прямоугольник 5"/>
          <p:cNvSpPr/>
          <p:nvPr/>
        </p:nvSpPr>
        <p:spPr>
          <a:xfrm>
            <a:off x="210065" y="654356"/>
            <a:ext cx="11726562" cy="6186309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just">
              <a:lnSpc>
                <a:spcPct val="150000"/>
              </a:lnSpc>
            </a:pPr>
            <a:r>
              <a:rPr lang="ru-RU" sz="2400" dirty="0">
                <a:latin typeface="Bookman Old Style" panose="02050604050505020204" pitchFamily="18" charset="0"/>
              </a:rPr>
              <a:t>Кроме обычных полей, методов, свойств классы и структуры могут иметь статические поля, методы, свойства. Статические поля, методы, свойства относятся ко всему классу/всей структуре и для обращения к подобным членам необязательно создавать экземпляр класса / структуры</a:t>
            </a:r>
            <a:r>
              <a:rPr lang="ru-RU" sz="2400" dirty="0" smtClean="0">
                <a:latin typeface="Bookman Old Style" panose="02050604050505020204" pitchFamily="18" charset="0"/>
              </a:rPr>
              <a:t>.</a:t>
            </a:r>
            <a:endParaRPr lang="en-US" sz="2400" dirty="0" smtClean="0">
              <a:latin typeface="Bookman Old Style" panose="02050604050505020204" pitchFamily="18" charset="0"/>
            </a:endParaRPr>
          </a:p>
          <a:p>
            <a:pPr algn="just">
              <a:lnSpc>
                <a:spcPct val="150000"/>
              </a:lnSpc>
            </a:pPr>
            <a:r>
              <a:rPr lang="ru-RU" sz="2400" b="1" dirty="0">
                <a:latin typeface="Bookman Old Style" panose="02050604050505020204" pitchFamily="18" charset="0"/>
                <a:cs typeface="Times New Roman" panose="02020603050405020304" pitchFamily="18" charset="0"/>
              </a:rPr>
              <a:t>Статические </a:t>
            </a:r>
            <a:r>
              <a:rPr lang="ru-RU" sz="2400" b="1" dirty="0" smtClean="0">
                <a:latin typeface="Bookman Old Style" panose="02050604050505020204" pitchFamily="18" charset="0"/>
                <a:cs typeface="Times New Roman" panose="02020603050405020304" pitchFamily="18" charset="0"/>
              </a:rPr>
              <a:t>элементы инициализируются лишь при первом обращении к ним.</a:t>
            </a:r>
          </a:p>
          <a:p>
            <a:pPr algn="just">
              <a:lnSpc>
                <a:spcPct val="150000"/>
              </a:lnSpc>
            </a:pPr>
            <a:r>
              <a:rPr lang="ru-RU" sz="2400" b="1" dirty="0" smtClean="0">
                <a:latin typeface="Bookman Old Style" panose="02050604050505020204" pitchFamily="18" charset="0"/>
                <a:cs typeface="Times New Roman" panose="02020603050405020304" pitchFamily="18" charset="0"/>
              </a:rPr>
              <a:t>Статические поля</a:t>
            </a:r>
            <a:endParaRPr lang="en-US" sz="2400" b="1" dirty="0" smtClean="0">
              <a:latin typeface="Bookman Old Style" panose="02050604050505020204" pitchFamily="18" charset="0"/>
              <a:cs typeface="Times New Roman" panose="02020603050405020304" pitchFamily="18" charset="0"/>
            </a:endParaRPr>
          </a:p>
          <a:p>
            <a:pPr algn="just">
              <a:lnSpc>
                <a:spcPct val="150000"/>
              </a:lnSpc>
            </a:pPr>
            <a:r>
              <a:rPr lang="ru-RU" sz="2400" dirty="0" smtClean="0">
                <a:latin typeface="Bookman Old Style" panose="02050604050505020204" pitchFamily="18" charset="0"/>
                <a:cs typeface="Times New Roman" panose="02020603050405020304" pitchFamily="18" charset="0"/>
              </a:rPr>
              <a:t>Статические </a:t>
            </a:r>
            <a:r>
              <a:rPr lang="ru-RU" sz="2400" dirty="0">
                <a:latin typeface="Bookman Old Style" panose="02050604050505020204" pitchFamily="18" charset="0"/>
                <a:cs typeface="Times New Roman" panose="02020603050405020304" pitchFamily="18" charset="0"/>
              </a:rPr>
              <a:t>поля хранят состояние всего класса / структуры. Статическое поле определяется как и обычное, только перед типом поля указывается ключевое слово </a:t>
            </a:r>
            <a:r>
              <a:rPr lang="ru-RU" sz="2400" dirty="0" err="1">
                <a:latin typeface="Bookman Old Style" panose="02050604050505020204" pitchFamily="18" charset="0"/>
                <a:cs typeface="Times New Roman" panose="02020603050405020304" pitchFamily="18" charset="0"/>
              </a:rPr>
              <a:t>static</a:t>
            </a:r>
            <a:r>
              <a:rPr lang="ru-RU" sz="2400" dirty="0">
                <a:latin typeface="Bookman Old Style" panose="02050604050505020204" pitchFamily="18" charset="0"/>
                <a:cs typeface="Times New Roman" panose="02020603050405020304" pitchFamily="18" charset="0"/>
              </a:rPr>
              <a:t>. Например, рассмотрим класс </a:t>
            </a:r>
            <a:r>
              <a:rPr lang="ru-RU" sz="2400" dirty="0" err="1">
                <a:latin typeface="Bookman Old Style" panose="02050604050505020204" pitchFamily="18" charset="0"/>
                <a:cs typeface="Times New Roman" panose="02020603050405020304" pitchFamily="18" charset="0"/>
              </a:rPr>
              <a:t>Person</a:t>
            </a:r>
            <a:r>
              <a:rPr lang="ru-RU" sz="2400" dirty="0">
                <a:latin typeface="Bookman Old Style" panose="02050604050505020204" pitchFamily="18" charset="0"/>
                <a:cs typeface="Times New Roman" panose="02020603050405020304" pitchFamily="18" charset="0"/>
              </a:rPr>
              <a:t>, который представляет человека</a:t>
            </a:r>
            <a:r>
              <a:rPr lang="ru-RU" sz="2400" dirty="0" smtClean="0">
                <a:latin typeface="Bookman Old Style" panose="02050604050505020204" pitchFamily="18" charset="0"/>
                <a:cs typeface="Times New Roman" panose="02020603050405020304" pitchFamily="18" charset="0"/>
              </a:rPr>
              <a:t>:</a:t>
            </a:r>
            <a:endParaRPr lang="ru-RU" sz="2400" dirty="0">
              <a:latin typeface="Bookman Old Style" panose="020506040505050202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120929024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Прямоугольник 5"/>
          <p:cNvSpPr/>
          <p:nvPr/>
        </p:nvSpPr>
        <p:spPr>
          <a:xfrm>
            <a:off x="197708" y="259492"/>
            <a:ext cx="11821978" cy="637097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sz="2400" dirty="0">
                <a:solidFill>
                  <a:srgbClr val="0000FF"/>
                </a:solidFill>
                <a:latin typeface="Cascadia Mono" panose="020B0609020000020004" pitchFamily="49" charset="0"/>
              </a:rPr>
              <a:t>class</a:t>
            </a:r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 </a:t>
            </a:r>
            <a:r>
              <a:rPr lang="en-US" sz="2400" dirty="0">
                <a:solidFill>
                  <a:srgbClr val="2B91AF"/>
                </a:solidFill>
                <a:latin typeface="Cascadia Mono" panose="020B0609020000020004" pitchFamily="49" charset="0"/>
              </a:rPr>
              <a:t>Person</a:t>
            </a:r>
            <a:endParaRPr lang="en-US" sz="2400" dirty="0">
              <a:solidFill>
                <a:srgbClr val="000000"/>
              </a:solidFill>
              <a:latin typeface="Cascadia Mono" panose="020B0609020000020004" pitchFamily="49" charset="0"/>
            </a:endParaRPr>
          </a:p>
          <a:p>
            <a:r>
              <a:rPr lang="ru-RU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{</a:t>
            </a:r>
          </a:p>
          <a:p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    </a:t>
            </a:r>
            <a:r>
              <a:rPr lang="en-US" sz="2400" dirty="0" err="1">
                <a:solidFill>
                  <a:srgbClr val="0000FF"/>
                </a:solidFill>
                <a:latin typeface="Cascadia Mono" panose="020B0609020000020004" pitchFamily="49" charset="0"/>
              </a:rPr>
              <a:t>int</a:t>
            </a:r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 age;</a:t>
            </a:r>
          </a:p>
          <a:p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    </a:t>
            </a:r>
            <a:r>
              <a:rPr lang="en-US" sz="2400" dirty="0">
                <a:solidFill>
                  <a:srgbClr val="0000FF"/>
                </a:solidFill>
                <a:latin typeface="Cascadia Mono" panose="020B0609020000020004" pitchFamily="49" charset="0"/>
              </a:rPr>
              <a:t>public</a:t>
            </a:r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 </a:t>
            </a:r>
            <a:r>
              <a:rPr lang="en-US" sz="2400" dirty="0">
                <a:solidFill>
                  <a:srgbClr val="0000FF"/>
                </a:solidFill>
                <a:latin typeface="Cascadia Mono" panose="020B0609020000020004" pitchFamily="49" charset="0"/>
              </a:rPr>
              <a:t>static</a:t>
            </a:r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 </a:t>
            </a:r>
            <a:r>
              <a:rPr lang="en-US" sz="2400" dirty="0" err="1">
                <a:solidFill>
                  <a:srgbClr val="0000FF"/>
                </a:solidFill>
                <a:latin typeface="Cascadia Mono" panose="020B0609020000020004" pitchFamily="49" charset="0"/>
              </a:rPr>
              <a:t>int</a:t>
            </a:r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 </a:t>
            </a:r>
            <a:r>
              <a:rPr lang="en-US" sz="2400" dirty="0" err="1">
                <a:solidFill>
                  <a:srgbClr val="000000"/>
                </a:solidFill>
                <a:latin typeface="Cascadia Mono" panose="020B0609020000020004" pitchFamily="49" charset="0"/>
              </a:rPr>
              <a:t>retirementAge</a:t>
            </a:r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 = 65;</a:t>
            </a:r>
          </a:p>
          <a:p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    </a:t>
            </a:r>
            <a:r>
              <a:rPr lang="en-US" sz="2400" dirty="0">
                <a:solidFill>
                  <a:srgbClr val="0000FF"/>
                </a:solidFill>
                <a:latin typeface="Cascadia Mono" panose="020B0609020000020004" pitchFamily="49" charset="0"/>
              </a:rPr>
              <a:t>public</a:t>
            </a:r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 </a:t>
            </a:r>
            <a:r>
              <a:rPr lang="en-US" sz="2400" dirty="0">
                <a:solidFill>
                  <a:srgbClr val="2B91AF"/>
                </a:solidFill>
                <a:latin typeface="Cascadia Mono" panose="020B0609020000020004" pitchFamily="49" charset="0"/>
              </a:rPr>
              <a:t>Person</a:t>
            </a:r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(</a:t>
            </a:r>
            <a:r>
              <a:rPr lang="en-US" sz="2400" dirty="0" err="1">
                <a:solidFill>
                  <a:srgbClr val="0000FF"/>
                </a:solidFill>
                <a:latin typeface="Cascadia Mono" panose="020B0609020000020004" pitchFamily="49" charset="0"/>
              </a:rPr>
              <a:t>int</a:t>
            </a:r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 age)</a:t>
            </a:r>
          </a:p>
          <a:p>
            <a:r>
              <a:rPr lang="ru-RU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    {</a:t>
            </a:r>
          </a:p>
          <a:p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        </a:t>
            </a:r>
            <a:r>
              <a:rPr lang="en-US" sz="2400" dirty="0" err="1">
                <a:solidFill>
                  <a:srgbClr val="0000FF"/>
                </a:solidFill>
                <a:latin typeface="Cascadia Mono" panose="020B0609020000020004" pitchFamily="49" charset="0"/>
              </a:rPr>
              <a:t>this</a:t>
            </a:r>
            <a:r>
              <a:rPr lang="en-US" sz="2400" dirty="0" err="1">
                <a:solidFill>
                  <a:srgbClr val="000000"/>
                </a:solidFill>
                <a:latin typeface="Cascadia Mono" panose="020B0609020000020004" pitchFamily="49" charset="0"/>
              </a:rPr>
              <a:t>.age</a:t>
            </a:r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 = age;</a:t>
            </a:r>
          </a:p>
          <a:p>
            <a:r>
              <a:rPr lang="ru-RU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    }</a:t>
            </a:r>
          </a:p>
          <a:p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    </a:t>
            </a:r>
            <a:r>
              <a:rPr lang="en-US" sz="2400" dirty="0">
                <a:solidFill>
                  <a:srgbClr val="0000FF"/>
                </a:solidFill>
                <a:latin typeface="Cascadia Mono" panose="020B0609020000020004" pitchFamily="49" charset="0"/>
              </a:rPr>
              <a:t>public</a:t>
            </a:r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 </a:t>
            </a:r>
            <a:r>
              <a:rPr lang="en-US" sz="2400" dirty="0">
                <a:solidFill>
                  <a:srgbClr val="0000FF"/>
                </a:solidFill>
                <a:latin typeface="Cascadia Mono" panose="020B0609020000020004" pitchFamily="49" charset="0"/>
              </a:rPr>
              <a:t>void</a:t>
            </a:r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 </a:t>
            </a:r>
            <a:r>
              <a:rPr lang="en-US" sz="2400" dirty="0" err="1" smtClean="0">
                <a:solidFill>
                  <a:srgbClr val="000000"/>
                </a:solidFill>
                <a:latin typeface="Cascadia Mono" panose="020B0609020000020004" pitchFamily="49" charset="0"/>
              </a:rPr>
              <a:t>CheckAge</a:t>
            </a:r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()</a:t>
            </a:r>
          </a:p>
          <a:p>
            <a:r>
              <a:rPr lang="ru-RU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    {</a:t>
            </a:r>
          </a:p>
          <a:p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        </a:t>
            </a:r>
            <a:r>
              <a:rPr lang="en-US" sz="2400" dirty="0">
                <a:solidFill>
                  <a:srgbClr val="0000FF"/>
                </a:solidFill>
                <a:latin typeface="Cascadia Mono" panose="020B0609020000020004" pitchFamily="49" charset="0"/>
              </a:rPr>
              <a:t>if</a:t>
            </a:r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 (age &gt;= </a:t>
            </a:r>
            <a:r>
              <a:rPr lang="en-US" sz="2400" dirty="0" err="1">
                <a:solidFill>
                  <a:srgbClr val="000000"/>
                </a:solidFill>
                <a:latin typeface="Cascadia Mono" panose="020B0609020000020004" pitchFamily="49" charset="0"/>
              </a:rPr>
              <a:t>retirementAge</a:t>
            </a:r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)</a:t>
            </a:r>
          </a:p>
          <a:p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            </a:t>
            </a:r>
            <a:r>
              <a:rPr lang="en-US" sz="2400" dirty="0" err="1">
                <a:solidFill>
                  <a:srgbClr val="000000"/>
                </a:solidFill>
                <a:latin typeface="Cascadia Mono" panose="020B0609020000020004" pitchFamily="49" charset="0"/>
              </a:rPr>
              <a:t>Console.WriteLine</a:t>
            </a:r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(</a:t>
            </a:r>
            <a:r>
              <a:rPr lang="en-US" sz="2400" dirty="0">
                <a:solidFill>
                  <a:srgbClr val="A31515"/>
                </a:solidFill>
                <a:latin typeface="Cascadia Mono" panose="020B0609020000020004" pitchFamily="49" charset="0"/>
              </a:rPr>
              <a:t>"</a:t>
            </a:r>
            <a:r>
              <a:rPr lang="ru-RU" sz="2400" dirty="0">
                <a:solidFill>
                  <a:srgbClr val="A31515"/>
                </a:solidFill>
                <a:latin typeface="Cascadia Mono" panose="020B0609020000020004" pitchFamily="49" charset="0"/>
              </a:rPr>
              <a:t>Уже на пенсии"</a:t>
            </a:r>
            <a:r>
              <a:rPr lang="ru-RU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);</a:t>
            </a:r>
          </a:p>
          <a:p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        </a:t>
            </a:r>
            <a:r>
              <a:rPr lang="en-US" sz="2400" dirty="0">
                <a:solidFill>
                  <a:srgbClr val="0000FF"/>
                </a:solidFill>
                <a:latin typeface="Cascadia Mono" panose="020B0609020000020004" pitchFamily="49" charset="0"/>
              </a:rPr>
              <a:t>else</a:t>
            </a:r>
            <a:endParaRPr lang="en-US" sz="2400" dirty="0">
              <a:solidFill>
                <a:srgbClr val="000000"/>
              </a:solidFill>
              <a:latin typeface="Cascadia Mono" panose="020B0609020000020004" pitchFamily="49" charset="0"/>
            </a:endParaRPr>
          </a:p>
          <a:p>
            <a:r>
              <a:rPr lang="ru-RU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            </a:t>
            </a:r>
            <a:r>
              <a:rPr lang="ru-RU" sz="2400" dirty="0" err="1">
                <a:solidFill>
                  <a:srgbClr val="000000"/>
                </a:solidFill>
                <a:latin typeface="Cascadia Mono" panose="020B0609020000020004" pitchFamily="49" charset="0"/>
              </a:rPr>
              <a:t>Console.WriteLine</a:t>
            </a:r>
            <a:r>
              <a:rPr lang="ru-RU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(</a:t>
            </a:r>
            <a:r>
              <a:rPr lang="ru-RU" sz="2400" dirty="0">
                <a:solidFill>
                  <a:srgbClr val="A31515"/>
                </a:solidFill>
                <a:latin typeface="Cascadia Mono" panose="020B0609020000020004" pitchFamily="49" charset="0"/>
              </a:rPr>
              <a:t>$"Сколько лет осталось до пенсии: </a:t>
            </a:r>
            <a:r>
              <a:rPr lang="en-US" sz="2400" dirty="0" smtClean="0">
                <a:solidFill>
                  <a:srgbClr val="A31515"/>
                </a:solidFill>
                <a:latin typeface="Cascadia Mono" panose="020B0609020000020004" pitchFamily="49" charset="0"/>
              </a:rPr>
              <a:t>					</a:t>
            </a:r>
            <a:r>
              <a:rPr lang="ru-RU" sz="2400" dirty="0" smtClean="0">
                <a:solidFill>
                  <a:srgbClr val="000000"/>
                </a:solidFill>
                <a:latin typeface="Cascadia Mono" panose="020B0609020000020004" pitchFamily="49" charset="0"/>
              </a:rPr>
              <a:t>{</a:t>
            </a:r>
            <a:r>
              <a:rPr lang="ru-RU" sz="2400" dirty="0" err="1">
                <a:solidFill>
                  <a:srgbClr val="000000"/>
                </a:solidFill>
                <a:latin typeface="Cascadia Mono" panose="020B0609020000020004" pitchFamily="49" charset="0"/>
              </a:rPr>
              <a:t>retirementAge</a:t>
            </a:r>
            <a:r>
              <a:rPr lang="ru-RU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 - </a:t>
            </a:r>
            <a:r>
              <a:rPr lang="ru-RU" sz="2400" dirty="0" err="1">
                <a:solidFill>
                  <a:srgbClr val="000000"/>
                </a:solidFill>
                <a:latin typeface="Cascadia Mono" panose="020B0609020000020004" pitchFamily="49" charset="0"/>
              </a:rPr>
              <a:t>age</a:t>
            </a:r>
            <a:r>
              <a:rPr lang="ru-RU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}</a:t>
            </a:r>
            <a:r>
              <a:rPr lang="ru-RU" sz="2400" dirty="0">
                <a:solidFill>
                  <a:srgbClr val="A31515"/>
                </a:solidFill>
                <a:latin typeface="Cascadia Mono" panose="020B0609020000020004" pitchFamily="49" charset="0"/>
              </a:rPr>
              <a:t>"</a:t>
            </a:r>
            <a:r>
              <a:rPr lang="ru-RU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);</a:t>
            </a:r>
          </a:p>
          <a:p>
            <a:r>
              <a:rPr lang="ru-RU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    }</a:t>
            </a:r>
          </a:p>
          <a:p>
            <a:r>
              <a:rPr lang="ru-RU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}</a:t>
            </a:r>
            <a:endParaRPr lang="ru-RU" sz="2400" dirty="0">
              <a:latin typeface="Bookman Old Style" panose="020506040505050202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916580653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Прямоугольник 5"/>
          <p:cNvSpPr/>
          <p:nvPr/>
        </p:nvSpPr>
        <p:spPr>
          <a:xfrm>
            <a:off x="259493" y="296562"/>
            <a:ext cx="11751276" cy="6186309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ru-RU" sz="2400" dirty="0">
                <a:latin typeface="Bookman Old Style" panose="02050604050505020204" pitchFamily="18" charset="0"/>
              </a:rPr>
              <a:t>В данном случае класс </a:t>
            </a:r>
            <a:r>
              <a:rPr lang="ru-RU" sz="2400" dirty="0" err="1">
                <a:latin typeface="Bookman Old Style" panose="02050604050505020204" pitchFamily="18" charset="0"/>
              </a:rPr>
              <a:t>Person</a:t>
            </a:r>
            <a:r>
              <a:rPr lang="ru-RU" sz="2400" dirty="0">
                <a:latin typeface="Bookman Old Style" panose="02050604050505020204" pitchFamily="18" charset="0"/>
              </a:rPr>
              <a:t> имеет два </a:t>
            </a:r>
            <a:r>
              <a:rPr lang="ru-RU" sz="2400" dirty="0" smtClean="0">
                <a:latin typeface="Bookman Old Style" panose="02050604050505020204" pitchFamily="18" charset="0"/>
              </a:rPr>
              <a:t>поля:</a:t>
            </a:r>
            <a:endParaRPr lang="en-US" sz="2400" dirty="0" smtClean="0">
              <a:latin typeface="Bookman Old Style" panose="02050604050505020204" pitchFamily="18" charset="0"/>
            </a:endParaRPr>
          </a:p>
          <a:p>
            <a:pPr>
              <a:lnSpc>
                <a:spcPct val="150000"/>
              </a:lnSpc>
            </a:pPr>
            <a:r>
              <a:rPr lang="ru-RU" sz="2400" b="1" dirty="0" err="1" smtClean="0">
                <a:latin typeface="Bookman Old Style" panose="02050604050505020204" pitchFamily="18" charset="0"/>
              </a:rPr>
              <a:t>age</a:t>
            </a:r>
            <a:r>
              <a:rPr lang="ru-RU" sz="2400" dirty="0" smtClean="0">
                <a:latin typeface="Bookman Old Style" panose="02050604050505020204" pitchFamily="18" charset="0"/>
              </a:rPr>
              <a:t> </a:t>
            </a:r>
            <a:r>
              <a:rPr lang="ru-RU" sz="2400" dirty="0">
                <a:latin typeface="Bookman Old Style" panose="02050604050505020204" pitchFamily="18" charset="0"/>
              </a:rPr>
              <a:t>(хранит возраст человека</a:t>
            </a:r>
            <a:r>
              <a:rPr lang="ru-RU" sz="2400" dirty="0" smtClean="0">
                <a:latin typeface="Bookman Old Style" panose="02050604050505020204" pitchFamily="18" charset="0"/>
              </a:rPr>
              <a:t>)</a:t>
            </a:r>
            <a:endParaRPr lang="en-US" sz="2400" dirty="0" smtClean="0">
              <a:latin typeface="Bookman Old Style" panose="02050604050505020204" pitchFamily="18" charset="0"/>
            </a:endParaRPr>
          </a:p>
          <a:p>
            <a:pPr>
              <a:lnSpc>
                <a:spcPct val="150000"/>
              </a:lnSpc>
            </a:pPr>
            <a:r>
              <a:rPr lang="ru-RU" sz="2400" dirty="0" smtClean="0">
                <a:latin typeface="Bookman Old Style" panose="02050604050505020204" pitchFamily="18" charset="0"/>
              </a:rPr>
              <a:t>и </a:t>
            </a:r>
            <a:r>
              <a:rPr lang="ru-RU" sz="2400" b="1" dirty="0" err="1" smtClean="0">
                <a:latin typeface="Bookman Old Style" panose="02050604050505020204" pitchFamily="18" charset="0"/>
              </a:rPr>
              <a:t>retirementAge</a:t>
            </a:r>
            <a:r>
              <a:rPr lang="ru-RU" sz="2400" dirty="0" smtClean="0">
                <a:latin typeface="Bookman Old Style" panose="02050604050505020204" pitchFamily="18" charset="0"/>
              </a:rPr>
              <a:t> </a:t>
            </a:r>
            <a:r>
              <a:rPr lang="ru-RU" sz="2400" dirty="0">
                <a:latin typeface="Bookman Old Style" panose="02050604050505020204" pitchFamily="18" charset="0"/>
              </a:rPr>
              <a:t>(хранит пенсионный возраст). </a:t>
            </a:r>
            <a:endParaRPr lang="en-US" sz="2400" dirty="0" smtClean="0">
              <a:latin typeface="Bookman Old Style" panose="02050604050505020204" pitchFamily="18" charset="0"/>
            </a:endParaRPr>
          </a:p>
          <a:p>
            <a:pPr>
              <a:lnSpc>
                <a:spcPct val="150000"/>
              </a:lnSpc>
            </a:pPr>
            <a:r>
              <a:rPr lang="ru-RU" sz="2400" dirty="0" smtClean="0">
                <a:latin typeface="Bookman Old Style" panose="02050604050505020204" pitchFamily="18" charset="0"/>
              </a:rPr>
              <a:t>Однако </a:t>
            </a:r>
            <a:r>
              <a:rPr lang="ru-RU" sz="2400" dirty="0">
                <a:latin typeface="Bookman Old Style" panose="02050604050505020204" pitchFamily="18" charset="0"/>
              </a:rPr>
              <a:t>поле </a:t>
            </a:r>
            <a:r>
              <a:rPr lang="ru-RU" sz="2400" b="1" dirty="0" err="1">
                <a:latin typeface="Bookman Old Style" panose="02050604050505020204" pitchFamily="18" charset="0"/>
              </a:rPr>
              <a:t>retirementAge</a:t>
            </a:r>
            <a:r>
              <a:rPr lang="ru-RU" sz="2400" dirty="0">
                <a:latin typeface="Bookman Old Style" panose="02050604050505020204" pitchFamily="18" charset="0"/>
              </a:rPr>
              <a:t> является статическим. Оно относится не к конкретному человеку, а ко всем людям. (В данном случае для упрощения пренебрежем тем фактом, что в зависимости от пола и профессии пенсионный возраст может отличаться.) </a:t>
            </a:r>
            <a:endParaRPr lang="en-US" sz="2400" dirty="0" smtClean="0">
              <a:latin typeface="Bookman Old Style" panose="02050604050505020204" pitchFamily="18" charset="0"/>
            </a:endParaRPr>
          </a:p>
          <a:p>
            <a:pPr>
              <a:lnSpc>
                <a:spcPct val="150000"/>
              </a:lnSpc>
            </a:pPr>
            <a:endParaRPr lang="en-US" sz="2400" dirty="0">
              <a:latin typeface="Bookman Old Style" panose="02050604050505020204" pitchFamily="18" charset="0"/>
            </a:endParaRPr>
          </a:p>
          <a:p>
            <a:pPr>
              <a:lnSpc>
                <a:spcPct val="150000"/>
              </a:lnSpc>
            </a:pPr>
            <a:r>
              <a:rPr lang="ru-RU" sz="2400" dirty="0" smtClean="0">
                <a:latin typeface="Bookman Old Style" panose="02050604050505020204" pitchFamily="18" charset="0"/>
              </a:rPr>
              <a:t>Таким </a:t>
            </a:r>
            <a:r>
              <a:rPr lang="ru-RU" sz="2400" dirty="0">
                <a:latin typeface="Bookman Old Style" panose="02050604050505020204" pitchFamily="18" charset="0"/>
              </a:rPr>
              <a:t>образом, поле </a:t>
            </a:r>
            <a:r>
              <a:rPr lang="ru-RU" sz="2400" b="1" dirty="0" err="1">
                <a:latin typeface="Bookman Old Style" panose="02050604050505020204" pitchFamily="18" charset="0"/>
              </a:rPr>
              <a:t>retirementAge</a:t>
            </a:r>
            <a:r>
              <a:rPr lang="ru-RU" sz="2400" dirty="0">
                <a:latin typeface="Bookman Old Style" panose="02050604050505020204" pitchFamily="18" charset="0"/>
              </a:rPr>
              <a:t> относится не к отдельную объекту и хранит значение НЕ отдельного объекта класса </a:t>
            </a:r>
            <a:r>
              <a:rPr lang="ru-RU" sz="2400" b="1" dirty="0" err="1">
                <a:latin typeface="Bookman Old Style" panose="02050604050505020204" pitchFamily="18" charset="0"/>
              </a:rPr>
              <a:t>Person</a:t>
            </a:r>
            <a:r>
              <a:rPr lang="ru-RU" sz="2400" dirty="0">
                <a:latin typeface="Bookman Old Style" panose="02050604050505020204" pitchFamily="18" charset="0"/>
              </a:rPr>
              <a:t>, а относится ко всему классу </a:t>
            </a:r>
            <a:r>
              <a:rPr lang="ru-RU" sz="2400" b="1" dirty="0" err="1">
                <a:latin typeface="Bookman Old Style" panose="02050604050505020204" pitchFamily="18" charset="0"/>
              </a:rPr>
              <a:t>Person</a:t>
            </a:r>
            <a:r>
              <a:rPr lang="ru-RU" sz="2400" dirty="0">
                <a:latin typeface="Bookman Old Style" panose="02050604050505020204" pitchFamily="18" charset="0"/>
              </a:rPr>
              <a:t> и хранит общее значение для всего класса.</a:t>
            </a:r>
          </a:p>
        </p:txBody>
      </p:sp>
    </p:spTree>
    <p:extLst>
      <p:ext uri="{BB962C8B-B14F-4D97-AF65-F5344CB8AC3E}">
        <p14:creationId xmlns:p14="http://schemas.microsoft.com/office/powerpoint/2010/main" val="3743226435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Прямоугольник 5"/>
          <p:cNvSpPr/>
          <p:nvPr/>
        </p:nvSpPr>
        <p:spPr>
          <a:xfrm>
            <a:off x="333633" y="345990"/>
            <a:ext cx="11747837" cy="378565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sz="2400" dirty="0">
                <a:solidFill>
                  <a:srgbClr val="00B0F0"/>
                </a:solidFill>
                <a:latin typeface="Cascadia Mono" panose="020B0609020000020004" pitchFamily="49" charset="0"/>
              </a:rPr>
              <a:t>Person</a:t>
            </a:r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 bob = </a:t>
            </a:r>
            <a:r>
              <a:rPr lang="en-US" sz="2400" dirty="0">
                <a:solidFill>
                  <a:srgbClr val="0000FF"/>
                </a:solidFill>
                <a:latin typeface="Cascadia Mono" panose="020B0609020000020004" pitchFamily="49" charset="0"/>
              </a:rPr>
              <a:t>new</a:t>
            </a:r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(68);</a:t>
            </a:r>
          </a:p>
          <a:p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bob.</a:t>
            </a:r>
            <a:r>
              <a:rPr lang="ru-RU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С</a:t>
            </a:r>
            <a:r>
              <a:rPr lang="en-US" sz="2400" dirty="0" err="1">
                <a:solidFill>
                  <a:srgbClr val="000000"/>
                </a:solidFill>
                <a:latin typeface="Cascadia Mono" panose="020B0609020000020004" pitchFamily="49" charset="0"/>
              </a:rPr>
              <a:t>heckAge</a:t>
            </a:r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();     </a:t>
            </a:r>
            <a:r>
              <a:rPr lang="en-US" sz="2400" dirty="0">
                <a:solidFill>
                  <a:srgbClr val="008000"/>
                </a:solidFill>
                <a:latin typeface="Cascadia Mono" panose="020B0609020000020004" pitchFamily="49" charset="0"/>
              </a:rPr>
              <a:t>// </a:t>
            </a:r>
            <a:r>
              <a:rPr lang="ru-RU" sz="2400" dirty="0">
                <a:solidFill>
                  <a:srgbClr val="008000"/>
                </a:solidFill>
                <a:latin typeface="Cascadia Mono" panose="020B0609020000020004" pitchFamily="49" charset="0"/>
              </a:rPr>
              <a:t>Уже на пенсии</a:t>
            </a:r>
            <a:endParaRPr lang="ru-RU" sz="2400" dirty="0">
              <a:solidFill>
                <a:srgbClr val="000000"/>
              </a:solidFill>
              <a:latin typeface="Cascadia Mono" panose="020B0609020000020004" pitchFamily="49" charset="0"/>
            </a:endParaRPr>
          </a:p>
          <a:p>
            <a:endParaRPr lang="ru-RU" sz="2400" dirty="0">
              <a:solidFill>
                <a:srgbClr val="000000"/>
              </a:solidFill>
              <a:latin typeface="Cascadia Mono" panose="020B0609020000020004" pitchFamily="49" charset="0"/>
            </a:endParaRPr>
          </a:p>
          <a:p>
            <a:r>
              <a:rPr lang="en-US" sz="2400" dirty="0">
                <a:solidFill>
                  <a:srgbClr val="00B0F0"/>
                </a:solidFill>
                <a:latin typeface="Cascadia Mono" panose="020B0609020000020004" pitchFamily="49" charset="0"/>
              </a:rPr>
              <a:t>Person</a:t>
            </a:r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 tom = </a:t>
            </a:r>
            <a:r>
              <a:rPr lang="en-US" sz="2400" dirty="0">
                <a:solidFill>
                  <a:srgbClr val="0000FF"/>
                </a:solidFill>
                <a:latin typeface="Cascadia Mono" panose="020B0609020000020004" pitchFamily="49" charset="0"/>
              </a:rPr>
              <a:t>new</a:t>
            </a:r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(37);</a:t>
            </a:r>
          </a:p>
          <a:p>
            <a:r>
              <a:rPr lang="ru-RU" sz="2400" dirty="0" err="1">
                <a:solidFill>
                  <a:srgbClr val="000000"/>
                </a:solidFill>
                <a:latin typeface="Cascadia Mono" panose="020B0609020000020004" pitchFamily="49" charset="0"/>
              </a:rPr>
              <a:t>tom.СheckAge</a:t>
            </a:r>
            <a:r>
              <a:rPr lang="ru-RU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();     </a:t>
            </a:r>
            <a:r>
              <a:rPr lang="ru-RU" sz="2400" dirty="0">
                <a:solidFill>
                  <a:srgbClr val="008000"/>
                </a:solidFill>
                <a:latin typeface="Cascadia Mono" panose="020B0609020000020004" pitchFamily="49" charset="0"/>
              </a:rPr>
              <a:t>// Сколько лет осталось до пенсии: 28</a:t>
            </a:r>
            <a:endParaRPr lang="ru-RU" sz="2400" dirty="0">
              <a:solidFill>
                <a:srgbClr val="000000"/>
              </a:solidFill>
              <a:latin typeface="Cascadia Mono" panose="020B0609020000020004" pitchFamily="49" charset="0"/>
            </a:endParaRPr>
          </a:p>
          <a:p>
            <a:endParaRPr lang="ru-RU" sz="2400" dirty="0">
              <a:solidFill>
                <a:srgbClr val="000000"/>
              </a:solidFill>
              <a:latin typeface="Cascadia Mono" panose="020B0609020000020004" pitchFamily="49" charset="0"/>
            </a:endParaRPr>
          </a:p>
          <a:p>
            <a:r>
              <a:rPr lang="ru-RU" sz="2400" dirty="0">
                <a:solidFill>
                  <a:srgbClr val="008000"/>
                </a:solidFill>
                <a:latin typeface="Cascadia Mono" panose="020B0609020000020004" pitchFamily="49" charset="0"/>
              </a:rPr>
              <a:t>// получение статического поля</a:t>
            </a:r>
            <a:endParaRPr lang="ru-RU" sz="2400" dirty="0">
              <a:solidFill>
                <a:srgbClr val="000000"/>
              </a:solidFill>
              <a:latin typeface="Cascadia Mono" panose="020B0609020000020004" pitchFamily="49" charset="0"/>
            </a:endParaRPr>
          </a:p>
          <a:p>
            <a:r>
              <a:rPr lang="en-US" sz="2400" dirty="0" err="1">
                <a:solidFill>
                  <a:srgbClr val="00B0F0"/>
                </a:solidFill>
                <a:latin typeface="Cascadia Mono" panose="020B0609020000020004" pitchFamily="49" charset="0"/>
              </a:rPr>
              <a:t>Console</a:t>
            </a:r>
            <a:r>
              <a:rPr lang="en-US" sz="2400" dirty="0" err="1">
                <a:solidFill>
                  <a:srgbClr val="000000"/>
                </a:solidFill>
                <a:latin typeface="Cascadia Mono" panose="020B0609020000020004" pitchFamily="49" charset="0"/>
              </a:rPr>
              <a:t>.WriteLine</a:t>
            </a:r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(</a:t>
            </a:r>
            <a:r>
              <a:rPr lang="en-US" sz="2400" dirty="0" err="1">
                <a:solidFill>
                  <a:srgbClr val="00B0F0"/>
                </a:solidFill>
                <a:latin typeface="Cascadia Mono" panose="020B0609020000020004" pitchFamily="49" charset="0"/>
              </a:rPr>
              <a:t>Person</a:t>
            </a:r>
            <a:r>
              <a:rPr lang="en-US" sz="2400" dirty="0" err="1">
                <a:solidFill>
                  <a:srgbClr val="000000"/>
                </a:solidFill>
                <a:latin typeface="Cascadia Mono" panose="020B0609020000020004" pitchFamily="49" charset="0"/>
              </a:rPr>
              <a:t>.retirementAge</a:t>
            </a:r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); </a:t>
            </a:r>
            <a:r>
              <a:rPr lang="en-US" sz="2400" dirty="0">
                <a:solidFill>
                  <a:srgbClr val="008000"/>
                </a:solidFill>
                <a:latin typeface="Cascadia Mono" panose="020B0609020000020004" pitchFamily="49" charset="0"/>
              </a:rPr>
              <a:t>// 65</a:t>
            </a:r>
            <a:endParaRPr lang="en-US" sz="2400" dirty="0">
              <a:solidFill>
                <a:srgbClr val="000000"/>
              </a:solidFill>
              <a:latin typeface="Cascadia Mono" panose="020B0609020000020004" pitchFamily="49" charset="0"/>
            </a:endParaRPr>
          </a:p>
          <a:p>
            <a:r>
              <a:rPr lang="ru-RU" sz="2400" dirty="0">
                <a:solidFill>
                  <a:srgbClr val="008000"/>
                </a:solidFill>
                <a:latin typeface="Cascadia Mono" panose="020B0609020000020004" pitchFamily="49" charset="0"/>
              </a:rPr>
              <a:t>// изменение статического поля</a:t>
            </a:r>
            <a:endParaRPr lang="ru-RU" sz="2400" dirty="0">
              <a:solidFill>
                <a:srgbClr val="000000"/>
              </a:solidFill>
              <a:latin typeface="Cascadia Mono" panose="020B0609020000020004" pitchFamily="49" charset="0"/>
            </a:endParaRPr>
          </a:p>
          <a:p>
            <a:r>
              <a:rPr lang="en-US" sz="2400" dirty="0" err="1">
                <a:solidFill>
                  <a:srgbClr val="00B0F0"/>
                </a:solidFill>
                <a:latin typeface="Cascadia Mono" panose="020B0609020000020004" pitchFamily="49" charset="0"/>
              </a:rPr>
              <a:t>Person</a:t>
            </a:r>
            <a:r>
              <a:rPr lang="en-US" sz="2400" dirty="0" err="1">
                <a:solidFill>
                  <a:srgbClr val="000000"/>
                </a:solidFill>
                <a:latin typeface="Cascadia Mono" panose="020B0609020000020004" pitchFamily="49" charset="0"/>
              </a:rPr>
              <a:t>.retirementAge</a:t>
            </a:r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 = 67;</a:t>
            </a:r>
            <a:endParaRPr lang="ru-RU" sz="2400" dirty="0">
              <a:latin typeface="Bookman Old Style" panose="020506040505050202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452031641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Прямоугольник 5"/>
          <p:cNvSpPr/>
          <p:nvPr/>
        </p:nvSpPr>
        <p:spPr>
          <a:xfrm>
            <a:off x="135924" y="0"/>
            <a:ext cx="12056075" cy="655564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just">
              <a:lnSpc>
                <a:spcPct val="150000"/>
              </a:lnSpc>
            </a:pPr>
            <a:r>
              <a:rPr lang="ru-RU" sz="2400" b="1" dirty="0">
                <a:latin typeface="Bookman Old Style" panose="02050604050505020204" pitchFamily="18" charset="0"/>
                <a:cs typeface="Times New Roman" panose="02020603050405020304" pitchFamily="18" charset="0"/>
              </a:rPr>
              <a:t>Статические </a:t>
            </a:r>
            <a:r>
              <a:rPr lang="ru-RU" sz="2400" b="1" dirty="0" smtClean="0">
                <a:latin typeface="Bookman Old Style" panose="02050604050505020204" pitchFamily="18" charset="0"/>
                <a:cs typeface="Times New Roman" panose="02020603050405020304" pitchFamily="18" charset="0"/>
              </a:rPr>
              <a:t>свойства</a:t>
            </a:r>
            <a:endParaRPr lang="en-US" sz="2400" b="1" dirty="0" smtClean="0">
              <a:latin typeface="Bookman Old Style" panose="02050604050505020204" pitchFamily="18" charset="0"/>
              <a:cs typeface="Times New Roman" panose="02020603050405020304" pitchFamily="18" charset="0"/>
            </a:endParaRPr>
          </a:p>
          <a:p>
            <a:r>
              <a:rPr lang="en-US" sz="2400" dirty="0">
                <a:solidFill>
                  <a:srgbClr val="2B91AF"/>
                </a:solidFill>
                <a:latin typeface="Cascadia Mono" panose="020B0609020000020004" pitchFamily="49" charset="0"/>
              </a:rPr>
              <a:t>Person</a:t>
            </a:r>
            <a:r>
              <a:rPr lang="en-US" sz="2400" dirty="0" smtClean="0">
                <a:solidFill>
                  <a:srgbClr val="000000"/>
                </a:solidFill>
                <a:latin typeface="Cascadia Mono" panose="020B0609020000020004" pitchFamily="49" charset="0"/>
              </a:rPr>
              <a:t> </a:t>
            </a:r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bob = </a:t>
            </a:r>
            <a:r>
              <a:rPr lang="en-US" sz="2400" dirty="0">
                <a:solidFill>
                  <a:srgbClr val="0000FF"/>
                </a:solidFill>
                <a:latin typeface="Cascadia Mono" panose="020B0609020000020004" pitchFamily="49" charset="0"/>
              </a:rPr>
              <a:t>new</a:t>
            </a:r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(68</a:t>
            </a:r>
            <a:r>
              <a:rPr lang="en-US" sz="2400" dirty="0" smtClean="0">
                <a:solidFill>
                  <a:srgbClr val="000000"/>
                </a:solidFill>
                <a:latin typeface="Cascadia Mono" panose="020B0609020000020004" pitchFamily="49" charset="0"/>
              </a:rPr>
              <a:t>);</a:t>
            </a:r>
            <a:endParaRPr lang="ru-RU" sz="2400" dirty="0">
              <a:solidFill>
                <a:srgbClr val="000000"/>
              </a:solidFill>
              <a:latin typeface="Cascadia Mono" panose="020B0609020000020004" pitchFamily="49" charset="0"/>
            </a:endParaRPr>
          </a:p>
          <a:p>
            <a:r>
              <a:rPr lang="en-US" sz="2400" dirty="0" err="1">
                <a:solidFill>
                  <a:srgbClr val="2B91AF"/>
                </a:solidFill>
                <a:latin typeface="Cascadia Mono" panose="020B0609020000020004" pitchFamily="49" charset="0"/>
              </a:rPr>
              <a:t>Console</a:t>
            </a:r>
            <a:r>
              <a:rPr lang="en-US" sz="2400" dirty="0" err="1">
                <a:solidFill>
                  <a:srgbClr val="000000"/>
                </a:solidFill>
                <a:latin typeface="Cascadia Mono" panose="020B0609020000020004" pitchFamily="49" charset="0"/>
              </a:rPr>
              <a:t>.WriteLine</a:t>
            </a:r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(</a:t>
            </a:r>
            <a:r>
              <a:rPr lang="en-US" sz="2400" dirty="0" err="1">
                <a:solidFill>
                  <a:srgbClr val="2B91AF"/>
                </a:solidFill>
                <a:latin typeface="Cascadia Mono" panose="020B0609020000020004" pitchFamily="49" charset="0"/>
              </a:rPr>
              <a:t>Person</a:t>
            </a:r>
            <a:r>
              <a:rPr lang="en-US" sz="2400" dirty="0" err="1">
                <a:solidFill>
                  <a:srgbClr val="000000"/>
                </a:solidFill>
                <a:latin typeface="Cascadia Mono" panose="020B0609020000020004" pitchFamily="49" charset="0"/>
              </a:rPr>
              <a:t>.RetirementAge</a:t>
            </a:r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); </a:t>
            </a:r>
            <a:r>
              <a:rPr lang="en-US" sz="2400" dirty="0">
                <a:solidFill>
                  <a:srgbClr val="008000"/>
                </a:solidFill>
                <a:latin typeface="Cascadia Mono" panose="020B0609020000020004" pitchFamily="49" charset="0"/>
              </a:rPr>
              <a:t>// 65</a:t>
            </a:r>
            <a:endParaRPr lang="en-US" sz="2400" dirty="0" smtClean="0">
              <a:latin typeface="Bookman Old Style" panose="02050604050505020204" pitchFamily="18" charset="0"/>
              <a:cs typeface="Times New Roman" panose="02020603050405020304" pitchFamily="18" charset="0"/>
            </a:endParaRPr>
          </a:p>
          <a:p>
            <a:r>
              <a:rPr lang="en-US" sz="2400" dirty="0" smtClean="0">
                <a:solidFill>
                  <a:srgbClr val="0000FF"/>
                </a:solidFill>
                <a:latin typeface="Cascadia Mono" panose="020B0609020000020004" pitchFamily="49" charset="0"/>
              </a:rPr>
              <a:t>class</a:t>
            </a:r>
            <a:r>
              <a:rPr lang="en-US" sz="2400" dirty="0" smtClean="0">
                <a:solidFill>
                  <a:srgbClr val="000000"/>
                </a:solidFill>
                <a:latin typeface="Cascadia Mono" panose="020B0609020000020004" pitchFamily="49" charset="0"/>
              </a:rPr>
              <a:t> </a:t>
            </a:r>
            <a:r>
              <a:rPr lang="en-US" sz="2400" dirty="0">
                <a:solidFill>
                  <a:srgbClr val="2B91AF"/>
                </a:solidFill>
                <a:latin typeface="Cascadia Mono" panose="020B0609020000020004" pitchFamily="49" charset="0"/>
              </a:rPr>
              <a:t>Person</a:t>
            </a:r>
            <a:endParaRPr lang="en-US" sz="2400" dirty="0">
              <a:solidFill>
                <a:srgbClr val="000000"/>
              </a:solidFill>
              <a:latin typeface="Cascadia Mono" panose="020B0609020000020004" pitchFamily="49" charset="0"/>
            </a:endParaRPr>
          </a:p>
          <a:p>
            <a:r>
              <a:rPr lang="ru-RU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{</a:t>
            </a:r>
          </a:p>
          <a:p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    </a:t>
            </a:r>
            <a:r>
              <a:rPr lang="en-US" sz="2400" dirty="0" err="1">
                <a:solidFill>
                  <a:srgbClr val="0000FF"/>
                </a:solidFill>
                <a:latin typeface="Cascadia Mono" panose="020B0609020000020004" pitchFamily="49" charset="0"/>
              </a:rPr>
              <a:t>int</a:t>
            </a:r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 age;</a:t>
            </a:r>
          </a:p>
          <a:p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    </a:t>
            </a:r>
            <a:r>
              <a:rPr lang="en-US" sz="2400" dirty="0">
                <a:solidFill>
                  <a:srgbClr val="0000FF"/>
                </a:solidFill>
                <a:latin typeface="Cascadia Mono" panose="020B0609020000020004" pitchFamily="49" charset="0"/>
              </a:rPr>
              <a:t>static</a:t>
            </a:r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 </a:t>
            </a:r>
            <a:r>
              <a:rPr lang="en-US" sz="2400" dirty="0" err="1">
                <a:solidFill>
                  <a:srgbClr val="0000FF"/>
                </a:solidFill>
                <a:latin typeface="Cascadia Mono" panose="020B0609020000020004" pitchFamily="49" charset="0"/>
              </a:rPr>
              <a:t>int</a:t>
            </a:r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 </a:t>
            </a:r>
            <a:r>
              <a:rPr lang="en-US" sz="2400" dirty="0" err="1">
                <a:solidFill>
                  <a:srgbClr val="000000"/>
                </a:solidFill>
                <a:latin typeface="Cascadia Mono" panose="020B0609020000020004" pitchFamily="49" charset="0"/>
              </a:rPr>
              <a:t>retirementAge</a:t>
            </a:r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 = 65;</a:t>
            </a:r>
          </a:p>
          <a:p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    </a:t>
            </a:r>
            <a:r>
              <a:rPr lang="en-US" sz="2400" dirty="0">
                <a:solidFill>
                  <a:srgbClr val="0000FF"/>
                </a:solidFill>
                <a:latin typeface="Cascadia Mono" panose="020B0609020000020004" pitchFamily="49" charset="0"/>
              </a:rPr>
              <a:t>public</a:t>
            </a:r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 </a:t>
            </a:r>
            <a:r>
              <a:rPr lang="en-US" sz="2400" dirty="0">
                <a:solidFill>
                  <a:srgbClr val="0000FF"/>
                </a:solidFill>
                <a:latin typeface="Cascadia Mono" panose="020B0609020000020004" pitchFamily="49" charset="0"/>
              </a:rPr>
              <a:t>static</a:t>
            </a:r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 </a:t>
            </a:r>
            <a:r>
              <a:rPr lang="en-US" sz="2400" dirty="0" err="1">
                <a:solidFill>
                  <a:srgbClr val="0000FF"/>
                </a:solidFill>
                <a:latin typeface="Cascadia Mono" panose="020B0609020000020004" pitchFamily="49" charset="0"/>
              </a:rPr>
              <a:t>int</a:t>
            </a:r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 </a:t>
            </a:r>
            <a:r>
              <a:rPr lang="en-US" sz="2400" dirty="0" err="1">
                <a:solidFill>
                  <a:srgbClr val="000000"/>
                </a:solidFill>
                <a:latin typeface="Cascadia Mono" panose="020B0609020000020004" pitchFamily="49" charset="0"/>
              </a:rPr>
              <a:t>RetirementAge</a:t>
            </a:r>
            <a:endParaRPr lang="en-US" sz="2400" dirty="0">
              <a:solidFill>
                <a:srgbClr val="000000"/>
              </a:solidFill>
              <a:latin typeface="Cascadia Mono" panose="020B0609020000020004" pitchFamily="49" charset="0"/>
            </a:endParaRPr>
          </a:p>
          <a:p>
            <a:r>
              <a:rPr lang="ru-RU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    {</a:t>
            </a:r>
          </a:p>
          <a:p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        </a:t>
            </a:r>
            <a:r>
              <a:rPr lang="en-US" sz="2400" dirty="0">
                <a:solidFill>
                  <a:srgbClr val="0000FF"/>
                </a:solidFill>
                <a:latin typeface="Cascadia Mono" panose="020B0609020000020004" pitchFamily="49" charset="0"/>
              </a:rPr>
              <a:t>get</a:t>
            </a:r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 { </a:t>
            </a:r>
            <a:r>
              <a:rPr lang="en-US" sz="2400" dirty="0">
                <a:solidFill>
                  <a:srgbClr val="0000FF"/>
                </a:solidFill>
                <a:latin typeface="Cascadia Mono" panose="020B0609020000020004" pitchFamily="49" charset="0"/>
              </a:rPr>
              <a:t>return</a:t>
            </a:r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 </a:t>
            </a:r>
            <a:r>
              <a:rPr lang="en-US" sz="2400" dirty="0" err="1">
                <a:solidFill>
                  <a:srgbClr val="000000"/>
                </a:solidFill>
                <a:latin typeface="Cascadia Mono" panose="020B0609020000020004" pitchFamily="49" charset="0"/>
              </a:rPr>
              <a:t>retirementAge</a:t>
            </a:r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; }</a:t>
            </a:r>
          </a:p>
          <a:p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        </a:t>
            </a:r>
            <a:r>
              <a:rPr lang="en-US" sz="2400" dirty="0">
                <a:solidFill>
                  <a:srgbClr val="0000FF"/>
                </a:solidFill>
                <a:latin typeface="Cascadia Mono" panose="020B0609020000020004" pitchFamily="49" charset="0"/>
              </a:rPr>
              <a:t>set</a:t>
            </a:r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 { </a:t>
            </a:r>
            <a:r>
              <a:rPr lang="en-US" sz="2400" dirty="0">
                <a:solidFill>
                  <a:srgbClr val="0000FF"/>
                </a:solidFill>
                <a:latin typeface="Cascadia Mono" panose="020B0609020000020004" pitchFamily="49" charset="0"/>
              </a:rPr>
              <a:t>if</a:t>
            </a:r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 (value &gt; 1 &amp;&amp; value &lt; </a:t>
            </a:r>
            <a:r>
              <a:rPr lang="en-US" sz="2400" dirty="0" smtClean="0">
                <a:solidFill>
                  <a:srgbClr val="000000"/>
                </a:solidFill>
                <a:latin typeface="Cascadia Mono" panose="020B0609020000020004" pitchFamily="49" charset="0"/>
              </a:rPr>
              <a:t>99) </a:t>
            </a:r>
            <a:r>
              <a:rPr lang="en-US" sz="2400" dirty="0" err="1">
                <a:solidFill>
                  <a:srgbClr val="000000"/>
                </a:solidFill>
                <a:latin typeface="Cascadia Mono" panose="020B0609020000020004" pitchFamily="49" charset="0"/>
              </a:rPr>
              <a:t>retirementAge</a:t>
            </a:r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 = value</a:t>
            </a:r>
            <a:r>
              <a:rPr lang="en-US" sz="2400" dirty="0" smtClean="0">
                <a:solidFill>
                  <a:srgbClr val="000000"/>
                </a:solidFill>
                <a:latin typeface="Cascadia Mono" panose="020B0609020000020004" pitchFamily="49" charset="0"/>
              </a:rPr>
              <a:t>;}</a:t>
            </a:r>
            <a:endParaRPr lang="en-US" sz="2400" dirty="0">
              <a:solidFill>
                <a:srgbClr val="000000"/>
              </a:solidFill>
              <a:latin typeface="Cascadia Mono" panose="020B0609020000020004" pitchFamily="49" charset="0"/>
            </a:endParaRPr>
          </a:p>
          <a:p>
            <a:r>
              <a:rPr lang="ru-RU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    }</a:t>
            </a:r>
          </a:p>
          <a:p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    </a:t>
            </a:r>
            <a:r>
              <a:rPr lang="en-US" sz="2400" dirty="0">
                <a:solidFill>
                  <a:srgbClr val="0000FF"/>
                </a:solidFill>
                <a:latin typeface="Cascadia Mono" panose="020B0609020000020004" pitchFamily="49" charset="0"/>
              </a:rPr>
              <a:t>public</a:t>
            </a:r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 </a:t>
            </a:r>
            <a:r>
              <a:rPr lang="en-US" sz="2400" dirty="0">
                <a:solidFill>
                  <a:srgbClr val="2B91AF"/>
                </a:solidFill>
                <a:latin typeface="Cascadia Mono" panose="020B0609020000020004" pitchFamily="49" charset="0"/>
              </a:rPr>
              <a:t>Person</a:t>
            </a:r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(</a:t>
            </a:r>
            <a:r>
              <a:rPr lang="en-US" sz="2400" dirty="0" err="1">
                <a:solidFill>
                  <a:srgbClr val="0000FF"/>
                </a:solidFill>
                <a:latin typeface="Cascadia Mono" panose="020B0609020000020004" pitchFamily="49" charset="0"/>
              </a:rPr>
              <a:t>int</a:t>
            </a:r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 age)</a:t>
            </a:r>
          </a:p>
          <a:p>
            <a:r>
              <a:rPr lang="ru-RU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    {</a:t>
            </a:r>
          </a:p>
          <a:p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        </a:t>
            </a:r>
            <a:r>
              <a:rPr lang="en-US" sz="2400" dirty="0" err="1">
                <a:solidFill>
                  <a:srgbClr val="0000FF"/>
                </a:solidFill>
                <a:latin typeface="Cascadia Mono" panose="020B0609020000020004" pitchFamily="49" charset="0"/>
              </a:rPr>
              <a:t>this</a:t>
            </a:r>
            <a:r>
              <a:rPr lang="en-US" sz="2400" dirty="0" err="1">
                <a:solidFill>
                  <a:srgbClr val="000000"/>
                </a:solidFill>
                <a:latin typeface="Cascadia Mono" panose="020B0609020000020004" pitchFamily="49" charset="0"/>
              </a:rPr>
              <a:t>.age</a:t>
            </a:r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 = age;</a:t>
            </a:r>
          </a:p>
          <a:p>
            <a:r>
              <a:rPr lang="ru-RU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    }</a:t>
            </a:r>
          </a:p>
          <a:p>
            <a:r>
              <a:rPr lang="ru-RU" sz="2400" dirty="0" smtClean="0">
                <a:solidFill>
                  <a:srgbClr val="000000"/>
                </a:solidFill>
                <a:latin typeface="Cascadia Mono" panose="020B0609020000020004" pitchFamily="49" charset="0"/>
              </a:rPr>
              <a:t>}</a:t>
            </a:r>
            <a:endParaRPr lang="ru-RU" sz="2400" dirty="0">
              <a:latin typeface="Bookman Old Style" panose="020506040505050202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756630503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Прямоугольник 5"/>
          <p:cNvSpPr/>
          <p:nvPr/>
        </p:nvSpPr>
        <p:spPr>
          <a:xfrm>
            <a:off x="210064" y="0"/>
            <a:ext cx="11664779" cy="6924973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just">
              <a:lnSpc>
                <a:spcPct val="150000"/>
              </a:lnSpc>
            </a:pPr>
            <a:r>
              <a:rPr lang="ru-RU" sz="2400" b="1" dirty="0">
                <a:latin typeface="Bookman Old Style" panose="02050604050505020204" pitchFamily="18" charset="0"/>
                <a:cs typeface="Times New Roman" panose="02020603050405020304" pitchFamily="18" charset="0"/>
              </a:rPr>
              <a:t>Статические </a:t>
            </a:r>
            <a:r>
              <a:rPr lang="ru-RU" sz="2400" b="1" dirty="0" smtClean="0">
                <a:latin typeface="Bookman Old Style" panose="02050604050505020204" pitchFamily="18" charset="0"/>
                <a:cs typeface="Times New Roman" panose="02020603050405020304" pitchFamily="18" charset="0"/>
              </a:rPr>
              <a:t>методы</a:t>
            </a:r>
            <a:endParaRPr lang="en-US" sz="2400" b="1" dirty="0" smtClean="0">
              <a:latin typeface="Bookman Old Style" panose="02050604050505020204" pitchFamily="18" charset="0"/>
              <a:cs typeface="Times New Roman" panose="02020603050405020304" pitchFamily="18" charset="0"/>
            </a:endParaRPr>
          </a:p>
          <a:p>
            <a:r>
              <a:rPr lang="en-US" sz="2400" dirty="0">
                <a:solidFill>
                  <a:srgbClr val="2B91AF"/>
                </a:solidFill>
                <a:latin typeface="Cascadia Mono" panose="020B0609020000020004" pitchFamily="49" charset="0"/>
              </a:rPr>
              <a:t>Person</a:t>
            </a:r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 bob = </a:t>
            </a:r>
            <a:r>
              <a:rPr lang="en-US" sz="2400" dirty="0">
                <a:solidFill>
                  <a:srgbClr val="0000FF"/>
                </a:solidFill>
                <a:latin typeface="Cascadia Mono" panose="020B0609020000020004" pitchFamily="49" charset="0"/>
              </a:rPr>
              <a:t>new</a:t>
            </a:r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(68);</a:t>
            </a:r>
          </a:p>
          <a:p>
            <a:r>
              <a:rPr lang="en-US" sz="2400" dirty="0" err="1">
                <a:solidFill>
                  <a:srgbClr val="2B91AF"/>
                </a:solidFill>
                <a:latin typeface="Cascadia Mono" panose="020B0609020000020004" pitchFamily="49" charset="0"/>
              </a:rPr>
              <a:t>Person</a:t>
            </a:r>
            <a:r>
              <a:rPr lang="en-US" sz="2400" dirty="0" err="1">
                <a:solidFill>
                  <a:srgbClr val="000000"/>
                </a:solidFill>
                <a:latin typeface="Cascadia Mono" panose="020B0609020000020004" pitchFamily="49" charset="0"/>
              </a:rPr>
              <a:t>.CheckRetirementStatus</a:t>
            </a:r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(bob);</a:t>
            </a:r>
          </a:p>
          <a:p>
            <a:endParaRPr lang="ru-RU" sz="2400" dirty="0">
              <a:solidFill>
                <a:srgbClr val="000000"/>
              </a:solidFill>
              <a:latin typeface="Cascadia Mono" panose="020B0609020000020004" pitchFamily="49" charset="0"/>
            </a:endParaRPr>
          </a:p>
          <a:p>
            <a:r>
              <a:rPr lang="en-US" sz="2400" dirty="0">
                <a:solidFill>
                  <a:srgbClr val="0000FF"/>
                </a:solidFill>
                <a:latin typeface="Cascadia Mono" panose="020B0609020000020004" pitchFamily="49" charset="0"/>
              </a:rPr>
              <a:t>class</a:t>
            </a:r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 </a:t>
            </a:r>
            <a:r>
              <a:rPr lang="en-US" sz="2400" dirty="0">
                <a:solidFill>
                  <a:srgbClr val="2B91AF"/>
                </a:solidFill>
                <a:latin typeface="Cascadia Mono" panose="020B0609020000020004" pitchFamily="49" charset="0"/>
              </a:rPr>
              <a:t>Person</a:t>
            </a:r>
            <a:endParaRPr lang="en-US" sz="2400" dirty="0">
              <a:solidFill>
                <a:srgbClr val="000000"/>
              </a:solidFill>
              <a:latin typeface="Cascadia Mono" panose="020B0609020000020004" pitchFamily="49" charset="0"/>
            </a:endParaRPr>
          </a:p>
          <a:p>
            <a:r>
              <a:rPr lang="ru-RU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{</a:t>
            </a:r>
          </a:p>
          <a:p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    </a:t>
            </a:r>
            <a:r>
              <a:rPr lang="en-US" sz="2400" dirty="0">
                <a:solidFill>
                  <a:srgbClr val="0000FF"/>
                </a:solidFill>
                <a:latin typeface="Cascadia Mono" panose="020B0609020000020004" pitchFamily="49" charset="0"/>
              </a:rPr>
              <a:t>public</a:t>
            </a:r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 </a:t>
            </a:r>
            <a:r>
              <a:rPr lang="en-US" sz="2400" dirty="0" err="1">
                <a:solidFill>
                  <a:srgbClr val="0000FF"/>
                </a:solidFill>
                <a:latin typeface="Cascadia Mono" panose="020B0609020000020004" pitchFamily="49" charset="0"/>
              </a:rPr>
              <a:t>int</a:t>
            </a:r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 Age { </a:t>
            </a:r>
            <a:r>
              <a:rPr lang="en-US" sz="2400" dirty="0">
                <a:solidFill>
                  <a:srgbClr val="0000FF"/>
                </a:solidFill>
                <a:latin typeface="Cascadia Mono" panose="020B0609020000020004" pitchFamily="49" charset="0"/>
              </a:rPr>
              <a:t>get</a:t>
            </a:r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; </a:t>
            </a:r>
            <a:r>
              <a:rPr lang="en-US" sz="2400" dirty="0">
                <a:solidFill>
                  <a:srgbClr val="0000FF"/>
                </a:solidFill>
                <a:latin typeface="Cascadia Mono" panose="020B0609020000020004" pitchFamily="49" charset="0"/>
              </a:rPr>
              <a:t>set</a:t>
            </a:r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; }</a:t>
            </a:r>
          </a:p>
          <a:p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    </a:t>
            </a:r>
            <a:r>
              <a:rPr lang="en-US" sz="2400" dirty="0">
                <a:solidFill>
                  <a:srgbClr val="0000FF"/>
                </a:solidFill>
                <a:latin typeface="Cascadia Mono" panose="020B0609020000020004" pitchFamily="49" charset="0"/>
              </a:rPr>
              <a:t>static</a:t>
            </a:r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 </a:t>
            </a:r>
            <a:r>
              <a:rPr lang="en-US" sz="2400" dirty="0" err="1">
                <a:solidFill>
                  <a:srgbClr val="0000FF"/>
                </a:solidFill>
                <a:latin typeface="Cascadia Mono" panose="020B0609020000020004" pitchFamily="49" charset="0"/>
              </a:rPr>
              <a:t>int</a:t>
            </a:r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 </a:t>
            </a:r>
            <a:r>
              <a:rPr lang="en-US" sz="2400" dirty="0" err="1">
                <a:solidFill>
                  <a:srgbClr val="000000"/>
                </a:solidFill>
                <a:latin typeface="Cascadia Mono" panose="020B0609020000020004" pitchFamily="49" charset="0"/>
              </a:rPr>
              <a:t>retirementAge</a:t>
            </a:r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 = 65;</a:t>
            </a:r>
          </a:p>
          <a:p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    </a:t>
            </a:r>
            <a:r>
              <a:rPr lang="en-US" sz="2400" dirty="0">
                <a:solidFill>
                  <a:srgbClr val="0000FF"/>
                </a:solidFill>
                <a:latin typeface="Cascadia Mono" panose="020B0609020000020004" pitchFamily="49" charset="0"/>
              </a:rPr>
              <a:t>public</a:t>
            </a:r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 </a:t>
            </a:r>
            <a:r>
              <a:rPr lang="en-US" sz="2400" dirty="0">
                <a:solidFill>
                  <a:srgbClr val="2B91AF"/>
                </a:solidFill>
                <a:latin typeface="Cascadia Mono" panose="020B0609020000020004" pitchFamily="49" charset="0"/>
              </a:rPr>
              <a:t>Person</a:t>
            </a:r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(</a:t>
            </a:r>
            <a:r>
              <a:rPr lang="en-US" sz="2400" dirty="0" err="1">
                <a:solidFill>
                  <a:srgbClr val="0000FF"/>
                </a:solidFill>
                <a:latin typeface="Cascadia Mono" panose="020B0609020000020004" pitchFamily="49" charset="0"/>
              </a:rPr>
              <a:t>int</a:t>
            </a:r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 age) =&gt; Age = age;</a:t>
            </a:r>
          </a:p>
          <a:p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    </a:t>
            </a:r>
            <a:r>
              <a:rPr lang="en-US" sz="2400" dirty="0">
                <a:solidFill>
                  <a:srgbClr val="0000FF"/>
                </a:solidFill>
                <a:latin typeface="Cascadia Mono" panose="020B0609020000020004" pitchFamily="49" charset="0"/>
              </a:rPr>
              <a:t>public</a:t>
            </a:r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 </a:t>
            </a:r>
            <a:r>
              <a:rPr lang="en-US" sz="2400" dirty="0">
                <a:solidFill>
                  <a:srgbClr val="0000FF"/>
                </a:solidFill>
                <a:latin typeface="Cascadia Mono" panose="020B0609020000020004" pitchFamily="49" charset="0"/>
              </a:rPr>
              <a:t>static</a:t>
            </a:r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 </a:t>
            </a:r>
            <a:r>
              <a:rPr lang="en-US" sz="2400" dirty="0">
                <a:solidFill>
                  <a:srgbClr val="0000FF"/>
                </a:solidFill>
                <a:latin typeface="Cascadia Mono" panose="020B0609020000020004" pitchFamily="49" charset="0"/>
              </a:rPr>
              <a:t>void</a:t>
            </a:r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 </a:t>
            </a:r>
            <a:r>
              <a:rPr lang="en-US" sz="2400" dirty="0" err="1">
                <a:solidFill>
                  <a:srgbClr val="000000"/>
                </a:solidFill>
                <a:latin typeface="Cascadia Mono" panose="020B0609020000020004" pitchFamily="49" charset="0"/>
              </a:rPr>
              <a:t>CheckRetirementStatus</a:t>
            </a:r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(</a:t>
            </a:r>
            <a:r>
              <a:rPr lang="en-US" sz="2400" dirty="0">
                <a:solidFill>
                  <a:srgbClr val="2B91AF"/>
                </a:solidFill>
                <a:latin typeface="Cascadia Mono" panose="020B0609020000020004" pitchFamily="49" charset="0"/>
              </a:rPr>
              <a:t>Person</a:t>
            </a:r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 person)</a:t>
            </a:r>
          </a:p>
          <a:p>
            <a:r>
              <a:rPr lang="ru-RU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    {</a:t>
            </a:r>
          </a:p>
          <a:p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        </a:t>
            </a:r>
            <a:r>
              <a:rPr lang="en-US" sz="2400" dirty="0">
                <a:solidFill>
                  <a:srgbClr val="0000FF"/>
                </a:solidFill>
                <a:latin typeface="Cascadia Mono" panose="020B0609020000020004" pitchFamily="49" charset="0"/>
              </a:rPr>
              <a:t>if</a:t>
            </a:r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 (</a:t>
            </a:r>
            <a:r>
              <a:rPr lang="en-US" sz="2400" dirty="0" err="1">
                <a:solidFill>
                  <a:srgbClr val="000000"/>
                </a:solidFill>
                <a:latin typeface="Cascadia Mono" panose="020B0609020000020004" pitchFamily="49" charset="0"/>
              </a:rPr>
              <a:t>person.Age</a:t>
            </a:r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 &gt;= </a:t>
            </a:r>
            <a:r>
              <a:rPr lang="en-US" sz="2400" dirty="0" err="1">
                <a:solidFill>
                  <a:srgbClr val="000000"/>
                </a:solidFill>
                <a:latin typeface="Cascadia Mono" panose="020B0609020000020004" pitchFamily="49" charset="0"/>
              </a:rPr>
              <a:t>retirementAge</a:t>
            </a:r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)</a:t>
            </a:r>
          </a:p>
          <a:p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            </a:t>
            </a:r>
            <a:r>
              <a:rPr lang="en-US" sz="2400" dirty="0" err="1">
                <a:solidFill>
                  <a:srgbClr val="2B91AF"/>
                </a:solidFill>
                <a:latin typeface="Cascadia Mono" panose="020B0609020000020004" pitchFamily="49" charset="0"/>
              </a:rPr>
              <a:t>Console</a:t>
            </a:r>
            <a:r>
              <a:rPr lang="en-US" sz="2400" dirty="0" err="1">
                <a:solidFill>
                  <a:srgbClr val="000000"/>
                </a:solidFill>
                <a:latin typeface="Cascadia Mono" panose="020B0609020000020004" pitchFamily="49" charset="0"/>
              </a:rPr>
              <a:t>.WriteLine</a:t>
            </a:r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(</a:t>
            </a:r>
            <a:r>
              <a:rPr lang="en-US" sz="2400" dirty="0">
                <a:solidFill>
                  <a:srgbClr val="A31515"/>
                </a:solidFill>
                <a:latin typeface="Cascadia Mono" panose="020B0609020000020004" pitchFamily="49" charset="0"/>
              </a:rPr>
              <a:t>"</a:t>
            </a:r>
            <a:r>
              <a:rPr lang="ru-RU" sz="2400" dirty="0">
                <a:solidFill>
                  <a:srgbClr val="A31515"/>
                </a:solidFill>
                <a:latin typeface="Cascadia Mono" panose="020B0609020000020004" pitchFamily="49" charset="0"/>
              </a:rPr>
              <a:t>Уже на пенсии"</a:t>
            </a:r>
            <a:r>
              <a:rPr lang="ru-RU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);</a:t>
            </a:r>
          </a:p>
          <a:p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        </a:t>
            </a:r>
            <a:r>
              <a:rPr lang="en-US" sz="2400" dirty="0">
                <a:solidFill>
                  <a:srgbClr val="0000FF"/>
                </a:solidFill>
                <a:latin typeface="Cascadia Mono" panose="020B0609020000020004" pitchFamily="49" charset="0"/>
              </a:rPr>
              <a:t>else</a:t>
            </a:r>
            <a:endParaRPr lang="en-US" sz="2400" dirty="0">
              <a:solidFill>
                <a:srgbClr val="000000"/>
              </a:solidFill>
              <a:latin typeface="Cascadia Mono" panose="020B0609020000020004" pitchFamily="49" charset="0"/>
            </a:endParaRPr>
          </a:p>
          <a:p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            </a:t>
            </a:r>
            <a:r>
              <a:rPr lang="en-US" sz="2400" dirty="0" err="1">
                <a:solidFill>
                  <a:srgbClr val="2B91AF"/>
                </a:solidFill>
                <a:latin typeface="Cascadia Mono" panose="020B0609020000020004" pitchFamily="49" charset="0"/>
              </a:rPr>
              <a:t>Console</a:t>
            </a:r>
            <a:r>
              <a:rPr lang="en-US" sz="2400" dirty="0" err="1">
                <a:solidFill>
                  <a:srgbClr val="000000"/>
                </a:solidFill>
                <a:latin typeface="Cascadia Mono" panose="020B0609020000020004" pitchFamily="49" charset="0"/>
              </a:rPr>
              <a:t>.WriteLine</a:t>
            </a:r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(</a:t>
            </a:r>
            <a:r>
              <a:rPr lang="en-US" sz="2400" dirty="0">
                <a:solidFill>
                  <a:srgbClr val="A31515"/>
                </a:solidFill>
                <a:latin typeface="Cascadia Mono" panose="020B0609020000020004" pitchFamily="49" charset="0"/>
              </a:rPr>
              <a:t>$"</a:t>
            </a:r>
            <a:r>
              <a:rPr lang="ru-RU" sz="2400" dirty="0">
                <a:solidFill>
                  <a:srgbClr val="A31515"/>
                </a:solidFill>
                <a:latin typeface="Cascadia Mono" panose="020B0609020000020004" pitchFamily="49" charset="0"/>
              </a:rPr>
              <a:t>Сколько лет осталось до пенсии: </a:t>
            </a:r>
            <a:r>
              <a:rPr lang="ru-RU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{</a:t>
            </a:r>
            <a:r>
              <a:rPr lang="en-US" sz="2400" dirty="0" err="1">
                <a:solidFill>
                  <a:srgbClr val="000000"/>
                </a:solidFill>
                <a:latin typeface="Cascadia Mono" panose="020B0609020000020004" pitchFamily="49" charset="0"/>
              </a:rPr>
              <a:t>retirementAge</a:t>
            </a:r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 - </a:t>
            </a:r>
            <a:r>
              <a:rPr lang="en-US" sz="2400" dirty="0" err="1">
                <a:solidFill>
                  <a:srgbClr val="000000"/>
                </a:solidFill>
                <a:latin typeface="Cascadia Mono" panose="020B0609020000020004" pitchFamily="49" charset="0"/>
              </a:rPr>
              <a:t>person.Age</a:t>
            </a:r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}</a:t>
            </a:r>
            <a:r>
              <a:rPr lang="en-US" sz="2400" dirty="0">
                <a:solidFill>
                  <a:srgbClr val="A31515"/>
                </a:solidFill>
                <a:latin typeface="Cascadia Mono" panose="020B0609020000020004" pitchFamily="49" charset="0"/>
              </a:rPr>
              <a:t>"</a:t>
            </a:r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);</a:t>
            </a:r>
          </a:p>
          <a:p>
            <a:r>
              <a:rPr lang="ru-RU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    }</a:t>
            </a:r>
          </a:p>
          <a:p>
            <a:r>
              <a:rPr lang="ru-RU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}</a:t>
            </a:r>
            <a:endParaRPr lang="ru-RU" sz="2400" dirty="0">
              <a:latin typeface="Bookman Old Style" panose="020506040505050202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575778410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Прямоугольник 5"/>
          <p:cNvSpPr/>
          <p:nvPr/>
        </p:nvSpPr>
        <p:spPr>
          <a:xfrm>
            <a:off x="222422" y="0"/>
            <a:ext cx="11714205" cy="655564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just">
              <a:lnSpc>
                <a:spcPct val="150000"/>
              </a:lnSpc>
            </a:pPr>
            <a:r>
              <a:rPr lang="ru-RU" sz="2400" b="1" dirty="0">
                <a:latin typeface="Bookman Old Style" panose="02050604050505020204" pitchFamily="18" charset="0"/>
                <a:cs typeface="Times New Roman" panose="02020603050405020304" pitchFamily="18" charset="0"/>
              </a:rPr>
              <a:t>Статические </a:t>
            </a:r>
            <a:r>
              <a:rPr lang="ru-RU" sz="2400" b="1" dirty="0" smtClean="0">
                <a:latin typeface="Bookman Old Style" panose="02050604050505020204" pitchFamily="18" charset="0"/>
                <a:cs typeface="Times New Roman" panose="02020603050405020304" pitchFamily="18" charset="0"/>
              </a:rPr>
              <a:t>классы</a:t>
            </a:r>
            <a:endParaRPr lang="en-US" sz="2400" b="1" dirty="0" smtClean="0">
              <a:latin typeface="Bookman Old Style" panose="02050604050505020204" pitchFamily="18" charset="0"/>
              <a:cs typeface="Times New Roman" panose="02020603050405020304" pitchFamily="18" charset="0"/>
            </a:endParaRPr>
          </a:p>
          <a:p>
            <a:pPr algn="just">
              <a:lnSpc>
                <a:spcPct val="150000"/>
              </a:lnSpc>
            </a:pPr>
            <a:r>
              <a:rPr lang="ru-RU" sz="2400" dirty="0">
                <a:latin typeface="Bookman Old Style" panose="02050604050505020204" pitchFamily="18" charset="0"/>
              </a:rPr>
              <a:t>Статические классы объявляются с модификатором </a:t>
            </a:r>
            <a:r>
              <a:rPr lang="ru-RU" sz="2400" dirty="0" err="1">
                <a:latin typeface="Bookman Old Style" panose="02050604050505020204" pitchFamily="18" charset="0"/>
              </a:rPr>
              <a:t>static</a:t>
            </a:r>
            <a:r>
              <a:rPr lang="ru-RU" sz="2400" dirty="0">
                <a:latin typeface="Bookman Old Style" panose="02050604050505020204" pitchFamily="18" charset="0"/>
              </a:rPr>
              <a:t> и могут содержать только статические поля, свойства и методы. Например, определим класс, который выполняет ряд арифметических операций</a:t>
            </a:r>
            <a:r>
              <a:rPr lang="ru-RU" sz="2400" dirty="0" smtClean="0">
                <a:latin typeface="Bookman Old Style" panose="02050604050505020204" pitchFamily="18" charset="0"/>
              </a:rPr>
              <a:t>:</a:t>
            </a:r>
            <a:endParaRPr lang="en-US" sz="2400" dirty="0" smtClean="0">
              <a:latin typeface="Bookman Old Style" panose="02050604050505020204" pitchFamily="18" charset="0"/>
            </a:endParaRPr>
          </a:p>
          <a:p>
            <a:pPr algn="just">
              <a:lnSpc>
                <a:spcPct val="150000"/>
              </a:lnSpc>
            </a:pPr>
            <a:endParaRPr lang="en-US" sz="2400" dirty="0">
              <a:latin typeface="Bookman Old Style" panose="02050604050505020204" pitchFamily="18" charset="0"/>
            </a:endParaRPr>
          </a:p>
          <a:p>
            <a:r>
              <a:rPr lang="en-US" sz="2400" dirty="0" err="1">
                <a:solidFill>
                  <a:srgbClr val="000000"/>
                </a:solidFill>
                <a:latin typeface="Cascadia Mono" panose="020B0609020000020004" pitchFamily="49" charset="0"/>
              </a:rPr>
              <a:t>Console.WriteLine</a:t>
            </a:r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(</a:t>
            </a:r>
            <a:r>
              <a:rPr lang="en-US" sz="2400" dirty="0" err="1">
                <a:solidFill>
                  <a:srgbClr val="000000"/>
                </a:solidFill>
                <a:latin typeface="Cascadia Mono" panose="020B0609020000020004" pitchFamily="49" charset="0"/>
              </a:rPr>
              <a:t>Operations.Add</a:t>
            </a:r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(5, 4));         </a:t>
            </a:r>
            <a:r>
              <a:rPr lang="en-US" sz="2400" dirty="0">
                <a:solidFill>
                  <a:srgbClr val="008000"/>
                </a:solidFill>
                <a:latin typeface="Cascadia Mono" panose="020B0609020000020004" pitchFamily="49" charset="0"/>
              </a:rPr>
              <a:t>// 9</a:t>
            </a:r>
            <a:endParaRPr lang="en-US" sz="2400" dirty="0">
              <a:solidFill>
                <a:srgbClr val="000000"/>
              </a:solidFill>
              <a:latin typeface="Cascadia Mono" panose="020B0609020000020004" pitchFamily="49" charset="0"/>
            </a:endParaRPr>
          </a:p>
          <a:p>
            <a:r>
              <a:rPr lang="en-US" sz="2400" dirty="0" err="1">
                <a:solidFill>
                  <a:srgbClr val="000000"/>
                </a:solidFill>
                <a:latin typeface="Cascadia Mono" panose="020B0609020000020004" pitchFamily="49" charset="0"/>
              </a:rPr>
              <a:t>Console.WriteLine</a:t>
            </a:r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(</a:t>
            </a:r>
            <a:r>
              <a:rPr lang="en-US" sz="2400" dirty="0" err="1">
                <a:solidFill>
                  <a:srgbClr val="000000"/>
                </a:solidFill>
                <a:latin typeface="Cascadia Mono" panose="020B0609020000020004" pitchFamily="49" charset="0"/>
              </a:rPr>
              <a:t>Operations.Subtract</a:t>
            </a:r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(5, 4));    </a:t>
            </a:r>
            <a:r>
              <a:rPr lang="en-US" sz="2400" dirty="0">
                <a:solidFill>
                  <a:srgbClr val="008000"/>
                </a:solidFill>
                <a:latin typeface="Cascadia Mono" panose="020B0609020000020004" pitchFamily="49" charset="0"/>
              </a:rPr>
              <a:t>// 1</a:t>
            </a:r>
            <a:endParaRPr lang="en-US" sz="2400" dirty="0">
              <a:solidFill>
                <a:srgbClr val="000000"/>
              </a:solidFill>
              <a:latin typeface="Cascadia Mono" panose="020B0609020000020004" pitchFamily="49" charset="0"/>
            </a:endParaRPr>
          </a:p>
          <a:p>
            <a:r>
              <a:rPr lang="en-US" sz="2400" dirty="0" err="1">
                <a:solidFill>
                  <a:srgbClr val="000000"/>
                </a:solidFill>
                <a:latin typeface="Cascadia Mono" panose="020B0609020000020004" pitchFamily="49" charset="0"/>
              </a:rPr>
              <a:t>Console.WriteLine</a:t>
            </a:r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(</a:t>
            </a:r>
            <a:r>
              <a:rPr lang="en-US" sz="2400" dirty="0" err="1">
                <a:solidFill>
                  <a:srgbClr val="000000"/>
                </a:solidFill>
                <a:latin typeface="Cascadia Mono" panose="020B0609020000020004" pitchFamily="49" charset="0"/>
              </a:rPr>
              <a:t>Operations.Multiply</a:t>
            </a:r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(5, 4));    </a:t>
            </a:r>
            <a:r>
              <a:rPr lang="en-US" sz="2400" dirty="0">
                <a:solidFill>
                  <a:srgbClr val="008000"/>
                </a:solidFill>
                <a:latin typeface="Cascadia Mono" panose="020B0609020000020004" pitchFamily="49" charset="0"/>
              </a:rPr>
              <a:t>// 20</a:t>
            </a:r>
            <a:endParaRPr lang="en-US" sz="2400" dirty="0">
              <a:solidFill>
                <a:srgbClr val="000000"/>
              </a:solidFill>
              <a:latin typeface="Cascadia Mono" panose="020B0609020000020004" pitchFamily="49" charset="0"/>
            </a:endParaRPr>
          </a:p>
          <a:p>
            <a:endParaRPr lang="ru-RU" sz="2400" dirty="0">
              <a:solidFill>
                <a:srgbClr val="000000"/>
              </a:solidFill>
              <a:latin typeface="Cascadia Mono" panose="020B0609020000020004" pitchFamily="49" charset="0"/>
            </a:endParaRPr>
          </a:p>
          <a:p>
            <a:r>
              <a:rPr lang="en-US" sz="2400" dirty="0">
                <a:solidFill>
                  <a:srgbClr val="0000FF"/>
                </a:solidFill>
                <a:latin typeface="Cascadia Mono" panose="020B0609020000020004" pitchFamily="49" charset="0"/>
              </a:rPr>
              <a:t>static</a:t>
            </a:r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 </a:t>
            </a:r>
            <a:r>
              <a:rPr lang="en-US" sz="2400" dirty="0">
                <a:solidFill>
                  <a:srgbClr val="0000FF"/>
                </a:solidFill>
                <a:latin typeface="Cascadia Mono" panose="020B0609020000020004" pitchFamily="49" charset="0"/>
              </a:rPr>
              <a:t>class</a:t>
            </a:r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 </a:t>
            </a:r>
            <a:r>
              <a:rPr lang="en-US" sz="2400" dirty="0">
                <a:solidFill>
                  <a:srgbClr val="2B91AF"/>
                </a:solidFill>
                <a:latin typeface="Cascadia Mono" panose="020B0609020000020004" pitchFamily="49" charset="0"/>
              </a:rPr>
              <a:t>Operations</a:t>
            </a:r>
            <a:endParaRPr lang="en-US" sz="2400" dirty="0">
              <a:solidFill>
                <a:srgbClr val="000000"/>
              </a:solidFill>
              <a:latin typeface="Cascadia Mono" panose="020B0609020000020004" pitchFamily="49" charset="0"/>
            </a:endParaRPr>
          </a:p>
          <a:p>
            <a:r>
              <a:rPr lang="ru-RU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{</a:t>
            </a:r>
          </a:p>
          <a:p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    </a:t>
            </a:r>
            <a:r>
              <a:rPr lang="en-US" sz="2400" dirty="0">
                <a:solidFill>
                  <a:srgbClr val="0000FF"/>
                </a:solidFill>
                <a:latin typeface="Cascadia Mono" panose="020B0609020000020004" pitchFamily="49" charset="0"/>
              </a:rPr>
              <a:t>public</a:t>
            </a:r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 </a:t>
            </a:r>
            <a:r>
              <a:rPr lang="en-US" sz="2400" dirty="0">
                <a:solidFill>
                  <a:srgbClr val="0000FF"/>
                </a:solidFill>
                <a:latin typeface="Cascadia Mono" panose="020B0609020000020004" pitchFamily="49" charset="0"/>
              </a:rPr>
              <a:t>static</a:t>
            </a:r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 </a:t>
            </a:r>
            <a:r>
              <a:rPr lang="en-US" sz="2400" dirty="0" err="1">
                <a:solidFill>
                  <a:srgbClr val="0000FF"/>
                </a:solidFill>
                <a:latin typeface="Cascadia Mono" panose="020B0609020000020004" pitchFamily="49" charset="0"/>
              </a:rPr>
              <a:t>int</a:t>
            </a:r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 Add(</a:t>
            </a:r>
            <a:r>
              <a:rPr lang="en-US" sz="2400" dirty="0" err="1">
                <a:solidFill>
                  <a:srgbClr val="0000FF"/>
                </a:solidFill>
                <a:latin typeface="Cascadia Mono" panose="020B0609020000020004" pitchFamily="49" charset="0"/>
              </a:rPr>
              <a:t>int</a:t>
            </a:r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 x, </a:t>
            </a:r>
            <a:r>
              <a:rPr lang="en-US" sz="2400" dirty="0" err="1">
                <a:solidFill>
                  <a:srgbClr val="0000FF"/>
                </a:solidFill>
                <a:latin typeface="Cascadia Mono" panose="020B0609020000020004" pitchFamily="49" charset="0"/>
              </a:rPr>
              <a:t>int</a:t>
            </a:r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 y) =&gt; x + y;</a:t>
            </a:r>
          </a:p>
          <a:p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    </a:t>
            </a:r>
            <a:r>
              <a:rPr lang="en-US" sz="2400" dirty="0">
                <a:solidFill>
                  <a:srgbClr val="0000FF"/>
                </a:solidFill>
                <a:latin typeface="Cascadia Mono" panose="020B0609020000020004" pitchFamily="49" charset="0"/>
              </a:rPr>
              <a:t>public</a:t>
            </a:r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 </a:t>
            </a:r>
            <a:r>
              <a:rPr lang="en-US" sz="2400" dirty="0">
                <a:solidFill>
                  <a:srgbClr val="0000FF"/>
                </a:solidFill>
                <a:latin typeface="Cascadia Mono" panose="020B0609020000020004" pitchFamily="49" charset="0"/>
              </a:rPr>
              <a:t>static</a:t>
            </a:r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 </a:t>
            </a:r>
            <a:r>
              <a:rPr lang="en-US" sz="2400" dirty="0" err="1">
                <a:solidFill>
                  <a:srgbClr val="0000FF"/>
                </a:solidFill>
                <a:latin typeface="Cascadia Mono" panose="020B0609020000020004" pitchFamily="49" charset="0"/>
              </a:rPr>
              <a:t>int</a:t>
            </a:r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 Subtract(</a:t>
            </a:r>
            <a:r>
              <a:rPr lang="en-US" sz="2400" dirty="0" err="1">
                <a:solidFill>
                  <a:srgbClr val="0000FF"/>
                </a:solidFill>
                <a:latin typeface="Cascadia Mono" panose="020B0609020000020004" pitchFamily="49" charset="0"/>
              </a:rPr>
              <a:t>int</a:t>
            </a:r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 x, </a:t>
            </a:r>
            <a:r>
              <a:rPr lang="en-US" sz="2400" dirty="0" err="1">
                <a:solidFill>
                  <a:srgbClr val="0000FF"/>
                </a:solidFill>
                <a:latin typeface="Cascadia Mono" panose="020B0609020000020004" pitchFamily="49" charset="0"/>
              </a:rPr>
              <a:t>int</a:t>
            </a:r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 y) =&gt; x - y;</a:t>
            </a:r>
          </a:p>
          <a:p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    </a:t>
            </a:r>
            <a:r>
              <a:rPr lang="en-US" sz="2400" dirty="0">
                <a:solidFill>
                  <a:srgbClr val="0000FF"/>
                </a:solidFill>
                <a:latin typeface="Cascadia Mono" panose="020B0609020000020004" pitchFamily="49" charset="0"/>
              </a:rPr>
              <a:t>public</a:t>
            </a:r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 </a:t>
            </a:r>
            <a:r>
              <a:rPr lang="en-US" sz="2400" dirty="0">
                <a:solidFill>
                  <a:srgbClr val="0000FF"/>
                </a:solidFill>
                <a:latin typeface="Cascadia Mono" panose="020B0609020000020004" pitchFamily="49" charset="0"/>
              </a:rPr>
              <a:t>static</a:t>
            </a:r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 </a:t>
            </a:r>
            <a:r>
              <a:rPr lang="en-US" sz="2400" dirty="0" err="1">
                <a:solidFill>
                  <a:srgbClr val="0000FF"/>
                </a:solidFill>
                <a:latin typeface="Cascadia Mono" panose="020B0609020000020004" pitchFamily="49" charset="0"/>
              </a:rPr>
              <a:t>int</a:t>
            </a:r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 Multiply(</a:t>
            </a:r>
            <a:r>
              <a:rPr lang="en-US" sz="2400" dirty="0" err="1">
                <a:solidFill>
                  <a:srgbClr val="0000FF"/>
                </a:solidFill>
                <a:latin typeface="Cascadia Mono" panose="020B0609020000020004" pitchFamily="49" charset="0"/>
              </a:rPr>
              <a:t>int</a:t>
            </a:r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 x, </a:t>
            </a:r>
            <a:r>
              <a:rPr lang="en-US" sz="2400" dirty="0" err="1">
                <a:solidFill>
                  <a:srgbClr val="0000FF"/>
                </a:solidFill>
                <a:latin typeface="Cascadia Mono" panose="020B0609020000020004" pitchFamily="49" charset="0"/>
              </a:rPr>
              <a:t>int</a:t>
            </a:r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 y) =&gt; x * y;</a:t>
            </a:r>
          </a:p>
          <a:p>
            <a:r>
              <a:rPr lang="ru-RU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}</a:t>
            </a:r>
            <a:endParaRPr lang="ru-RU" sz="2400" dirty="0">
              <a:latin typeface="Bookman Old Style" panose="020506040505050202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520229172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Rectangle 28" descr="Светлый диагональный 2"/>
          <p:cNvSpPr>
            <a:spLocks noChangeArrowheads="1"/>
          </p:cNvSpPr>
          <p:nvPr/>
        </p:nvSpPr>
        <p:spPr bwMode="auto">
          <a:xfrm>
            <a:off x="0" y="-1"/>
            <a:ext cx="12192000" cy="654357"/>
          </a:xfrm>
          <a:prstGeom prst="rect">
            <a:avLst/>
          </a:prstGeom>
          <a:pattFill prst="ltUpDiag">
            <a:fgClr>
              <a:schemeClr val="accent1">
                <a:lumMod val="40000"/>
                <a:lumOff val="60000"/>
              </a:schemeClr>
            </a:fgClr>
            <a:bgClr>
              <a:srgbClr val="FFFFFF"/>
            </a:bgClr>
          </a:pattFill>
          <a:ln w="15875" algn="ctr">
            <a:solidFill>
              <a:schemeClr val="accent5">
                <a:lumMod val="50000"/>
              </a:schemeClr>
            </a:solidFill>
            <a:miter lim="800000"/>
            <a:headEnd/>
            <a:tailEnd/>
          </a:ln>
          <a:effectLst/>
        </p:spPr>
        <p:txBody>
          <a:bodyPr vert="horz" wrap="square" lIns="18000" tIns="18000" rIns="18000" bIns="18000" numCol="1" anchor="ctr" anchorCtr="0" compatLnSpc="1">
            <a:prstTxWarp prst="textNoShape">
              <a:avLst/>
            </a:prstTxWarp>
          </a:bodyPr>
          <a:lstStyle/>
          <a:p>
            <a:pPr algn="ctr"/>
            <a:r>
              <a:rPr lang="ru-RU" sz="2800" b="1" dirty="0" smtClean="0">
                <a:latin typeface="Bookman Old Style" panose="02050604050505020204" pitchFamily="18" charset="0"/>
                <a:cs typeface="Times New Roman" panose="02020603050405020304" pitchFamily="18" charset="0"/>
              </a:rPr>
              <a:t>Перегрузка операторов</a:t>
            </a:r>
            <a:endParaRPr lang="ru-RU" sz="2800" b="1" dirty="0">
              <a:latin typeface="Bookman Old Style" panose="02050604050505020204" pitchFamily="18" charset="0"/>
              <a:cs typeface="Times New Roman" panose="02020603050405020304" pitchFamily="18" charset="0"/>
            </a:endParaRPr>
          </a:p>
        </p:txBody>
      </p:sp>
      <p:sp>
        <p:nvSpPr>
          <p:cNvPr id="9" name="Прямоугольник 8"/>
          <p:cNvSpPr/>
          <p:nvPr/>
        </p:nvSpPr>
        <p:spPr>
          <a:xfrm>
            <a:off x="254000" y="654356"/>
            <a:ext cx="11671300" cy="4154984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just">
              <a:lnSpc>
                <a:spcPct val="150000"/>
              </a:lnSpc>
            </a:pPr>
            <a:r>
              <a:rPr lang="ru-RU" sz="2400" dirty="0" smtClean="0">
                <a:latin typeface="Bookman Old Style" panose="02050604050505020204" pitchFamily="18" charset="0"/>
                <a:cs typeface="Times New Roman" panose="02020603050405020304" pitchFamily="18" charset="0"/>
              </a:rPr>
              <a:t>В классах и структурах возможно переопределить операторы «+», «-», «*» и т.д. Рассмотрим на примере класса комплексных чисел </a:t>
            </a:r>
            <a:r>
              <a:rPr lang="en-US" sz="2400" dirty="0" smtClean="0">
                <a:latin typeface="Bookman Old Style" panose="02050604050505020204" pitchFamily="18" charset="0"/>
                <a:cs typeface="Times New Roman" panose="02020603050405020304" pitchFamily="18" charset="0"/>
              </a:rPr>
              <a:t>Complex. </a:t>
            </a:r>
            <a:r>
              <a:rPr lang="ru-RU" sz="2400" dirty="0" smtClean="0">
                <a:latin typeface="Bookman Old Style" panose="02050604050505020204" pitchFamily="18" charset="0"/>
                <a:cs typeface="Times New Roman" panose="02020603050405020304" pitchFamily="18" charset="0"/>
              </a:rPr>
              <a:t>Известно, что комплексные числа состоят из целой и мнимой части и для этих чисел определены операции сложения, вычитания, умножения и т.п.</a:t>
            </a:r>
            <a:endParaRPr lang="en-US" sz="2400" dirty="0" smtClean="0">
              <a:latin typeface="Bookman Old Style" panose="02050604050505020204" pitchFamily="18" charset="0"/>
              <a:cs typeface="Times New Roman" panose="02020603050405020304" pitchFamily="18" charset="0"/>
            </a:endParaRPr>
          </a:p>
          <a:p>
            <a:pPr algn="just">
              <a:lnSpc>
                <a:spcPct val="150000"/>
              </a:lnSpc>
            </a:pPr>
            <a:endParaRPr lang="en-US" sz="2400" dirty="0" smtClean="0">
              <a:latin typeface="Bookman Old Style" panose="02050604050505020204" pitchFamily="18" charset="0"/>
              <a:cs typeface="Times New Roman" panose="02020603050405020304" pitchFamily="18" charset="0"/>
            </a:endParaRPr>
          </a:p>
          <a:p>
            <a:r>
              <a:rPr lang="en-US" sz="2400" dirty="0" smtClean="0">
                <a:solidFill>
                  <a:srgbClr val="0000FF"/>
                </a:solidFill>
                <a:latin typeface="Cascadia Mono" panose="020B0609020000020004" pitchFamily="49" charset="0"/>
              </a:rPr>
              <a:t>public</a:t>
            </a:r>
            <a:r>
              <a:rPr lang="en-US" sz="2400" dirty="0" smtClean="0">
                <a:solidFill>
                  <a:srgbClr val="000000"/>
                </a:solidFill>
                <a:latin typeface="Cascadia Mono" panose="020B0609020000020004" pitchFamily="49" charset="0"/>
              </a:rPr>
              <a:t> </a:t>
            </a:r>
            <a:r>
              <a:rPr lang="en-US" sz="2400" dirty="0">
                <a:solidFill>
                  <a:srgbClr val="0000FF"/>
                </a:solidFill>
                <a:latin typeface="Cascadia Mono" panose="020B0609020000020004" pitchFamily="49" charset="0"/>
              </a:rPr>
              <a:t>static</a:t>
            </a:r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 Complex </a:t>
            </a:r>
            <a:r>
              <a:rPr lang="en-US" sz="2400" dirty="0">
                <a:solidFill>
                  <a:srgbClr val="0000FF"/>
                </a:solidFill>
                <a:latin typeface="Cascadia Mono" panose="020B0609020000020004" pitchFamily="49" charset="0"/>
              </a:rPr>
              <a:t>operator</a:t>
            </a:r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 +(Complex c1, Complex c2)</a:t>
            </a:r>
          </a:p>
          <a:p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		</a:t>
            </a:r>
            <a:r>
              <a:rPr lang="en-US" sz="2400" dirty="0" smtClean="0">
                <a:solidFill>
                  <a:srgbClr val="000000"/>
                </a:solidFill>
                <a:latin typeface="Cascadia Mono" panose="020B0609020000020004" pitchFamily="49" charset="0"/>
              </a:rPr>
              <a:t>=&gt; </a:t>
            </a:r>
            <a:r>
              <a:rPr lang="en-US" sz="2400" dirty="0" smtClean="0">
                <a:solidFill>
                  <a:srgbClr val="0000FF"/>
                </a:solidFill>
                <a:latin typeface="Cascadia Mono" panose="020B0609020000020004" pitchFamily="49" charset="0"/>
              </a:rPr>
              <a:t>new</a:t>
            </a:r>
            <a:r>
              <a:rPr lang="en-US" sz="2400" dirty="0" smtClean="0">
                <a:solidFill>
                  <a:srgbClr val="000000"/>
                </a:solidFill>
                <a:latin typeface="Cascadia Mono" panose="020B0609020000020004" pitchFamily="49" charset="0"/>
              </a:rPr>
              <a:t>(c1.Re + c2.Re, c1.Im + c2.Im);</a:t>
            </a:r>
            <a:endParaRPr lang="en-US" sz="2400" dirty="0" smtClean="0">
              <a:latin typeface="Bookman Old Style" panose="020506040505050202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80700002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Прямоугольник 1"/>
          <p:cNvSpPr/>
          <p:nvPr/>
        </p:nvSpPr>
        <p:spPr>
          <a:xfrm>
            <a:off x="123825" y="180184"/>
            <a:ext cx="11915775" cy="452431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sz="2400" dirty="0">
                <a:solidFill>
                  <a:srgbClr val="0000FF"/>
                </a:solidFill>
                <a:latin typeface="Cascadia Mono" panose="020B0609020000020004" pitchFamily="49" charset="0"/>
              </a:rPr>
              <a:t>public</a:t>
            </a:r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 </a:t>
            </a:r>
            <a:r>
              <a:rPr lang="en-US" sz="2400" dirty="0">
                <a:solidFill>
                  <a:srgbClr val="0000FF"/>
                </a:solidFill>
                <a:latin typeface="Cascadia Mono" panose="020B0609020000020004" pitchFamily="49" charset="0"/>
              </a:rPr>
              <a:t>class</a:t>
            </a:r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 </a:t>
            </a:r>
            <a:r>
              <a:rPr lang="en-US" sz="2400" dirty="0">
                <a:solidFill>
                  <a:srgbClr val="2B91AF"/>
                </a:solidFill>
                <a:latin typeface="Cascadia Mono" panose="020B0609020000020004" pitchFamily="49" charset="0"/>
              </a:rPr>
              <a:t>Complex</a:t>
            </a:r>
            <a:endParaRPr lang="en-US" sz="2400" dirty="0">
              <a:solidFill>
                <a:srgbClr val="000000"/>
              </a:solidFill>
              <a:latin typeface="Cascadia Mono" panose="020B0609020000020004" pitchFamily="49" charset="0"/>
            </a:endParaRPr>
          </a:p>
          <a:p>
            <a:r>
              <a:rPr lang="ru-RU" sz="2400" dirty="0" smtClean="0">
                <a:solidFill>
                  <a:srgbClr val="000000"/>
                </a:solidFill>
                <a:latin typeface="Cascadia Mono" panose="020B0609020000020004" pitchFamily="49" charset="0"/>
              </a:rPr>
              <a:t>{</a:t>
            </a:r>
            <a:endParaRPr lang="ru-RU" sz="2400" dirty="0">
              <a:solidFill>
                <a:srgbClr val="000000"/>
              </a:solidFill>
              <a:latin typeface="Cascadia Mono" panose="020B0609020000020004" pitchFamily="49" charset="0"/>
            </a:endParaRPr>
          </a:p>
          <a:p>
            <a:r>
              <a:rPr lang="en-US" sz="2400" dirty="0" smtClean="0">
                <a:solidFill>
                  <a:srgbClr val="0000FF"/>
                </a:solidFill>
                <a:latin typeface="Cascadia Mono" panose="020B0609020000020004" pitchFamily="49" charset="0"/>
              </a:rPr>
              <a:t>	public</a:t>
            </a:r>
            <a:r>
              <a:rPr lang="en-US" sz="2400" dirty="0" smtClean="0">
                <a:solidFill>
                  <a:srgbClr val="000000"/>
                </a:solidFill>
                <a:latin typeface="Cascadia Mono" panose="020B0609020000020004" pitchFamily="49" charset="0"/>
              </a:rPr>
              <a:t> </a:t>
            </a:r>
            <a:r>
              <a:rPr lang="en-US" sz="2400" dirty="0" smtClean="0">
                <a:solidFill>
                  <a:srgbClr val="0000FF"/>
                </a:solidFill>
                <a:latin typeface="Cascadia Mono" panose="020B0609020000020004" pitchFamily="49" charset="0"/>
              </a:rPr>
              <a:t>double</a:t>
            </a:r>
            <a:r>
              <a:rPr lang="en-US" sz="2400" dirty="0" smtClean="0">
                <a:solidFill>
                  <a:srgbClr val="000000"/>
                </a:solidFill>
                <a:latin typeface="Cascadia Mono" panose="020B0609020000020004" pitchFamily="49" charset="0"/>
              </a:rPr>
              <a:t> Re { </a:t>
            </a:r>
            <a:r>
              <a:rPr lang="en-US" sz="2400" dirty="0" smtClean="0">
                <a:solidFill>
                  <a:srgbClr val="0000FF"/>
                </a:solidFill>
                <a:latin typeface="Cascadia Mono" panose="020B0609020000020004" pitchFamily="49" charset="0"/>
              </a:rPr>
              <a:t>get</a:t>
            </a:r>
            <a:r>
              <a:rPr lang="en-US" sz="2400" dirty="0" smtClean="0">
                <a:solidFill>
                  <a:srgbClr val="000000"/>
                </a:solidFill>
                <a:latin typeface="Cascadia Mono" panose="020B0609020000020004" pitchFamily="49" charset="0"/>
              </a:rPr>
              <a:t>; </a:t>
            </a:r>
            <a:r>
              <a:rPr lang="en-US" sz="2400" dirty="0" smtClean="0">
                <a:solidFill>
                  <a:srgbClr val="0000FF"/>
                </a:solidFill>
                <a:latin typeface="Cascadia Mono" panose="020B0609020000020004" pitchFamily="49" charset="0"/>
              </a:rPr>
              <a:t>set</a:t>
            </a:r>
            <a:r>
              <a:rPr lang="en-US" sz="2400" dirty="0" smtClean="0">
                <a:solidFill>
                  <a:srgbClr val="000000"/>
                </a:solidFill>
                <a:latin typeface="Cascadia Mono" panose="020B0609020000020004" pitchFamily="49" charset="0"/>
              </a:rPr>
              <a:t>; }</a:t>
            </a:r>
            <a:r>
              <a:rPr lang="ru-RU" sz="2400" dirty="0" smtClean="0">
                <a:solidFill>
                  <a:srgbClr val="000000"/>
                </a:solidFill>
                <a:latin typeface="Cascadia Mono" panose="020B0609020000020004" pitchFamily="49" charset="0"/>
              </a:rPr>
              <a:t> </a:t>
            </a:r>
            <a:r>
              <a:rPr lang="en-US" sz="2400" dirty="0">
                <a:solidFill>
                  <a:srgbClr val="00B050"/>
                </a:solidFill>
                <a:latin typeface="Cascadia Mono" panose="020B0609020000020004" pitchFamily="49" charset="0"/>
              </a:rPr>
              <a:t>//</a:t>
            </a:r>
            <a:r>
              <a:rPr lang="ru-RU" sz="2400" dirty="0">
                <a:solidFill>
                  <a:srgbClr val="00B050"/>
                </a:solidFill>
                <a:latin typeface="Cascadia Mono" panose="020B0609020000020004" pitchFamily="49" charset="0"/>
              </a:rPr>
              <a:t> </a:t>
            </a:r>
            <a:r>
              <a:rPr lang="ru-RU" sz="2400" dirty="0" smtClean="0">
                <a:solidFill>
                  <a:srgbClr val="00B050"/>
                </a:solidFill>
                <a:latin typeface="Cascadia Mono" panose="020B0609020000020004" pitchFamily="49" charset="0"/>
              </a:rPr>
              <a:t>Вещественная часть</a:t>
            </a:r>
            <a:endParaRPr lang="en-US" sz="2400" dirty="0" smtClean="0">
              <a:solidFill>
                <a:srgbClr val="000000"/>
              </a:solidFill>
              <a:latin typeface="Cascadia Mono" panose="020B0609020000020004" pitchFamily="49" charset="0"/>
            </a:endParaRPr>
          </a:p>
          <a:p>
            <a:r>
              <a:rPr lang="en-US" sz="2400" dirty="0" smtClean="0">
                <a:solidFill>
                  <a:srgbClr val="0000FF"/>
                </a:solidFill>
                <a:latin typeface="Cascadia Mono" panose="020B0609020000020004" pitchFamily="49" charset="0"/>
              </a:rPr>
              <a:t>	public</a:t>
            </a:r>
            <a:r>
              <a:rPr lang="en-US" sz="2400" dirty="0" smtClean="0">
                <a:solidFill>
                  <a:srgbClr val="000000"/>
                </a:solidFill>
                <a:latin typeface="Cascadia Mono" panose="020B0609020000020004" pitchFamily="49" charset="0"/>
              </a:rPr>
              <a:t> </a:t>
            </a:r>
            <a:r>
              <a:rPr lang="en-US" sz="2400" dirty="0">
                <a:solidFill>
                  <a:srgbClr val="0000FF"/>
                </a:solidFill>
                <a:latin typeface="Cascadia Mono" panose="020B0609020000020004" pitchFamily="49" charset="0"/>
              </a:rPr>
              <a:t>double</a:t>
            </a:r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 </a:t>
            </a:r>
            <a:r>
              <a:rPr lang="en-US" sz="2400" dirty="0" err="1">
                <a:solidFill>
                  <a:srgbClr val="000000"/>
                </a:solidFill>
                <a:latin typeface="Cascadia Mono" panose="020B0609020000020004" pitchFamily="49" charset="0"/>
              </a:rPr>
              <a:t>Im</a:t>
            </a:r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 { </a:t>
            </a:r>
            <a:r>
              <a:rPr lang="en-US" sz="2400" dirty="0">
                <a:solidFill>
                  <a:srgbClr val="0000FF"/>
                </a:solidFill>
                <a:latin typeface="Cascadia Mono" panose="020B0609020000020004" pitchFamily="49" charset="0"/>
              </a:rPr>
              <a:t>get</a:t>
            </a:r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; </a:t>
            </a:r>
            <a:r>
              <a:rPr lang="en-US" sz="2400" dirty="0">
                <a:solidFill>
                  <a:srgbClr val="0000FF"/>
                </a:solidFill>
                <a:latin typeface="Cascadia Mono" panose="020B0609020000020004" pitchFamily="49" charset="0"/>
              </a:rPr>
              <a:t>set</a:t>
            </a:r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; </a:t>
            </a:r>
            <a:r>
              <a:rPr lang="en-US" sz="2400" dirty="0" smtClean="0">
                <a:solidFill>
                  <a:srgbClr val="000000"/>
                </a:solidFill>
                <a:latin typeface="Cascadia Mono" panose="020B0609020000020004" pitchFamily="49" charset="0"/>
              </a:rPr>
              <a:t>}</a:t>
            </a:r>
            <a:r>
              <a:rPr lang="en-US" sz="2400" dirty="0">
                <a:solidFill>
                  <a:srgbClr val="00B050"/>
                </a:solidFill>
                <a:latin typeface="Cascadia Mono" panose="020B0609020000020004" pitchFamily="49" charset="0"/>
              </a:rPr>
              <a:t> //</a:t>
            </a:r>
            <a:r>
              <a:rPr lang="ru-RU" sz="2400" dirty="0">
                <a:solidFill>
                  <a:srgbClr val="00B050"/>
                </a:solidFill>
                <a:latin typeface="Cascadia Mono" panose="020B0609020000020004" pitchFamily="49" charset="0"/>
              </a:rPr>
              <a:t> </a:t>
            </a:r>
            <a:r>
              <a:rPr lang="ru-RU" sz="2400" dirty="0" smtClean="0">
                <a:solidFill>
                  <a:srgbClr val="00B050"/>
                </a:solidFill>
                <a:latin typeface="Cascadia Mono" panose="020B0609020000020004" pitchFamily="49" charset="0"/>
              </a:rPr>
              <a:t>Мнимая часть</a:t>
            </a:r>
            <a:endParaRPr lang="en-US" sz="2400" dirty="0">
              <a:solidFill>
                <a:srgbClr val="000000"/>
              </a:solidFill>
              <a:latin typeface="Cascadia Mono" panose="020B0609020000020004" pitchFamily="49" charset="0"/>
            </a:endParaRPr>
          </a:p>
          <a:p>
            <a:endParaRPr lang="ru-RU" sz="2400" dirty="0" smtClean="0">
              <a:solidFill>
                <a:srgbClr val="000000"/>
              </a:solidFill>
              <a:latin typeface="Cascadia Mono" panose="020B0609020000020004" pitchFamily="49" charset="0"/>
            </a:endParaRPr>
          </a:p>
          <a:p>
            <a:r>
              <a:rPr lang="en-US" sz="2400" dirty="0">
                <a:solidFill>
                  <a:srgbClr val="00B050"/>
                </a:solidFill>
                <a:latin typeface="Cascadia Mono" panose="020B0609020000020004" pitchFamily="49" charset="0"/>
              </a:rPr>
              <a:t>//</a:t>
            </a:r>
            <a:r>
              <a:rPr lang="ru-RU" sz="2400" dirty="0">
                <a:solidFill>
                  <a:srgbClr val="00B050"/>
                </a:solidFill>
                <a:latin typeface="Cascadia Mono" panose="020B0609020000020004" pitchFamily="49" charset="0"/>
              </a:rPr>
              <a:t> </a:t>
            </a:r>
            <a:r>
              <a:rPr lang="ru-RU" sz="2400" dirty="0" smtClean="0">
                <a:solidFill>
                  <a:srgbClr val="00B050"/>
                </a:solidFill>
                <a:latin typeface="Cascadia Mono" panose="020B0609020000020004" pitchFamily="49" charset="0"/>
              </a:rPr>
              <a:t>Определяем оператор сложения для объектов типа </a:t>
            </a:r>
            <a:r>
              <a:rPr lang="en-US" sz="2400" dirty="0">
                <a:solidFill>
                  <a:srgbClr val="00B050"/>
                </a:solidFill>
                <a:latin typeface="Cascadia Mono" panose="020B0609020000020004" pitchFamily="49" charset="0"/>
              </a:rPr>
              <a:t>Complex</a:t>
            </a:r>
            <a:endParaRPr lang="ru-RU" sz="2400" dirty="0">
              <a:solidFill>
                <a:srgbClr val="00B050"/>
              </a:solidFill>
              <a:latin typeface="Cascadia Mono" panose="020B0609020000020004" pitchFamily="49" charset="0"/>
            </a:endParaRPr>
          </a:p>
          <a:p>
            <a:r>
              <a:rPr lang="en-US" sz="2400" dirty="0" smtClean="0">
                <a:solidFill>
                  <a:srgbClr val="0000FF"/>
                </a:solidFill>
                <a:latin typeface="Cascadia Mono" panose="020B0609020000020004" pitchFamily="49" charset="0"/>
              </a:rPr>
              <a:t>	public</a:t>
            </a:r>
            <a:r>
              <a:rPr lang="en-US" sz="2400" dirty="0" smtClean="0">
                <a:solidFill>
                  <a:srgbClr val="000000"/>
                </a:solidFill>
                <a:latin typeface="Cascadia Mono" panose="020B0609020000020004" pitchFamily="49" charset="0"/>
              </a:rPr>
              <a:t> </a:t>
            </a:r>
            <a:r>
              <a:rPr lang="en-US" sz="2400" dirty="0">
                <a:solidFill>
                  <a:srgbClr val="0000FF"/>
                </a:solidFill>
                <a:latin typeface="Cascadia Mono" panose="020B0609020000020004" pitchFamily="49" charset="0"/>
              </a:rPr>
              <a:t>static</a:t>
            </a:r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 Complex </a:t>
            </a:r>
            <a:r>
              <a:rPr lang="en-US" sz="2400" dirty="0">
                <a:solidFill>
                  <a:srgbClr val="0000FF"/>
                </a:solidFill>
                <a:latin typeface="Cascadia Mono" panose="020B0609020000020004" pitchFamily="49" charset="0"/>
              </a:rPr>
              <a:t>operator</a:t>
            </a:r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 +(Complex c1, Complex c2)</a:t>
            </a:r>
          </a:p>
          <a:p>
            <a:r>
              <a:rPr lang="en-US" sz="2400" dirty="0" smtClean="0">
                <a:solidFill>
                  <a:srgbClr val="000000"/>
                </a:solidFill>
                <a:latin typeface="Cascadia Mono" panose="020B0609020000020004" pitchFamily="49" charset="0"/>
              </a:rPr>
              <a:t>		=&gt; </a:t>
            </a:r>
            <a:r>
              <a:rPr lang="en-US" sz="2400" dirty="0">
                <a:solidFill>
                  <a:srgbClr val="0000FF"/>
                </a:solidFill>
                <a:latin typeface="Cascadia Mono" panose="020B0609020000020004" pitchFamily="49" charset="0"/>
              </a:rPr>
              <a:t>new</a:t>
            </a:r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(c1.Re + c2.Re, c1.Im + c2.Im);</a:t>
            </a:r>
          </a:p>
          <a:p>
            <a:r>
              <a:rPr lang="en-US" sz="2400" dirty="0">
                <a:solidFill>
                  <a:srgbClr val="00B050"/>
                </a:solidFill>
                <a:latin typeface="Cascadia Mono" panose="020B0609020000020004" pitchFamily="49" charset="0"/>
              </a:rPr>
              <a:t>//</a:t>
            </a:r>
            <a:r>
              <a:rPr lang="ru-RU" sz="2400" dirty="0">
                <a:solidFill>
                  <a:srgbClr val="00B050"/>
                </a:solidFill>
                <a:latin typeface="Cascadia Mono" panose="020B0609020000020004" pitchFamily="49" charset="0"/>
              </a:rPr>
              <a:t> Определяем оператор </a:t>
            </a:r>
            <a:r>
              <a:rPr lang="ru-RU" sz="2400" dirty="0" smtClean="0">
                <a:solidFill>
                  <a:srgbClr val="00B050"/>
                </a:solidFill>
                <a:latin typeface="Cascadia Mono" panose="020B0609020000020004" pitchFamily="49" charset="0"/>
              </a:rPr>
              <a:t>вычитания </a:t>
            </a:r>
            <a:r>
              <a:rPr lang="ru-RU" sz="2400" dirty="0">
                <a:solidFill>
                  <a:srgbClr val="00B050"/>
                </a:solidFill>
                <a:latin typeface="Cascadia Mono" panose="020B0609020000020004" pitchFamily="49" charset="0"/>
              </a:rPr>
              <a:t>для объектов типа </a:t>
            </a:r>
            <a:r>
              <a:rPr lang="en-US" sz="2400" dirty="0">
                <a:solidFill>
                  <a:srgbClr val="00B050"/>
                </a:solidFill>
                <a:latin typeface="Cascadia Mono" panose="020B0609020000020004" pitchFamily="49" charset="0"/>
              </a:rPr>
              <a:t>Complex</a:t>
            </a:r>
            <a:endParaRPr lang="ru-RU" sz="2400" dirty="0">
              <a:solidFill>
                <a:srgbClr val="00B050"/>
              </a:solidFill>
              <a:latin typeface="Cascadia Mono" panose="020B0609020000020004" pitchFamily="49" charset="0"/>
            </a:endParaRPr>
          </a:p>
          <a:p>
            <a:r>
              <a:rPr lang="en-US" sz="2400" dirty="0" smtClean="0">
                <a:solidFill>
                  <a:srgbClr val="0000FF"/>
                </a:solidFill>
                <a:latin typeface="Cascadia Mono" panose="020B0609020000020004" pitchFamily="49" charset="0"/>
              </a:rPr>
              <a:t>	public</a:t>
            </a:r>
            <a:r>
              <a:rPr lang="en-US" sz="2400" dirty="0" smtClean="0">
                <a:solidFill>
                  <a:srgbClr val="000000"/>
                </a:solidFill>
                <a:latin typeface="Cascadia Mono" panose="020B0609020000020004" pitchFamily="49" charset="0"/>
              </a:rPr>
              <a:t> </a:t>
            </a:r>
            <a:r>
              <a:rPr lang="en-US" sz="2400" dirty="0">
                <a:solidFill>
                  <a:srgbClr val="0000FF"/>
                </a:solidFill>
                <a:latin typeface="Cascadia Mono" panose="020B0609020000020004" pitchFamily="49" charset="0"/>
              </a:rPr>
              <a:t>static</a:t>
            </a:r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 Complex </a:t>
            </a:r>
            <a:r>
              <a:rPr lang="en-US" sz="2400" dirty="0">
                <a:solidFill>
                  <a:srgbClr val="0000FF"/>
                </a:solidFill>
                <a:latin typeface="Cascadia Mono" panose="020B0609020000020004" pitchFamily="49" charset="0"/>
              </a:rPr>
              <a:t>operator</a:t>
            </a:r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 -(Complex c1, Complex c2)</a:t>
            </a:r>
          </a:p>
          <a:p>
            <a:r>
              <a:rPr lang="en-US" sz="2400" dirty="0" smtClean="0">
                <a:solidFill>
                  <a:srgbClr val="000000"/>
                </a:solidFill>
                <a:latin typeface="Cascadia Mono" panose="020B0609020000020004" pitchFamily="49" charset="0"/>
              </a:rPr>
              <a:t>		=&gt; </a:t>
            </a:r>
            <a:r>
              <a:rPr lang="en-US" sz="2400" dirty="0">
                <a:solidFill>
                  <a:srgbClr val="0000FF"/>
                </a:solidFill>
                <a:latin typeface="Cascadia Mono" panose="020B0609020000020004" pitchFamily="49" charset="0"/>
              </a:rPr>
              <a:t>new</a:t>
            </a:r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(c1.Re - c2.Re, c1.Im - c2.Im);</a:t>
            </a:r>
          </a:p>
          <a:p>
            <a:endParaRPr lang="ru-RU" sz="2400" dirty="0">
              <a:solidFill>
                <a:srgbClr val="000000"/>
              </a:solidFill>
              <a:latin typeface="Cascadia Mono" panose="020B06090200000200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719477664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Прямоугольник 1"/>
          <p:cNvSpPr/>
          <p:nvPr/>
        </p:nvSpPr>
        <p:spPr>
          <a:xfrm>
            <a:off x="352424" y="0"/>
            <a:ext cx="11839575" cy="6740307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sz="2400" dirty="0">
                <a:solidFill>
                  <a:srgbClr val="00B050"/>
                </a:solidFill>
                <a:latin typeface="Cascadia Mono" panose="020B0609020000020004" pitchFamily="49" charset="0"/>
              </a:rPr>
              <a:t>//</a:t>
            </a:r>
            <a:r>
              <a:rPr lang="ru-RU" sz="2400" dirty="0">
                <a:solidFill>
                  <a:srgbClr val="00B050"/>
                </a:solidFill>
                <a:latin typeface="Cascadia Mono" panose="020B0609020000020004" pitchFamily="49" charset="0"/>
              </a:rPr>
              <a:t> Определяем оператор </a:t>
            </a:r>
            <a:r>
              <a:rPr lang="ru-RU" sz="2400" dirty="0" smtClean="0">
                <a:solidFill>
                  <a:srgbClr val="00B050"/>
                </a:solidFill>
                <a:latin typeface="Cascadia Mono" panose="020B0609020000020004" pitchFamily="49" charset="0"/>
              </a:rPr>
              <a:t>сложения </a:t>
            </a:r>
            <a:r>
              <a:rPr lang="en-US" sz="2400" dirty="0" smtClean="0">
                <a:solidFill>
                  <a:srgbClr val="00B050"/>
                </a:solidFill>
                <a:latin typeface="Cascadia Mono" panose="020B0609020000020004" pitchFamily="49" charset="0"/>
              </a:rPr>
              <a:t>Complex</a:t>
            </a:r>
            <a:r>
              <a:rPr lang="ru-RU" sz="2400" dirty="0" smtClean="0">
                <a:solidFill>
                  <a:srgbClr val="00B050"/>
                </a:solidFill>
                <a:latin typeface="Cascadia Mono" panose="020B0609020000020004" pitchFamily="49" charset="0"/>
              </a:rPr>
              <a:t> и </a:t>
            </a:r>
            <a:r>
              <a:rPr lang="en-US" sz="2400" dirty="0" smtClean="0">
                <a:solidFill>
                  <a:srgbClr val="00B050"/>
                </a:solidFill>
                <a:latin typeface="Cascadia Mono" panose="020B0609020000020004" pitchFamily="49" charset="0"/>
              </a:rPr>
              <a:t>double</a:t>
            </a:r>
            <a:endParaRPr lang="ru-RU" sz="2400" dirty="0">
              <a:solidFill>
                <a:srgbClr val="00B050"/>
              </a:solidFill>
              <a:latin typeface="Cascadia Mono" panose="020B0609020000020004" pitchFamily="49" charset="0"/>
            </a:endParaRPr>
          </a:p>
          <a:p>
            <a:r>
              <a:rPr lang="en-US" sz="2400" dirty="0">
                <a:solidFill>
                  <a:srgbClr val="0000FF"/>
                </a:solidFill>
                <a:latin typeface="Cascadia Mono" panose="020B0609020000020004" pitchFamily="49" charset="0"/>
              </a:rPr>
              <a:t>	</a:t>
            </a:r>
            <a:r>
              <a:rPr lang="en-US" sz="2400" dirty="0" smtClean="0">
                <a:solidFill>
                  <a:srgbClr val="0000FF"/>
                </a:solidFill>
                <a:latin typeface="Cascadia Mono" panose="020B0609020000020004" pitchFamily="49" charset="0"/>
              </a:rPr>
              <a:t>public</a:t>
            </a:r>
            <a:r>
              <a:rPr lang="en-US" sz="2400" dirty="0" smtClean="0">
                <a:solidFill>
                  <a:srgbClr val="000000"/>
                </a:solidFill>
                <a:latin typeface="Cascadia Mono" panose="020B0609020000020004" pitchFamily="49" charset="0"/>
              </a:rPr>
              <a:t> </a:t>
            </a:r>
            <a:r>
              <a:rPr lang="en-US" sz="2400" dirty="0">
                <a:solidFill>
                  <a:srgbClr val="0000FF"/>
                </a:solidFill>
                <a:latin typeface="Cascadia Mono" panose="020B0609020000020004" pitchFamily="49" charset="0"/>
              </a:rPr>
              <a:t>static</a:t>
            </a:r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 Complex </a:t>
            </a:r>
            <a:r>
              <a:rPr lang="en-US" sz="2400" dirty="0">
                <a:solidFill>
                  <a:srgbClr val="0000FF"/>
                </a:solidFill>
                <a:latin typeface="Cascadia Mono" panose="020B0609020000020004" pitchFamily="49" charset="0"/>
              </a:rPr>
              <a:t>operator</a:t>
            </a:r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 +(Complex c, </a:t>
            </a:r>
            <a:r>
              <a:rPr lang="en-US" sz="2400" dirty="0">
                <a:solidFill>
                  <a:srgbClr val="0000FF"/>
                </a:solidFill>
                <a:latin typeface="Cascadia Mono" panose="020B0609020000020004" pitchFamily="49" charset="0"/>
              </a:rPr>
              <a:t>double</a:t>
            </a:r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 d)</a:t>
            </a:r>
          </a:p>
          <a:p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		=&gt; </a:t>
            </a:r>
            <a:r>
              <a:rPr lang="en-US" sz="2400" dirty="0">
                <a:solidFill>
                  <a:srgbClr val="0000FF"/>
                </a:solidFill>
                <a:latin typeface="Cascadia Mono" panose="020B0609020000020004" pitchFamily="49" charset="0"/>
              </a:rPr>
              <a:t>new</a:t>
            </a:r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(</a:t>
            </a:r>
            <a:r>
              <a:rPr lang="en-US" sz="2400" dirty="0" err="1">
                <a:solidFill>
                  <a:srgbClr val="000000"/>
                </a:solidFill>
                <a:latin typeface="Cascadia Mono" panose="020B0609020000020004" pitchFamily="49" charset="0"/>
              </a:rPr>
              <a:t>c.Re</a:t>
            </a:r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 + d, </a:t>
            </a:r>
            <a:r>
              <a:rPr lang="en-US" sz="2400" dirty="0" err="1">
                <a:solidFill>
                  <a:srgbClr val="000000"/>
                </a:solidFill>
                <a:latin typeface="Cascadia Mono" panose="020B0609020000020004" pitchFamily="49" charset="0"/>
              </a:rPr>
              <a:t>c.Im</a:t>
            </a:r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);</a:t>
            </a:r>
          </a:p>
          <a:p>
            <a:r>
              <a:rPr lang="en-US" sz="2400" dirty="0">
                <a:solidFill>
                  <a:srgbClr val="00B050"/>
                </a:solidFill>
                <a:latin typeface="Cascadia Mono" panose="020B0609020000020004" pitchFamily="49" charset="0"/>
              </a:rPr>
              <a:t>//</a:t>
            </a:r>
            <a:r>
              <a:rPr lang="ru-RU" sz="2400" dirty="0">
                <a:solidFill>
                  <a:srgbClr val="00B050"/>
                </a:solidFill>
                <a:latin typeface="Cascadia Mono" panose="020B0609020000020004" pitchFamily="49" charset="0"/>
              </a:rPr>
              <a:t> </a:t>
            </a:r>
            <a:r>
              <a:rPr lang="ru-RU" sz="2400" dirty="0" smtClean="0">
                <a:solidFill>
                  <a:srgbClr val="00B050"/>
                </a:solidFill>
                <a:latin typeface="Cascadia Mono" panose="020B0609020000020004" pitchFamily="49" charset="0"/>
              </a:rPr>
              <a:t>Операции по умолчанию не коммутативны</a:t>
            </a:r>
            <a:endParaRPr lang="ru-RU" sz="2400" dirty="0">
              <a:solidFill>
                <a:srgbClr val="000000"/>
              </a:solidFill>
              <a:latin typeface="Cascadia Mono" panose="020B0609020000020004" pitchFamily="49" charset="0"/>
            </a:endParaRPr>
          </a:p>
          <a:p>
            <a:r>
              <a:rPr lang="en-US" sz="2400" dirty="0">
                <a:solidFill>
                  <a:srgbClr val="0000FF"/>
                </a:solidFill>
                <a:latin typeface="Cascadia Mono" panose="020B0609020000020004" pitchFamily="49" charset="0"/>
              </a:rPr>
              <a:t>	public</a:t>
            </a:r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 </a:t>
            </a:r>
            <a:r>
              <a:rPr lang="en-US" sz="2400" dirty="0">
                <a:solidFill>
                  <a:srgbClr val="0000FF"/>
                </a:solidFill>
                <a:latin typeface="Cascadia Mono" panose="020B0609020000020004" pitchFamily="49" charset="0"/>
              </a:rPr>
              <a:t>static</a:t>
            </a:r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 Complex </a:t>
            </a:r>
            <a:r>
              <a:rPr lang="en-US" sz="2400" dirty="0">
                <a:solidFill>
                  <a:srgbClr val="0000FF"/>
                </a:solidFill>
                <a:latin typeface="Cascadia Mono" panose="020B0609020000020004" pitchFamily="49" charset="0"/>
              </a:rPr>
              <a:t>operator</a:t>
            </a:r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 -(</a:t>
            </a:r>
            <a:r>
              <a:rPr lang="en-US" sz="2400" dirty="0">
                <a:solidFill>
                  <a:srgbClr val="0000FF"/>
                </a:solidFill>
                <a:latin typeface="Cascadia Mono" panose="020B0609020000020004" pitchFamily="49" charset="0"/>
              </a:rPr>
              <a:t>double</a:t>
            </a:r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 d, Complex c)</a:t>
            </a:r>
          </a:p>
          <a:p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		=&gt; </a:t>
            </a:r>
            <a:r>
              <a:rPr lang="en-US" sz="2400" dirty="0">
                <a:solidFill>
                  <a:srgbClr val="0000FF"/>
                </a:solidFill>
                <a:latin typeface="Cascadia Mono" panose="020B0609020000020004" pitchFamily="49" charset="0"/>
              </a:rPr>
              <a:t>new</a:t>
            </a:r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(d - </a:t>
            </a:r>
            <a:r>
              <a:rPr lang="en-US" sz="2400" dirty="0" err="1">
                <a:solidFill>
                  <a:srgbClr val="000000"/>
                </a:solidFill>
                <a:latin typeface="Cascadia Mono" panose="020B0609020000020004" pitchFamily="49" charset="0"/>
              </a:rPr>
              <a:t>c.Re</a:t>
            </a:r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, </a:t>
            </a:r>
            <a:r>
              <a:rPr lang="en-US" sz="2400" dirty="0" err="1">
                <a:solidFill>
                  <a:srgbClr val="000000"/>
                </a:solidFill>
                <a:latin typeface="Cascadia Mono" panose="020B0609020000020004" pitchFamily="49" charset="0"/>
              </a:rPr>
              <a:t>c.Im</a:t>
            </a:r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);</a:t>
            </a:r>
          </a:p>
          <a:p>
            <a:endParaRPr lang="ru-RU" sz="2400" dirty="0">
              <a:solidFill>
                <a:srgbClr val="000000"/>
              </a:solidFill>
              <a:latin typeface="Cascadia Mono" panose="020B0609020000020004" pitchFamily="49" charset="0"/>
            </a:endParaRPr>
          </a:p>
          <a:p>
            <a:r>
              <a:rPr lang="en-US" sz="2400" dirty="0">
                <a:solidFill>
                  <a:srgbClr val="0000FF"/>
                </a:solidFill>
                <a:latin typeface="Cascadia Mono" panose="020B0609020000020004" pitchFamily="49" charset="0"/>
              </a:rPr>
              <a:t>	public</a:t>
            </a:r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 </a:t>
            </a:r>
            <a:r>
              <a:rPr lang="en-US" sz="2400" dirty="0">
                <a:solidFill>
                  <a:srgbClr val="0000FF"/>
                </a:solidFill>
                <a:latin typeface="Cascadia Mono" panose="020B0609020000020004" pitchFamily="49" charset="0"/>
              </a:rPr>
              <a:t>static</a:t>
            </a:r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 Complex </a:t>
            </a:r>
            <a:r>
              <a:rPr lang="en-US" sz="2400" dirty="0">
                <a:solidFill>
                  <a:srgbClr val="0000FF"/>
                </a:solidFill>
                <a:latin typeface="Cascadia Mono" panose="020B0609020000020004" pitchFamily="49" charset="0"/>
              </a:rPr>
              <a:t>operator</a:t>
            </a:r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 +(</a:t>
            </a:r>
            <a:r>
              <a:rPr lang="en-US" sz="2400" dirty="0">
                <a:solidFill>
                  <a:srgbClr val="0000FF"/>
                </a:solidFill>
                <a:latin typeface="Cascadia Mono" panose="020B0609020000020004" pitchFamily="49" charset="0"/>
              </a:rPr>
              <a:t>double</a:t>
            </a:r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 d, Complex c)</a:t>
            </a:r>
          </a:p>
          <a:p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		=&gt; c + d</a:t>
            </a:r>
            <a:r>
              <a:rPr lang="en-US" sz="2400" dirty="0" smtClean="0">
                <a:solidFill>
                  <a:srgbClr val="000000"/>
                </a:solidFill>
                <a:latin typeface="Cascadia Mono" panose="020B0609020000020004" pitchFamily="49" charset="0"/>
              </a:rPr>
              <a:t>;</a:t>
            </a:r>
          </a:p>
          <a:p>
            <a:endParaRPr lang="en-US" sz="2400" dirty="0">
              <a:solidFill>
                <a:srgbClr val="000000"/>
              </a:solidFill>
              <a:latin typeface="Cascadia Mono" panose="020B0609020000020004" pitchFamily="49" charset="0"/>
            </a:endParaRPr>
          </a:p>
          <a:p>
            <a:r>
              <a:rPr lang="ru-RU" sz="2400" dirty="0">
                <a:solidFill>
                  <a:srgbClr val="0000FF"/>
                </a:solidFill>
                <a:latin typeface="Cascadia Mono" panose="020B0609020000020004" pitchFamily="49" charset="0"/>
              </a:rPr>
              <a:t>	</a:t>
            </a:r>
            <a:r>
              <a:rPr lang="en-US" sz="2400" dirty="0" smtClean="0">
                <a:solidFill>
                  <a:srgbClr val="0000FF"/>
                </a:solidFill>
                <a:latin typeface="Cascadia Mono" panose="020B0609020000020004" pitchFamily="49" charset="0"/>
              </a:rPr>
              <a:t>public</a:t>
            </a:r>
            <a:r>
              <a:rPr lang="en-US" sz="2400" dirty="0" smtClean="0">
                <a:solidFill>
                  <a:srgbClr val="000000"/>
                </a:solidFill>
                <a:latin typeface="Cascadia Mono" panose="020B0609020000020004" pitchFamily="49" charset="0"/>
              </a:rPr>
              <a:t> </a:t>
            </a:r>
            <a:r>
              <a:rPr lang="en-US" sz="2400" dirty="0">
                <a:solidFill>
                  <a:srgbClr val="0000FF"/>
                </a:solidFill>
                <a:latin typeface="Cascadia Mono" panose="020B0609020000020004" pitchFamily="49" charset="0"/>
              </a:rPr>
              <a:t>static</a:t>
            </a:r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 Complex </a:t>
            </a:r>
            <a:r>
              <a:rPr lang="en-US" sz="2400" dirty="0">
                <a:solidFill>
                  <a:srgbClr val="0000FF"/>
                </a:solidFill>
                <a:latin typeface="Cascadia Mono" panose="020B0609020000020004" pitchFamily="49" charset="0"/>
              </a:rPr>
              <a:t>operator</a:t>
            </a:r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 -(Complex c, </a:t>
            </a:r>
            <a:r>
              <a:rPr lang="en-US" sz="2400" dirty="0">
                <a:solidFill>
                  <a:srgbClr val="0000FF"/>
                </a:solidFill>
                <a:latin typeface="Cascadia Mono" panose="020B0609020000020004" pitchFamily="49" charset="0"/>
              </a:rPr>
              <a:t>double</a:t>
            </a:r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 d)</a:t>
            </a:r>
          </a:p>
          <a:p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            =&gt; </a:t>
            </a:r>
            <a:r>
              <a:rPr lang="en-US" sz="2400" dirty="0">
                <a:solidFill>
                  <a:srgbClr val="0000FF"/>
                </a:solidFill>
                <a:latin typeface="Cascadia Mono" panose="020B0609020000020004" pitchFamily="49" charset="0"/>
              </a:rPr>
              <a:t>new</a:t>
            </a:r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(</a:t>
            </a:r>
            <a:r>
              <a:rPr lang="en-US" sz="2400" dirty="0" err="1">
                <a:solidFill>
                  <a:srgbClr val="000000"/>
                </a:solidFill>
                <a:latin typeface="Cascadia Mono" panose="020B0609020000020004" pitchFamily="49" charset="0"/>
              </a:rPr>
              <a:t>c.Re</a:t>
            </a:r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 - d, </a:t>
            </a:r>
            <a:r>
              <a:rPr lang="en-US" sz="2400" dirty="0" err="1">
                <a:solidFill>
                  <a:srgbClr val="000000"/>
                </a:solidFill>
                <a:latin typeface="Cascadia Mono" panose="020B0609020000020004" pitchFamily="49" charset="0"/>
              </a:rPr>
              <a:t>c.Im</a:t>
            </a:r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);</a:t>
            </a:r>
          </a:p>
          <a:p>
            <a:endParaRPr lang="ru-RU" sz="2400" dirty="0">
              <a:solidFill>
                <a:srgbClr val="000000"/>
              </a:solidFill>
              <a:latin typeface="Cascadia Mono" panose="020B0609020000020004" pitchFamily="49" charset="0"/>
            </a:endParaRPr>
          </a:p>
          <a:p>
            <a:r>
              <a:rPr lang="en-US" sz="2400" dirty="0" smtClean="0">
                <a:solidFill>
                  <a:srgbClr val="0000FF"/>
                </a:solidFill>
                <a:latin typeface="Cascadia Mono" panose="020B0609020000020004" pitchFamily="49" charset="0"/>
              </a:rPr>
              <a:t>   public</a:t>
            </a:r>
            <a:r>
              <a:rPr lang="en-US" sz="2400" dirty="0" smtClean="0">
                <a:solidFill>
                  <a:srgbClr val="000000"/>
                </a:solidFill>
                <a:latin typeface="Cascadia Mono" panose="020B0609020000020004" pitchFamily="49" charset="0"/>
              </a:rPr>
              <a:t> </a:t>
            </a:r>
            <a:r>
              <a:rPr lang="en-US" sz="2400" dirty="0">
                <a:solidFill>
                  <a:srgbClr val="0000FF"/>
                </a:solidFill>
                <a:latin typeface="Cascadia Mono" panose="020B0609020000020004" pitchFamily="49" charset="0"/>
              </a:rPr>
              <a:t>static</a:t>
            </a:r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 Complex </a:t>
            </a:r>
            <a:r>
              <a:rPr lang="en-US" sz="2400" dirty="0">
                <a:solidFill>
                  <a:srgbClr val="0000FF"/>
                </a:solidFill>
                <a:latin typeface="Cascadia Mono" panose="020B0609020000020004" pitchFamily="49" charset="0"/>
              </a:rPr>
              <a:t>operator</a:t>
            </a:r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 *(Complex c, </a:t>
            </a:r>
            <a:r>
              <a:rPr lang="en-US" sz="2400" dirty="0">
                <a:solidFill>
                  <a:srgbClr val="0000FF"/>
                </a:solidFill>
                <a:latin typeface="Cascadia Mono" panose="020B0609020000020004" pitchFamily="49" charset="0"/>
              </a:rPr>
              <a:t>double</a:t>
            </a:r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 d)</a:t>
            </a:r>
          </a:p>
          <a:p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            =&gt; </a:t>
            </a:r>
            <a:r>
              <a:rPr lang="en-US" sz="2400" dirty="0">
                <a:solidFill>
                  <a:srgbClr val="0000FF"/>
                </a:solidFill>
                <a:latin typeface="Cascadia Mono" panose="020B0609020000020004" pitchFamily="49" charset="0"/>
              </a:rPr>
              <a:t>new</a:t>
            </a:r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(d * </a:t>
            </a:r>
            <a:r>
              <a:rPr lang="en-US" sz="2400" dirty="0" err="1">
                <a:solidFill>
                  <a:srgbClr val="000000"/>
                </a:solidFill>
                <a:latin typeface="Cascadia Mono" panose="020B0609020000020004" pitchFamily="49" charset="0"/>
              </a:rPr>
              <a:t>c.Re</a:t>
            </a:r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, d * </a:t>
            </a:r>
            <a:r>
              <a:rPr lang="en-US" sz="2400" dirty="0" err="1">
                <a:solidFill>
                  <a:srgbClr val="000000"/>
                </a:solidFill>
                <a:latin typeface="Cascadia Mono" panose="020B0609020000020004" pitchFamily="49" charset="0"/>
              </a:rPr>
              <a:t>c.Im</a:t>
            </a:r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);</a:t>
            </a:r>
          </a:p>
          <a:p>
            <a:endParaRPr lang="ru-RU" sz="2400" dirty="0">
              <a:solidFill>
                <a:srgbClr val="000000"/>
              </a:solidFill>
              <a:latin typeface="Cascadia Mono" panose="020B0609020000020004" pitchFamily="49" charset="0"/>
            </a:endParaRPr>
          </a:p>
          <a:p>
            <a:r>
              <a:rPr lang="en-US" sz="2400" dirty="0" smtClean="0">
                <a:solidFill>
                  <a:srgbClr val="0000FF"/>
                </a:solidFill>
                <a:latin typeface="Cascadia Mono" panose="020B0609020000020004" pitchFamily="49" charset="0"/>
              </a:rPr>
              <a:t>   public</a:t>
            </a:r>
            <a:r>
              <a:rPr lang="en-US" sz="2400" dirty="0" smtClean="0">
                <a:solidFill>
                  <a:srgbClr val="000000"/>
                </a:solidFill>
                <a:latin typeface="Cascadia Mono" panose="020B0609020000020004" pitchFamily="49" charset="0"/>
              </a:rPr>
              <a:t> </a:t>
            </a:r>
            <a:r>
              <a:rPr lang="en-US" sz="2400" dirty="0">
                <a:solidFill>
                  <a:srgbClr val="0000FF"/>
                </a:solidFill>
                <a:latin typeface="Cascadia Mono" panose="020B0609020000020004" pitchFamily="49" charset="0"/>
              </a:rPr>
              <a:t>static</a:t>
            </a:r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 Complex </a:t>
            </a:r>
            <a:r>
              <a:rPr lang="en-US" sz="2400" dirty="0">
                <a:solidFill>
                  <a:srgbClr val="0000FF"/>
                </a:solidFill>
                <a:latin typeface="Cascadia Mono" panose="020B0609020000020004" pitchFamily="49" charset="0"/>
              </a:rPr>
              <a:t>operator</a:t>
            </a:r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 *(</a:t>
            </a:r>
            <a:r>
              <a:rPr lang="en-US" sz="2400" dirty="0">
                <a:solidFill>
                  <a:srgbClr val="0000FF"/>
                </a:solidFill>
                <a:latin typeface="Cascadia Mono" panose="020B0609020000020004" pitchFamily="49" charset="0"/>
              </a:rPr>
              <a:t>double</a:t>
            </a:r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 d, Complex c)</a:t>
            </a:r>
          </a:p>
          <a:p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            =&gt; c * d</a:t>
            </a:r>
            <a:r>
              <a:rPr lang="en-US" sz="2400" dirty="0" smtClean="0">
                <a:solidFill>
                  <a:srgbClr val="000000"/>
                </a:solidFill>
                <a:latin typeface="Cascadia Mono" panose="020B0609020000020004" pitchFamily="49" charset="0"/>
              </a:rPr>
              <a:t>;</a:t>
            </a:r>
            <a:endParaRPr lang="en-US" sz="2400" dirty="0">
              <a:solidFill>
                <a:srgbClr val="000000"/>
              </a:solidFill>
              <a:latin typeface="Cascadia Mono" panose="020B06090200000200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736342852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Прямоугольник 3"/>
          <p:cNvSpPr/>
          <p:nvPr/>
        </p:nvSpPr>
        <p:spPr>
          <a:xfrm>
            <a:off x="0" y="0"/>
            <a:ext cx="12192000" cy="6001643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sz="2400" dirty="0" smtClean="0">
                <a:solidFill>
                  <a:srgbClr val="000000"/>
                </a:solidFill>
                <a:latin typeface="Cascadia Mono" panose="020B0609020000020004" pitchFamily="49" charset="0"/>
              </a:rPr>
              <a:t>        </a:t>
            </a:r>
            <a:r>
              <a:rPr lang="en-US" sz="2400" dirty="0">
                <a:solidFill>
                  <a:srgbClr val="0000FF"/>
                </a:solidFill>
                <a:latin typeface="Cascadia Mono" panose="020B0609020000020004" pitchFamily="49" charset="0"/>
              </a:rPr>
              <a:t>public</a:t>
            </a:r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 </a:t>
            </a:r>
            <a:r>
              <a:rPr lang="en-US" sz="2400" dirty="0">
                <a:solidFill>
                  <a:srgbClr val="0000FF"/>
                </a:solidFill>
                <a:latin typeface="Cascadia Mono" panose="020B0609020000020004" pitchFamily="49" charset="0"/>
              </a:rPr>
              <a:t>static</a:t>
            </a:r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 Complex </a:t>
            </a:r>
            <a:r>
              <a:rPr lang="en-US" sz="2400" dirty="0">
                <a:solidFill>
                  <a:srgbClr val="0000FF"/>
                </a:solidFill>
                <a:latin typeface="Cascadia Mono" panose="020B0609020000020004" pitchFamily="49" charset="0"/>
              </a:rPr>
              <a:t>operator</a:t>
            </a:r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 /(Complex c, </a:t>
            </a:r>
            <a:r>
              <a:rPr lang="en-US" sz="2400" dirty="0">
                <a:solidFill>
                  <a:srgbClr val="0000FF"/>
                </a:solidFill>
                <a:latin typeface="Cascadia Mono" panose="020B0609020000020004" pitchFamily="49" charset="0"/>
              </a:rPr>
              <a:t>double</a:t>
            </a:r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 d)</a:t>
            </a:r>
          </a:p>
          <a:p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            =&gt; </a:t>
            </a:r>
            <a:r>
              <a:rPr lang="en-US" sz="2400" dirty="0">
                <a:solidFill>
                  <a:srgbClr val="0000FF"/>
                </a:solidFill>
                <a:latin typeface="Cascadia Mono" panose="020B0609020000020004" pitchFamily="49" charset="0"/>
              </a:rPr>
              <a:t>new</a:t>
            </a:r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(</a:t>
            </a:r>
            <a:r>
              <a:rPr lang="en-US" sz="2400" dirty="0" err="1">
                <a:solidFill>
                  <a:srgbClr val="000000"/>
                </a:solidFill>
                <a:latin typeface="Cascadia Mono" panose="020B0609020000020004" pitchFamily="49" charset="0"/>
              </a:rPr>
              <a:t>c.Re</a:t>
            </a:r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 / d, </a:t>
            </a:r>
            <a:r>
              <a:rPr lang="en-US" sz="2400" dirty="0" err="1">
                <a:solidFill>
                  <a:srgbClr val="000000"/>
                </a:solidFill>
                <a:latin typeface="Cascadia Mono" panose="020B0609020000020004" pitchFamily="49" charset="0"/>
              </a:rPr>
              <a:t>c.Im</a:t>
            </a:r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 / d);</a:t>
            </a:r>
          </a:p>
          <a:p>
            <a:endParaRPr lang="ru-RU" sz="2400" dirty="0">
              <a:solidFill>
                <a:srgbClr val="000000"/>
              </a:solidFill>
              <a:latin typeface="Cascadia Mono" panose="020B0609020000020004" pitchFamily="49" charset="0"/>
            </a:endParaRPr>
          </a:p>
          <a:p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        </a:t>
            </a:r>
            <a:r>
              <a:rPr lang="en-US" sz="2400" dirty="0">
                <a:solidFill>
                  <a:srgbClr val="0000FF"/>
                </a:solidFill>
                <a:latin typeface="Cascadia Mono" panose="020B0609020000020004" pitchFamily="49" charset="0"/>
              </a:rPr>
              <a:t>public</a:t>
            </a:r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 </a:t>
            </a:r>
            <a:r>
              <a:rPr lang="en-US" sz="2400" dirty="0">
                <a:solidFill>
                  <a:srgbClr val="0000FF"/>
                </a:solidFill>
                <a:latin typeface="Cascadia Mono" panose="020B0609020000020004" pitchFamily="49" charset="0"/>
              </a:rPr>
              <a:t>static</a:t>
            </a:r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 Complex </a:t>
            </a:r>
            <a:r>
              <a:rPr lang="en-US" sz="2400" dirty="0">
                <a:solidFill>
                  <a:srgbClr val="0000FF"/>
                </a:solidFill>
                <a:latin typeface="Cascadia Mono" panose="020B0609020000020004" pitchFamily="49" charset="0"/>
              </a:rPr>
              <a:t>operator</a:t>
            </a:r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 *(Complex c1, Complex c2)</a:t>
            </a:r>
          </a:p>
          <a:p>
            <a:r>
              <a:rPr lang="de-DE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            =&gt; </a:t>
            </a:r>
            <a:r>
              <a:rPr lang="de-DE" sz="2400" dirty="0" err="1">
                <a:solidFill>
                  <a:srgbClr val="0000FF"/>
                </a:solidFill>
                <a:latin typeface="Cascadia Mono" panose="020B0609020000020004" pitchFamily="49" charset="0"/>
              </a:rPr>
              <a:t>new</a:t>
            </a:r>
            <a:r>
              <a:rPr lang="de-DE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(c1.Re * c2.Re - c1.Im * c2.Im, </a:t>
            </a:r>
            <a:endParaRPr lang="de-DE" sz="2400" dirty="0" smtClean="0">
              <a:solidFill>
                <a:srgbClr val="000000"/>
              </a:solidFill>
              <a:latin typeface="Cascadia Mono" panose="020B0609020000020004" pitchFamily="49" charset="0"/>
            </a:endParaRPr>
          </a:p>
          <a:p>
            <a:r>
              <a:rPr lang="de-DE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	</a:t>
            </a:r>
            <a:r>
              <a:rPr lang="de-DE" sz="2400" dirty="0" smtClean="0">
                <a:solidFill>
                  <a:srgbClr val="000000"/>
                </a:solidFill>
                <a:latin typeface="Cascadia Mono" panose="020B0609020000020004" pitchFamily="49" charset="0"/>
              </a:rPr>
              <a:t>						c1.Re </a:t>
            </a:r>
            <a:r>
              <a:rPr lang="de-DE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* c2.Im + c1.Im * c2.Re);</a:t>
            </a:r>
          </a:p>
          <a:p>
            <a:endParaRPr lang="ru-RU" sz="2400" dirty="0">
              <a:solidFill>
                <a:srgbClr val="000000"/>
              </a:solidFill>
              <a:latin typeface="Cascadia Mono" panose="020B0609020000020004" pitchFamily="49" charset="0"/>
            </a:endParaRPr>
          </a:p>
          <a:p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        </a:t>
            </a:r>
            <a:r>
              <a:rPr lang="en-US" sz="2400" dirty="0">
                <a:solidFill>
                  <a:srgbClr val="0000FF"/>
                </a:solidFill>
                <a:latin typeface="Cascadia Mono" panose="020B0609020000020004" pitchFamily="49" charset="0"/>
              </a:rPr>
              <a:t>public</a:t>
            </a:r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 </a:t>
            </a:r>
            <a:r>
              <a:rPr lang="en-US" sz="2400" dirty="0">
                <a:solidFill>
                  <a:srgbClr val="0000FF"/>
                </a:solidFill>
                <a:latin typeface="Cascadia Mono" panose="020B0609020000020004" pitchFamily="49" charset="0"/>
              </a:rPr>
              <a:t>static</a:t>
            </a:r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 Complex </a:t>
            </a:r>
            <a:r>
              <a:rPr lang="en-US" sz="2400" dirty="0">
                <a:solidFill>
                  <a:srgbClr val="0000FF"/>
                </a:solidFill>
                <a:latin typeface="Cascadia Mono" panose="020B0609020000020004" pitchFamily="49" charset="0"/>
              </a:rPr>
              <a:t>operator</a:t>
            </a:r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 /(Complex c1, Complex c2)</a:t>
            </a:r>
          </a:p>
          <a:p>
            <a:r>
              <a:rPr lang="ru-RU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        {</a:t>
            </a:r>
          </a:p>
          <a:p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            </a:t>
            </a:r>
            <a:r>
              <a:rPr lang="en-US" sz="2400" dirty="0" err="1">
                <a:solidFill>
                  <a:srgbClr val="0000FF"/>
                </a:solidFill>
                <a:latin typeface="Cascadia Mono" panose="020B0609020000020004" pitchFamily="49" charset="0"/>
              </a:rPr>
              <a:t>var</a:t>
            </a:r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 conjugate = c2.GetConjugate();</a:t>
            </a:r>
          </a:p>
          <a:p>
            <a:endParaRPr lang="ru-RU" sz="2400" dirty="0">
              <a:solidFill>
                <a:srgbClr val="000000"/>
              </a:solidFill>
              <a:latin typeface="Cascadia Mono" panose="020B0609020000020004" pitchFamily="49" charset="0"/>
            </a:endParaRPr>
          </a:p>
          <a:p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            </a:t>
            </a:r>
            <a:r>
              <a:rPr lang="en-US" sz="2400" dirty="0" err="1">
                <a:solidFill>
                  <a:srgbClr val="0000FF"/>
                </a:solidFill>
                <a:latin typeface="Cascadia Mono" panose="020B0609020000020004" pitchFamily="49" charset="0"/>
              </a:rPr>
              <a:t>var</a:t>
            </a:r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 c1New = c1 * conjugate;</a:t>
            </a:r>
          </a:p>
          <a:p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            </a:t>
            </a:r>
            <a:r>
              <a:rPr lang="en-US" sz="2400" dirty="0" err="1">
                <a:solidFill>
                  <a:srgbClr val="0000FF"/>
                </a:solidFill>
                <a:latin typeface="Cascadia Mono" panose="020B0609020000020004" pitchFamily="49" charset="0"/>
              </a:rPr>
              <a:t>var</a:t>
            </a:r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 c2New = c2 * conjugate;</a:t>
            </a:r>
          </a:p>
          <a:p>
            <a:endParaRPr lang="ru-RU" sz="2400" dirty="0">
              <a:solidFill>
                <a:srgbClr val="000000"/>
              </a:solidFill>
              <a:latin typeface="Cascadia Mono" panose="020B0609020000020004" pitchFamily="49" charset="0"/>
            </a:endParaRPr>
          </a:p>
          <a:p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            </a:t>
            </a:r>
            <a:r>
              <a:rPr lang="en-US" sz="2400" dirty="0">
                <a:solidFill>
                  <a:srgbClr val="0000FF"/>
                </a:solidFill>
                <a:latin typeface="Cascadia Mono" panose="020B0609020000020004" pitchFamily="49" charset="0"/>
              </a:rPr>
              <a:t>return</a:t>
            </a:r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 c1New / c2New.Re;</a:t>
            </a:r>
          </a:p>
          <a:p>
            <a:r>
              <a:rPr lang="ru-RU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        }</a:t>
            </a:r>
            <a:endParaRPr lang="ru-RU" sz="2400" dirty="0"/>
          </a:p>
        </p:txBody>
      </p:sp>
    </p:spTree>
    <p:extLst>
      <p:ext uri="{BB962C8B-B14F-4D97-AF65-F5344CB8AC3E}">
        <p14:creationId xmlns:p14="http://schemas.microsoft.com/office/powerpoint/2010/main" val="837268287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Прямоугольник 1"/>
          <p:cNvSpPr/>
          <p:nvPr/>
        </p:nvSpPr>
        <p:spPr>
          <a:xfrm>
            <a:off x="247650" y="0"/>
            <a:ext cx="11944350" cy="6740307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sz="2400" dirty="0">
                <a:solidFill>
                  <a:srgbClr val="00B05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//</a:t>
            </a:r>
            <a:r>
              <a:rPr lang="ru-RU" sz="2400" dirty="0">
                <a:solidFill>
                  <a:srgbClr val="00B05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ru-RU" sz="2400" dirty="0" smtClean="0">
                <a:solidFill>
                  <a:srgbClr val="00B05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Сопряженное комплексное число</a:t>
            </a:r>
            <a:endParaRPr lang="ru-RU" sz="24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2400" dirty="0" smtClean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public</a:t>
            </a:r>
            <a:r>
              <a:rPr lang="en-US" sz="2400" dirty="0" smtClean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Complex </a:t>
            </a:r>
            <a:r>
              <a:rPr lang="en-US" sz="2400" dirty="0" err="1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GetConjugate</a:t>
            </a:r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()</a:t>
            </a:r>
          </a:p>
          <a:p>
            <a:r>
              <a:rPr lang="en-US" sz="2400" dirty="0" smtClean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	=&gt; </a:t>
            </a:r>
            <a:r>
              <a:rPr lang="en-US" sz="24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new</a:t>
            </a:r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(Re, -</a:t>
            </a:r>
            <a:r>
              <a:rPr lang="en-US" sz="2400" dirty="0" err="1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Im</a:t>
            </a:r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);</a:t>
            </a:r>
          </a:p>
          <a:p>
            <a:endParaRPr lang="ru-RU" sz="2400" dirty="0" smtClean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ru-RU" sz="2400" dirty="0">
                <a:solidFill>
                  <a:srgbClr val="008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// Неявное преобразование вещественного числа в комплексное</a:t>
            </a:r>
            <a:endParaRPr lang="ru-RU" sz="2400" dirty="0">
              <a:solidFill>
                <a:srgbClr val="3B3B3B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24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public</a:t>
            </a:r>
            <a:r>
              <a:rPr lang="en-US" sz="2400" dirty="0">
                <a:solidFill>
                  <a:srgbClr val="3B3B3B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24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static</a:t>
            </a:r>
            <a:r>
              <a:rPr lang="en-US" sz="2400" dirty="0">
                <a:solidFill>
                  <a:srgbClr val="3B3B3B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24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implicit</a:t>
            </a:r>
            <a:r>
              <a:rPr lang="en-US" sz="2400" dirty="0">
                <a:solidFill>
                  <a:srgbClr val="3B3B3B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24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operator</a:t>
            </a:r>
            <a:r>
              <a:rPr lang="en-US" sz="2400" dirty="0">
                <a:solidFill>
                  <a:srgbClr val="3B3B3B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2400" dirty="0">
                <a:solidFill>
                  <a:srgbClr val="001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Complex</a:t>
            </a:r>
            <a:r>
              <a:rPr lang="en-US" sz="2400" dirty="0">
                <a:solidFill>
                  <a:srgbClr val="3B3B3B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(</a:t>
            </a:r>
            <a:r>
              <a:rPr lang="en-US" sz="24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double</a:t>
            </a:r>
            <a:r>
              <a:rPr lang="en-US" sz="2400" dirty="0">
                <a:solidFill>
                  <a:srgbClr val="3B3B3B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2400" dirty="0">
                <a:solidFill>
                  <a:srgbClr val="001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d</a:t>
            </a:r>
            <a:r>
              <a:rPr lang="en-US" sz="2400" dirty="0">
                <a:solidFill>
                  <a:srgbClr val="3B3B3B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)</a:t>
            </a:r>
          </a:p>
          <a:p>
            <a:r>
              <a:rPr lang="en-US" sz="2400" dirty="0">
                <a:solidFill>
                  <a:srgbClr val="3B3B3B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    </a:t>
            </a:r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=&gt;</a:t>
            </a:r>
            <a:r>
              <a:rPr lang="en-US" sz="2400" dirty="0">
                <a:solidFill>
                  <a:srgbClr val="3B3B3B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24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new</a:t>
            </a:r>
            <a:r>
              <a:rPr lang="en-US" sz="2400" dirty="0">
                <a:solidFill>
                  <a:srgbClr val="3B3B3B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(</a:t>
            </a:r>
            <a:r>
              <a:rPr lang="en-US" sz="2400" dirty="0">
                <a:solidFill>
                  <a:srgbClr val="001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d</a:t>
            </a:r>
            <a:r>
              <a:rPr lang="en-US" sz="2400" dirty="0">
                <a:solidFill>
                  <a:srgbClr val="3B3B3B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, </a:t>
            </a:r>
            <a:r>
              <a:rPr lang="en-US" sz="2400" dirty="0">
                <a:solidFill>
                  <a:srgbClr val="098658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0</a:t>
            </a:r>
            <a:r>
              <a:rPr lang="en-US" sz="2400" dirty="0">
                <a:solidFill>
                  <a:srgbClr val="3B3B3B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);</a:t>
            </a:r>
          </a:p>
          <a:p>
            <a:r>
              <a:rPr lang="en-US" sz="2400" dirty="0">
                <a:solidFill>
                  <a:srgbClr val="3B3B3B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/>
            </a:r>
            <a:br>
              <a:rPr lang="en-US" sz="2400" dirty="0">
                <a:solidFill>
                  <a:srgbClr val="3B3B3B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</a:br>
            <a:r>
              <a:rPr lang="en-US" sz="2400" dirty="0">
                <a:solidFill>
                  <a:srgbClr val="008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// </a:t>
            </a:r>
            <a:r>
              <a:rPr lang="ru-RU" sz="2400" dirty="0">
                <a:solidFill>
                  <a:srgbClr val="008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Явное преобразование комплексного числа в вещественное с отбрасыванием мнимой части</a:t>
            </a:r>
            <a:endParaRPr lang="ru-RU" sz="2400" dirty="0">
              <a:solidFill>
                <a:srgbClr val="3B3B3B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24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public</a:t>
            </a:r>
            <a:r>
              <a:rPr lang="en-US" sz="2400" dirty="0">
                <a:solidFill>
                  <a:srgbClr val="3B3B3B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24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static</a:t>
            </a:r>
            <a:r>
              <a:rPr lang="en-US" sz="2400" dirty="0">
                <a:solidFill>
                  <a:srgbClr val="3B3B3B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24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explicit</a:t>
            </a:r>
            <a:r>
              <a:rPr lang="en-US" sz="2400" dirty="0">
                <a:solidFill>
                  <a:srgbClr val="3B3B3B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24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operator</a:t>
            </a:r>
            <a:r>
              <a:rPr lang="en-US" sz="2400" dirty="0">
                <a:solidFill>
                  <a:srgbClr val="3B3B3B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24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double</a:t>
            </a:r>
            <a:r>
              <a:rPr lang="en-US" sz="2400" dirty="0">
                <a:solidFill>
                  <a:srgbClr val="3B3B3B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(</a:t>
            </a:r>
            <a:r>
              <a:rPr lang="en-US" sz="2400" dirty="0">
                <a:solidFill>
                  <a:srgbClr val="001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Complex</a:t>
            </a:r>
            <a:r>
              <a:rPr lang="en-US" sz="2400" dirty="0">
                <a:solidFill>
                  <a:srgbClr val="3B3B3B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2400" dirty="0">
                <a:solidFill>
                  <a:srgbClr val="001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c</a:t>
            </a:r>
            <a:r>
              <a:rPr lang="en-US" sz="2400" dirty="0">
                <a:solidFill>
                  <a:srgbClr val="3B3B3B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)</a:t>
            </a:r>
          </a:p>
          <a:p>
            <a:r>
              <a:rPr lang="en-US" sz="2400" dirty="0">
                <a:solidFill>
                  <a:srgbClr val="3B3B3B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    </a:t>
            </a:r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=&gt;</a:t>
            </a:r>
            <a:r>
              <a:rPr lang="en-US" sz="2400" dirty="0">
                <a:solidFill>
                  <a:srgbClr val="3B3B3B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2400" dirty="0" err="1">
                <a:solidFill>
                  <a:srgbClr val="001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c</a:t>
            </a:r>
            <a:r>
              <a:rPr lang="en-US" sz="2400" dirty="0" err="1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.</a:t>
            </a:r>
            <a:r>
              <a:rPr lang="en-US" sz="2400" dirty="0" err="1">
                <a:solidFill>
                  <a:srgbClr val="001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Re</a:t>
            </a:r>
            <a:r>
              <a:rPr lang="en-US" sz="2400" dirty="0" smtClean="0">
                <a:solidFill>
                  <a:srgbClr val="3B3B3B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;</a:t>
            </a:r>
            <a:endParaRPr lang="ru-RU" sz="2400" dirty="0" smtClean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endParaRPr lang="ru-RU" sz="24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fr-FR" sz="2400" dirty="0" smtClean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public</a:t>
            </a:r>
            <a:r>
              <a:rPr lang="fr-FR" sz="2400" dirty="0" smtClean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fr-FR" sz="2400" dirty="0">
                <a:solidFill>
                  <a:srgbClr val="2B91A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Complex</a:t>
            </a:r>
            <a:r>
              <a:rPr lang="fr-FR" sz="24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(</a:t>
            </a:r>
            <a:r>
              <a:rPr lang="fr-FR" sz="24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double</a:t>
            </a:r>
            <a:r>
              <a:rPr lang="fr-FR" sz="24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re = 0, </a:t>
            </a:r>
            <a:r>
              <a:rPr lang="fr-FR" sz="24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double</a:t>
            </a:r>
            <a:r>
              <a:rPr lang="fr-FR" sz="24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im = 0)</a:t>
            </a:r>
          </a:p>
          <a:p>
            <a:r>
              <a:rPr lang="ru-RU" sz="2400" dirty="0" smtClean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{</a:t>
            </a:r>
            <a:endParaRPr lang="ru-RU" sz="24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2400" dirty="0" smtClean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	Re </a:t>
            </a:r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= re;</a:t>
            </a:r>
          </a:p>
          <a:p>
            <a:r>
              <a:rPr lang="en-US" sz="2400" dirty="0" smtClean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	</a:t>
            </a:r>
            <a:r>
              <a:rPr lang="en-US" sz="2400" dirty="0" err="1" smtClean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Im</a:t>
            </a:r>
            <a:r>
              <a:rPr lang="en-US" sz="2400" dirty="0" smtClean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= </a:t>
            </a:r>
            <a:r>
              <a:rPr lang="en-US" sz="2400" dirty="0" err="1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im</a:t>
            </a:r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;</a:t>
            </a:r>
          </a:p>
          <a:p>
            <a:r>
              <a:rPr lang="ru-RU" sz="2400" dirty="0" smtClean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}</a:t>
            </a:r>
            <a:endParaRPr lang="ru-RU" sz="24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863068885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Прямоугольник 2"/>
          <p:cNvSpPr/>
          <p:nvPr/>
        </p:nvSpPr>
        <p:spPr>
          <a:xfrm>
            <a:off x="-1092200" y="0"/>
            <a:ext cx="13284200" cy="7109639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sz="2400" dirty="0" smtClean="0">
                <a:solidFill>
                  <a:srgbClr val="000000"/>
                </a:solidFill>
                <a:latin typeface="Cascadia Mono" panose="020B0609020000020004" pitchFamily="49" charset="0"/>
              </a:rPr>
              <a:t> 		 </a:t>
            </a:r>
            <a:r>
              <a:rPr lang="en-US" sz="2400" dirty="0" smtClean="0">
                <a:solidFill>
                  <a:srgbClr val="0000FF"/>
                </a:solidFill>
                <a:latin typeface="Cascadia Mono" panose="020B0609020000020004" pitchFamily="49" charset="0"/>
              </a:rPr>
              <a:t>public</a:t>
            </a:r>
            <a:r>
              <a:rPr lang="en-US" sz="2400" dirty="0" smtClean="0">
                <a:solidFill>
                  <a:srgbClr val="000000"/>
                </a:solidFill>
                <a:latin typeface="Cascadia Mono" panose="020B0609020000020004" pitchFamily="49" charset="0"/>
              </a:rPr>
              <a:t> </a:t>
            </a:r>
            <a:r>
              <a:rPr lang="en-US" sz="2400" dirty="0" smtClean="0">
                <a:solidFill>
                  <a:srgbClr val="0000FF"/>
                </a:solidFill>
                <a:latin typeface="Cascadia Mono" panose="020B0609020000020004" pitchFamily="49" charset="0"/>
              </a:rPr>
              <a:t>override</a:t>
            </a:r>
            <a:r>
              <a:rPr lang="en-US" sz="2400" dirty="0" smtClean="0">
                <a:solidFill>
                  <a:srgbClr val="000000"/>
                </a:solidFill>
                <a:latin typeface="Cascadia Mono" panose="020B0609020000020004" pitchFamily="49" charset="0"/>
              </a:rPr>
              <a:t> </a:t>
            </a:r>
            <a:r>
              <a:rPr lang="en-US" sz="2400" dirty="0" smtClean="0">
                <a:solidFill>
                  <a:srgbClr val="0000FF"/>
                </a:solidFill>
                <a:latin typeface="Cascadia Mono" panose="020B0609020000020004" pitchFamily="49" charset="0"/>
              </a:rPr>
              <a:t>string</a:t>
            </a:r>
            <a:r>
              <a:rPr lang="en-US" sz="2400" dirty="0" smtClean="0">
                <a:solidFill>
                  <a:srgbClr val="000000"/>
                </a:solidFill>
                <a:latin typeface="Cascadia Mono" panose="020B0609020000020004" pitchFamily="49" charset="0"/>
              </a:rPr>
              <a:t> </a:t>
            </a:r>
            <a:r>
              <a:rPr lang="en-US" sz="2400" dirty="0" err="1" smtClean="0">
                <a:solidFill>
                  <a:srgbClr val="000000"/>
                </a:solidFill>
                <a:latin typeface="Cascadia Mono" panose="020B0609020000020004" pitchFamily="49" charset="0"/>
              </a:rPr>
              <a:t>ToString</a:t>
            </a:r>
            <a:r>
              <a:rPr lang="en-US" sz="2400" dirty="0" smtClean="0">
                <a:solidFill>
                  <a:srgbClr val="000000"/>
                </a:solidFill>
                <a:latin typeface="Cascadia Mono" panose="020B0609020000020004" pitchFamily="49" charset="0"/>
              </a:rPr>
              <a:t>()</a:t>
            </a:r>
            <a:r>
              <a:rPr lang="ru-RU" sz="2400" dirty="0" smtClean="0">
                <a:solidFill>
                  <a:srgbClr val="000000"/>
                </a:solidFill>
                <a:latin typeface="Cascadia Mono" panose="020B0609020000020004" pitchFamily="49" charset="0"/>
              </a:rPr>
              <a:t> </a:t>
            </a:r>
            <a:r>
              <a:rPr lang="ru-RU" sz="2400" dirty="0" smtClean="0">
                <a:solidFill>
                  <a:srgbClr val="00B050"/>
                </a:solidFill>
                <a:latin typeface="Cascadia Mono" panose="020B0609020000020004" pitchFamily="49" charset="0"/>
              </a:rPr>
              <a:t>// Для красивого вывода на экран</a:t>
            </a:r>
            <a:endParaRPr lang="en-US" sz="2400" dirty="0" smtClean="0">
              <a:solidFill>
                <a:srgbClr val="00B050"/>
              </a:solidFill>
              <a:latin typeface="Cascadia Mono" panose="020B0609020000020004" pitchFamily="49" charset="0"/>
            </a:endParaRPr>
          </a:p>
          <a:p>
            <a:r>
              <a:rPr lang="ru-RU" sz="2400" dirty="0" smtClean="0">
                <a:solidFill>
                  <a:srgbClr val="000000"/>
                </a:solidFill>
                <a:latin typeface="Cascadia Mono" panose="020B0609020000020004" pitchFamily="49" charset="0"/>
              </a:rPr>
              <a:t>        {</a:t>
            </a:r>
          </a:p>
          <a:p>
            <a:r>
              <a:rPr lang="en-US" sz="2400" dirty="0" smtClean="0">
                <a:solidFill>
                  <a:srgbClr val="000000"/>
                </a:solidFill>
                <a:latin typeface="Cascadia Mono" panose="020B0609020000020004" pitchFamily="49" charset="0"/>
              </a:rPr>
              <a:t>            </a:t>
            </a:r>
            <a:r>
              <a:rPr lang="en-US" sz="2400" dirty="0">
                <a:solidFill>
                  <a:srgbClr val="0000FF"/>
                </a:solidFill>
                <a:latin typeface="Cascadia Mono" panose="020B0609020000020004" pitchFamily="49" charset="0"/>
              </a:rPr>
              <a:t>if</a:t>
            </a:r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 (Re == 0 &amp;&amp; </a:t>
            </a:r>
            <a:r>
              <a:rPr lang="en-US" sz="2400" dirty="0" err="1">
                <a:solidFill>
                  <a:srgbClr val="000000"/>
                </a:solidFill>
                <a:latin typeface="Cascadia Mono" panose="020B0609020000020004" pitchFamily="49" charset="0"/>
              </a:rPr>
              <a:t>Im</a:t>
            </a:r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 == 0)</a:t>
            </a:r>
          </a:p>
          <a:p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                </a:t>
            </a:r>
            <a:r>
              <a:rPr lang="en-US" sz="2400" dirty="0">
                <a:solidFill>
                  <a:srgbClr val="0000FF"/>
                </a:solidFill>
                <a:latin typeface="Cascadia Mono" panose="020B0609020000020004" pitchFamily="49" charset="0"/>
              </a:rPr>
              <a:t>return</a:t>
            </a:r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 </a:t>
            </a:r>
            <a:r>
              <a:rPr lang="en-US" sz="2400" dirty="0">
                <a:solidFill>
                  <a:srgbClr val="A31515"/>
                </a:solidFill>
                <a:latin typeface="Cascadia Mono" panose="020B0609020000020004" pitchFamily="49" charset="0"/>
              </a:rPr>
              <a:t>"0</a:t>
            </a:r>
            <a:r>
              <a:rPr lang="en-US" sz="2400" dirty="0" smtClean="0">
                <a:solidFill>
                  <a:srgbClr val="A31515"/>
                </a:solidFill>
                <a:latin typeface="Cascadia Mono" panose="020B0609020000020004" pitchFamily="49" charset="0"/>
              </a:rPr>
              <a:t>"</a:t>
            </a:r>
            <a:r>
              <a:rPr lang="en-US" sz="2400" dirty="0" smtClean="0">
                <a:solidFill>
                  <a:srgbClr val="000000"/>
                </a:solidFill>
                <a:latin typeface="Cascadia Mono" panose="020B0609020000020004" pitchFamily="49" charset="0"/>
              </a:rPr>
              <a:t>;</a:t>
            </a:r>
            <a:endParaRPr lang="ru-RU" sz="2400" dirty="0">
              <a:solidFill>
                <a:srgbClr val="000000"/>
              </a:solidFill>
              <a:latin typeface="Cascadia Mono" panose="020B0609020000020004" pitchFamily="49" charset="0"/>
            </a:endParaRPr>
          </a:p>
          <a:p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            </a:t>
            </a:r>
            <a:r>
              <a:rPr lang="en-US" sz="2400" dirty="0" err="1">
                <a:solidFill>
                  <a:srgbClr val="0000FF"/>
                </a:solidFill>
                <a:latin typeface="Cascadia Mono" panose="020B0609020000020004" pitchFamily="49" charset="0"/>
              </a:rPr>
              <a:t>var</a:t>
            </a:r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 </a:t>
            </a:r>
            <a:r>
              <a:rPr lang="en-US" sz="2400" dirty="0" err="1">
                <a:solidFill>
                  <a:srgbClr val="000000"/>
                </a:solidFill>
                <a:latin typeface="Cascadia Mono" panose="020B0609020000020004" pitchFamily="49" charset="0"/>
              </a:rPr>
              <a:t>sb</a:t>
            </a:r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 = </a:t>
            </a:r>
            <a:r>
              <a:rPr lang="en-US" sz="2400" dirty="0">
                <a:solidFill>
                  <a:srgbClr val="0000FF"/>
                </a:solidFill>
                <a:latin typeface="Cascadia Mono" panose="020B0609020000020004" pitchFamily="49" charset="0"/>
              </a:rPr>
              <a:t>new</a:t>
            </a:r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 </a:t>
            </a:r>
            <a:r>
              <a:rPr lang="en-US" sz="2400" dirty="0" err="1">
                <a:solidFill>
                  <a:srgbClr val="000000"/>
                </a:solidFill>
                <a:latin typeface="Cascadia Mono" panose="020B0609020000020004" pitchFamily="49" charset="0"/>
              </a:rPr>
              <a:t>StringBuilder</a:t>
            </a:r>
            <a:r>
              <a:rPr lang="en-US" sz="2400" dirty="0" smtClean="0">
                <a:solidFill>
                  <a:srgbClr val="000000"/>
                </a:solidFill>
                <a:latin typeface="Cascadia Mono" panose="020B0609020000020004" pitchFamily="49" charset="0"/>
              </a:rPr>
              <a:t>();</a:t>
            </a:r>
            <a:endParaRPr lang="ru-RU" sz="2400" dirty="0">
              <a:solidFill>
                <a:srgbClr val="000000"/>
              </a:solidFill>
              <a:latin typeface="Cascadia Mono" panose="020B0609020000020004" pitchFamily="49" charset="0"/>
            </a:endParaRPr>
          </a:p>
          <a:p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            </a:t>
            </a:r>
            <a:r>
              <a:rPr lang="en-US" sz="2400" dirty="0">
                <a:solidFill>
                  <a:srgbClr val="0000FF"/>
                </a:solidFill>
                <a:latin typeface="Cascadia Mono" panose="020B0609020000020004" pitchFamily="49" charset="0"/>
              </a:rPr>
              <a:t>if</a:t>
            </a:r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 (Re != 0</a:t>
            </a:r>
            <a:r>
              <a:rPr lang="en-US" sz="2400" dirty="0" smtClean="0">
                <a:solidFill>
                  <a:srgbClr val="000000"/>
                </a:solidFill>
                <a:latin typeface="Cascadia Mono" panose="020B0609020000020004" pitchFamily="49" charset="0"/>
              </a:rPr>
              <a:t>) </a:t>
            </a:r>
            <a:r>
              <a:rPr lang="en-US" sz="2400" dirty="0" err="1" smtClean="0">
                <a:solidFill>
                  <a:srgbClr val="000000"/>
                </a:solidFill>
                <a:latin typeface="Cascadia Mono" panose="020B0609020000020004" pitchFamily="49" charset="0"/>
              </a:rPr>
              <a:t>sb.Append</a:t>
            </a:r>
            <a:r>
              <a:rPr lang="en-US" sz="2400" dirty="0" smtClean="0">
                <a:solidFill>
                  <a:srgbClr val="000000"/>
                </a:solidFill>
                <a:latin typeface="Cascadia Mono" panose="020B0609020000020004" pitchFamily="49" charset="0"/>
              </a:rPr>
              <a:t>(</a:t>
            </a:r>
            <a:r>
              <a:rPr lang="en-US" sz="2400" dirty="0" err="1" smtClean="0">
                <a:solidFill>
                  <a:srgbClr val="000000"/>
                </a:solidFill>
                <a:latin typeface="Cascadia Mono" panose="020B0609020000020004" pitchFamily="49" charset="0"/>
              </a:rPr>
              <a:t>Re.ToString</a:t>
            </a:r>
            <a:r>
              <a:rPr lang="en-US" sz="2400" dirty="0" smtClean="0">
                <a:solidFill>
                  <a:srgbClr val="000000"/>
                </a:solidFill>
                <a:latin typeface="Cascadia Mono" panose="020B0609020000020004" pitchFamily="49" charset="0"/>
              </a:rPr>
              <a:t>());</a:t>
            </a:r>
            <a:endParaRPr lang="ru-RU" sz="2400" dirty="0">
              <a:solidFill>
                <a:srgbClr val="000000"/>
              </a:solidFill>
              <a:latin typeface="Cascadia Mono" panose="020B0609020000020004" pitchFamily="49" charset="0"/>
            </a:endParaRPr>
          </a:p>
          <a:p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            </a:t>
            </a:r>
            <a:r>
              <a:rPr lang="en-US" sz="2400" dirty="0">
                <a:solidFill>
                  <a:srgbClr val="0000FF"/>
                </a:solidFill>
                <a:latin typeface="Cascadia Mono" panose="020B0609020000020004" pitchFamily="49" charset="0"/>
              </a:rPr>
              <a:t>if</a:t>
            </a:r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 (</a:t>
            </a:r>
            <a:r>
              <a:rPr lang="en-US" sz="2400" dirty="0" err="1">
                <a:solidFill>
                  <a:srgbClr val="000000"/>
                </a:solidFill>
                <a:latin typeface="Cascadia Mono" panose="020B0609020000020004" pitchFamily="49" charset="0"/>
              </a:rPr>
              <a:t>Im</a:t>
            </a:r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 &lt; 0)</a:t>
            </a:r>
          </a:p>
          <a:p>
            <a:r>
              <a:rPr lang="ru-RU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            {</a:t>
            </a:r>
          </a:p>
          <a:p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                </a:t>
            </a:r>
            <a:r>
              <a:rPr lang="en-US" sz="2400" dirty="0">
                <a:solidFill>
                  <a:srgbClr val="0000FF"/>
                </a:solidFill>
                <a:latin typeface="Cascadia Mono" panose="020B0609020000020004" pitchFamily="49" charset="0"/>
              </a:rPr>
              <a:t>if</a:t>
            </a:r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 (</a:t>
            </a:r>
            <a:r>
              <a:rPr lang="en-US" sz="2400" dirty="0" err="1">
                <a:solidFill>
                  <a:srgbClr val="000000"/>
                </a:solidFill>
                <a:latin typeface="Cascadia Mono" panose="020B0609020000020004" pitchFamily="49" charset="0"/>
              </a:rPr>
              <a:t>Im</a:t>
            </a:r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 == -1</a:t>
            </a:r>
            <a:r>
              <a:rPr lang="en-US" sz="2400" dirty="0" smtClean="0">
                <a:solidFill>
                  <a:srgbClr val="000000"/>
                </a:solidFill>
                <a:latin typeface="Cascadia Mono" panose="020B0609020000020004" pitchFamily="49" charset="0"/>
              </a:rPr>
              <a:t>) </a:t>
            </a:r>
            <a:r>
              <a:rPr lang="en-US" sz="2400" dirty="0" err="1" smtClean="0">
                <a:solidFill>
                  <a:srgbClr val="000000"/>
                </a:solidFill>
                <a:latin typeface="Cascadia Mono" panose="020B0609020000020004" pitchFamily="49" charset="0"/>
              </a:rPr>
              <a:t>sb.Append</a:t>
            </a:r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(</a:t>
            </a:r>
            <a:r>
              <a:rPr lang="en-US" sz="2400" dirty="0">
                <a:solidFill>
                  <a:srgbClr val="A31515"/>
                </a:solidFill>
                <a:latin typeface="Cascadia Mono" panose="020B0609020000020004" pitchFamily="49" charset="0"/>
              </a:rPr>
              <a:t>$"-</a:t>
            </a:r>
            <a:r>
              <a:rPr lang="en-US" sz="2400" dirty="0" err="1">
                <a:solidFill>
                  <a:srgbClr val="A31515"/>
                </a:solidFill>
                <a:latin typeface="Cascadia Mono" panose="020B0609020000020004" pitchFamily="49" charset="0"/>
              </a:rPr>
              <a:t>i</a:t>
            </a:r>
            <a:r>
              <a:rPr lang="en-US" sz="2400" dirty="0">
                <a:solidFill>
                  <a:srgbClr val="A31515"/>
                </a:solidFill>
                <a:latin typeface="Cascadia Mono" panose="020B0609020000020004" pitchFamily="49" charset="0"/>
              </a:rPr>
              <a:t>"</a:t>
            </a:r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);</a:t>
            </a:r>
          </a:p>
          <a:p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                </a:t>
            </a:r>
            <a:r>
              <a:rPr lang="en-US" sz="2400" dirty="0" smtClean="0">
                <a:solidFill>
                  <a:srgbClr val="0000FF"/>
                </a:solidFill>
                <a:latin typeface="Cascadia Mono" panose="020B0609020000020004" pitchFamily="49" charset="0"/>
              </a:rPr>
              <a:t>else </a:t>
            </a:r>
            <a:r>
              <a:rPr lang="en-US" sz="2400" dirty="0" err="1" smtClean="0">
                <a:solidFill>
                  <a:srgbClr val="000000"/>
                </a:solidFill>
                <a:latin typeface="Cascadia Mono" panose="020B0609020000020004" pitchFamily="49" charset="0"/>
              </a:rPr>
              <a:t>sb.Append</a:t>
            </a:r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(</a:t>
            </a:r>
            <a:r>
              <a:rPr lang="en-US" sz="2400" dirty="0">
                <a:solidFill>
                  <a:srgbClr val="A31515"/>
                </a:solidFill>
                <a:latin typeface="Cascadia Mono" panose="020B0609020000020004" pitchFamily="49" charset="0"/>
              </a:rPr>
              <a:t>$"</a:t>
            </a:r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{</a:t>
            </a:r>
            <a:r>
              <a:rPr lang="en-US" sz="2400" dirty="0" err="1">
                <a:solidFill>
                  <a:srgbClr val="000000"/>
                </a:solidFill>
                <a:latin typeface="Cascadia Mono" panose="020B0609020000020004" pitchFamily="49" charset="0"/>
              </a:rPr>
              <a:t>Im</a:t>
            </a:r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}</a:t>
            </a:r>
            <a:r>
              <a:rPr lang="en-US" sz="2400" dirty="0" err="1">
                <a:solidFill>
                  <a:srgbClr val="A31515"/>
                </a:solidFill>
                <a:latin typeface="Cascadia Mono" panose="020B0609020000020004" pitchFamily="49" charset="0"/>
              </a:rPr>
              <a:t>i</a:t>
            </a:r>
            <a:r>
              <a:rPr lang="en-US" sz="2400" dirty="0">
                <a:solidFill>
                  <a:srgbClr val="A31515"/>
                </a:solidFill>
                <a:latin typeface="Cascadia Mono" panose="020B0609020000020004" pitchFamily="49" charset="0"/>
              </a:rPr>
              <a:t>"</a:t>
            </a:r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);</a:t>
            </a:r>
          </a:p>
          <a:p>
            <a:r>
              <a:rPr lang="ru-RU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            }</a:t>
            </a:r>
          </a:p>
          <a:p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            </a:t>
            </a:r>
            <a:r>
              <a:rPr lang="en-US" sz="2400" dirty="0">
                <a:solidFill>
                  <a:srgbClr val="0000FF"/>
                </a:solidFill>
                <a:latin typeface="Cascadia Mono" panose="020B0609020000020004" pitchFamily="49" charset="0"/>
              </a:rPr>
              <a:t>else</a:t>
            </a:r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 </a:t>
            </a:r>
            <a:r>
              <a:rPr lang="en-US" sz="2400" dirty="0">
                <a:solidFill>
                  <a:srgbClr val="0000FF"/>
                </a:solidFill>
                <a:latin typeface="Cascadia Mono" panose="020B0609020000020004" pitchFamily="49" charset="0"/>
              </a:rPr>
              <a:t>if</a:t>
            </a:r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 (</a:t>
            </a:r>
            <a:r>
              <a:rPr lang="en-US" sz="2400" dirty="0" err="1">
                <a:solidFill>
                  <a:srgbClr val="000000"/>
                </a:solidFill>
                <a:latin typeface="Cascadia Mono" panose="020B0609020000020004" pitchFamily="49" charset="0"/>
              </a:rPr>
              <a:t>Im</a:t>
            </a:r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 &gt; 0)</a:t>
            </a:r>
          </a:p>
          <a:p>
            <a:r>
              <a:rPr lang="ru-RU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            {</a:t>
            </a:r>
          </a:p>
          <a:p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                </a:t>
            </a:r>
            <a:r>
              <a:rPr lang="en-US" sz="2400" dirty="0">
                <a:solidFill>
                  <a:srgbClr val="0000FF"/>
                </a:solidFill>
                <a:latin typeface="Cascadia Mono" panose="020B0609020000020004" pitchFamily="49" charset="0"/>
              </a:rPr>
              <a:t>if</a:t>
            </a:r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 (Re != 0</a:t>
            </a:r>
            <a:r>
              <a:rPr lang="en-US" sz="2400" dirty="0" smtClean="0">
                <a:solidFill>
                  <a:srgbClr val="000000"/>
                </a:solidFill>
                <a:latin typeface="Cascadia Mono" panose="020B0609020000020004" pitchFamily="49" charset="0"/>
              </a:rPr>
              <a:t>) </a:t>
            </a:r>
            <a:r>
              <a:rPr lang="en-US" sz="2400" dirty="0" err="1" smtClean="0">
                <a:solidFill>
                  <a:srgbClr val="000000"/>
                </a:solidFill>
                <a:latin typeface="Cascadia Mono" panose="020B0609020000020004" pitchFamily="49" charset="0"/>
              </a:rPr>
              <a:t>sb.Append</a:t>
            </a:r>
            <a:r>
              <a:rPr lang="en-US" sz="2400" dirty="0" smtClean="0">
                <a:solidFill>
                  <a:srgbClr val="000000"/>
                </a:solidFill>
                <a:latin typeface="Cascadia Mono" panose="020B0609020000020004" pitchFamily="49" charset="0"/>
              </a:rPr>
              <a:t>(</a:t>
            </a:r>
            <a:r>
              <a:rPr lang="en-US" sz="2400" dirty="0" smtClean="0">
                <a:solidFill>
                  <a:srgbClr val="A31515"/>
                </a:solidFill>
                <a:latin typeface="Cascadia Mono" panose="020B0609020000020004" pitchFamily="49" charset="0"/>
              </a:rPr>
              <a:t>"+"</a:t>
            </a:r>
            <a:r>
              <a:rPr lang="en-US" sz="2400" dirty="0" smtClean="0">
                <a:solidFill>
                  <a:srgbClr val="000000"/>
                </a:solidFill>
                <a:latin typeface="Cascadia Mono" panose="020B0609020000020004" pitchFamily="49" charset="0"/>
              </a:rPr>
              <a:t>);</a:t>
            </a:r>
            <a:endParaRPr lang="ru-RU" sz="2400" dirty="0">
              <a:solidFill>
                <a:srgbClr val="000000"/>
              </a:solidFill>
              <a:latin typeface="Cascadia Mono" panose="020B0609020000020004" pitchFamily="49" charset="0"/>
            </a:endParaRPr>
          </a:p>
          <a:p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                </a:t>
            </a:r>
            <a:r>
              <a:rPr lang="en-US" sz="2400" dirty="0">
                <a:solidFill>
                  <a:srgbClr val="0000FF"/>
                </a:solidFill>
                <a:latin typeface="Cascadia Mono" panose="020B0609020000020004" pitchFamily="49" charset="0"/>
              </a:rPr>
              <a:t>if</a:t>
            </a:r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 (</a:t>
            </a:r>
            <a:r>
              <a:rPr lang="en-US" sz="2400" dirty="0" err="1">
                <a:solidFill>
                  <a:srgbClr val="000000"/>
                </a:solidFill>
                <a:latin typeface="Cascadia Mono" panose="020B0609020000020004" pitchFamily="49" charset="0"/>
              </a:rPr>
              <a:t>Im</a:t>
            </a:r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 == 1</a:t>
            </a:r>
            <a:r>
              <a:rPr lang="en-US" sz="2400" dirty="0" smtClean="0">
                <a:solidFill>
                  <a:srgbClr val="000000"/>
                </a:solidFill>
                <a:latin typeface="Cascadia Mono" panose="020B0609020000020004" pitchFamily="49" charset="0"/>
              </a:rPr>
              <a:t>) </a:t>
            </a:r>
            <a:r>
              <a:rPr lang="en-US" sz="2400" dirty="0" err="1" smtClean="0">
                <a:solidFill>
                  <a:srgbClr val="000000"/>
                </a:solidFill>
                <a:latin typeface="Cascadia Mono" panose="020B0609020000020004" pitchFamily="49" charset="0"/>
              </a:rPr>
              <a:t>sb.Append</a:t>
            </a:r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(</a:t>
            </a:r>
            <a:r>
              <a:rPr lang="en-US" sz="2400" dirty="0">
                <a:solidFill>
                  <a:srgbClr val="A31515"/>
                </a:solidFill>
                <a:latin typeface="Cascadia Mono" panose="020B0609020000020004" pitchFamily="49" charset="0"/>
              </a:rPr>
              <a:t>$"</a:t>
            </a:r>
            <a:r>
              <a:rPr lang="en-US" sz="2400" dirty="0" err="1">
                <a:solidFill>
                  <a:srgbClr val="A31515"/>
                </a:solidFill>
                <a:latin typeface="Cascadia Mono" panose="020B0609020000020004" pitchFamily="49" charset="0"/>
              </a:rPr>
              <a:t>i</a:t>
            </a:r>
            <a:r>
              <a:rPr lang="en-US" sz="2400" dirty="0">
                <a:solidFill>
                  <a:srgbClr val="A31515"/>
                </a:solidFill>
                <a:latin typeface="Cascadia Mono" panose="020B0609020000020004" pitchFamily="49" charset="0"/>
              </a:rPr>
              <a:t>"</a:t>
            </a:r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);</a:t>
            </a:r>
          </a:p>
          <a:p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                </a:t>
            </a:r>
            <a:r>
              <a:rPr lang="en-US" sz="2400" dirty="0" smtClean="0">
                <a:solidFill>
                  <a:srgbClr val="0000FF"/>
                </a:solidFill>
                <a:latin typeface="Cascadia Mono" panose="020B0609020000020004" pitchFamily="49" charset="0"/>
              </a:rPr>
              <a:t>else </a:t>
            </a:r>
            <a:r>
              <a:rPr lang="en-US" sz="2400" dirty="0" err="1" smtClean="0">
                <a:solidFill>
                  <a:srgbClr val="000000"/>
                </a:solidFill>
                <a:latin typeface="Cascadia Mono" panose="020B0609020000020004" pitchFamily="49" charset="0"/>
              </a:rPr>
              <a:t>sb.Append</a:t>
            </a:r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(</a:t>
            </a:r>
            <a:r>
              <a:rPr lang="en-US" sz="2400" dirty="0">
                <a:solidFill>
                  <a:srgbClr val="A31515"/>
                </a:solidFill>
                <a:latin typeface="Cascadia Mono" panose="020B0609020000020004" pitchFamily="49" charset="0"/>
              </a:rPr>
              <a:t>$"</a:t>
            </a:r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{</a:t>
            </a:r>
            <a:r>
              <a:rPr lang="en-US" sz="2400" dirty="0" err="1">
                <a:solidFill>
                  <a:srgbClr val="000000"/>
                </a:solidFill>
                <a:latin typeface="Cascadia Mono" panose="020B0609020000020004" pitchFamily="49" charset="0"/>
              </a:rPr>
              <a:t>Im</a:t>
            </a:r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}</a:t>
            </a:r>
            <a:r>
              <a:rPr lang="en-US" sz="2400" dirty="0" err="1">
                <a:solidFill>
                  <a:srgbClr val="A31515"/>
                </a:solidFill>
                <a:latin typeface="Cascadia Mono" panose="020B0609020000020004" pitchFamily="49" charset="0"/>
              </a:rPr>
              <a:t>i</a:t>
            </a:r>
            <a:r>
              <a:rPr lang="en-US" sz="2400" dirty="0">
                <a:solidFill>
                  <a:srgbClr val="A31515"/>
                </a:solidFill>
                <a:latin typeface="Cascadia Mono" panose="020B0609020000020004" pitchFamily="49" charset="0"/>
              </a:rPr>
              <a:t>"</a:t>
            </a:r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);</a:t>
            </a:r>
          </a:p>
          <a:p>
            <a:r>
              <a:rPr lang="ru-RU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            </a:t>
            </a:r>
            <a:r>
              <a:rPr lang="ru-RU" sz="2400" dirty="0" smtClean="0">
                <a:solidFill>
                  <a:srgbClr val="000000"/>
                </a:solidFill>
                <a:latin typeface="Cascadia Mono" panose="020B0609020000020004" pitchFamily="49" charset="0"/>
              </a:rPr>
              <a:t>}</a:t>
            </a:r>
            <a:endParaRPr lang="ru-RU" sz="2400" dirty="0">
              <a:solidFill>
                <a:srgbClr val="000000"/>
              </a:solidFill>
              <a:latin typeface="Cascadia Mono" panose="020B0609020000020004" pitchFamily="49" charset="0"/>
            </a:endParaRPr>
          </a:p>
          <a:p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            </a:t>
            </a:r>
            <a:r>
              <a:rPr lang="en-US" sz="2400" dirty="0">
                <a:solidFill>
                  <a:srgbClr val="0000FF"/>
                </a:solidFill>
                <a:latin typeface="Cascadia Mono" panose="020B0609020000020004" pitchFamily="49" charset="0"/>
              </a:rPr>
              <a:t>return</a:t>
            </a:r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 </a:t>
            </a:r>
            <a:r>
              <a:rPr lang="en-US" sz="2400" dirty="0" err="1">
                <a:solidFill>
                  <a:srgbClr val="000000"/>
                </a:solidFill>
                <a:latin typeface="Cascadia Mono" panose="020B0609020000020004" pitchFamily="49" charset="0"/>
              </a:rPr>
              <a:t>sb.ToString</a:t>
            </a:r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();</a:t>
            </a:r>
          </a:p>
          <a:p>
            <a:r>
              <a:rPr lang="ru-RU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        }</a:t>
            </a:r>
            <a:endParaRPr lang="ru-RU" sz="2400" dirty="0"/>
          </a:p>
        </p:txBody>
      </p:sp>
      <p:sp>
        <p:nvSpPr>
          <p:cNvPr id="6" name="Прямоугольник 5"/>
          <p:cNvSpPr/>
          <p:nvPr/>
        </p:nvSpPr>
        <p:spPr>
          <a:xfrm>
            <a:off x="8902700" y="992961"/>
            <a:ext cx="3289300" cy="2308324"/>
          </a:xfrm>
          <a:prstGeom prst="rect">
            <a:avLst/>
          </a:prstGeom>
          <a:ln w="38100">
            <a:solidFill>
              <a:srgbClr val="FF0000"/>
            </a:solidFill>
          </a:ln>
        </p:spPr>
        <p:txBody>
          <a:bodyPr wrap="square">
            <a:spAutoFit/>
          </a:bodyPr>
          <a:lstStyle/>
          <a:p>
            <a:r>
              <a:rPr lang="en-US" sz="2400" dirty="0" err="1" smtClean="0">
                <a:solidFill>
                  <a:srgbClr val="0000FF"/>
                </a:solidFill>
                <a:latin typeface="Cascadia Mono" panose="020B0609020000020004" pitchFamily="49" charset="0"/>
              </a:rPr>
              <a:t>var</a:t>
            </a:r>
            <a:r>
              <a:rPr lang="en-US" sz="2400" dirty="0" smtClean="0">
                <a:solidFill>
                  <a:srgbClr val="000000"/>
                </a:solidFill>
                <a:latin typeface="Cascadia Mono" panose="020B0609020000020004" pitchFamily="49" charset="0"/>
              </a:rPr>
              <a:t> </a:t>
            </a:r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c1 = </a:t>
            </a:r>
            <a:r>
              <a:rPr lang="en-US" sz="2400" dirty="0">
                <a:solidFill>
                  <a:srgbClr val="0000FF"/>
                </a:solidFill>
                <a:latin typeface="Cascadia Mono" panose="020B0609020000020004" pitchFamily="49" charset="0"/>
              </a:rPr>
              <a:t>new</a:t>
            </a:r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 Complex(3, 4);</a:t>
            </a:r>
          </a:p>
          <a:p>
            <a:r>
              <a:rPr lang="en-US" sz="2400" dirty="0" err="1" smtClean="0">
                <a:solidFill>
                  <a:srgbClr val="0000FF"/>
                </a:solidFill>
                <a:latin typeface="Cascadia Mono" panose="020B0609020000020004" pitchFamily="49" charset="0"/>
              </a:rPr>
              <a:t>var</a:t>
            </a:r>
            <a:r>
              <a:rPr lang="en-US" sz="2400" dirty="0" smtClean="0">
                <a:solidFill>
                  <a:srgbClr val="000000"/>
                </a:solidFill>
                <a:latin typeface="Cascadia Mono" panose="020B0609020000020004" pitchFamily="49" charset="0"/>
              </a:rPr>
              <a:t> </a:t>
            </a:r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c2 = </a:t>
            </a:r>
            <a:r>
              <a:rPr lang="en-US" sz="2400" dirty="0">
                <a:solidFill>
                  <a:srgbClr val="0000FF"/>
                </a:solidFill>
                <a:latin typeface="Cascadia Mono" panose="020B0609020000020004" pitchFamily="49" charset="0"/>
              </a:rPr>
              <a:t>new</a:t>
            </a:r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 Complex(2, 1);</a:t>
            </a:r>
          </a:p>
          <a:p>
            <a:endParaRPr lang="ru-RU" sz="2400" dirty="0">
              <a:solidFill>
                <a:srgbClr val="000000"/>
              </a:solidFill>
              <a:latin typeface="Cascadia Mono" panose="020B0609020000020004" pitchFamily="49" charset="0"/>
            </a:endParaRPr>
          </a:p>
          <a:p>
            <a:r>
              <a:rPr lang="en-US" sz="2400" dirty="0" err="1" smtClean="0">
                <a:solidFill>
                  <a:srgbClr val="0000FF"/>
                </a:solidFill>
                <a:latin typeface="Cascadia Mono" panose="020B0609020000020004" pitchFamily="49" charset="0"/>
              </a:rPr>
              <a:t>var</a:t>
            </a:r>
            <a:r>
              <a:rPr lang="en-US" sz="2400" dirty="0" smtClean="0">
                <a:solidFill>
                  <a:srgbClr val="000000"/>
                </a:solidFill>
                <a:latin typeface="Cascadia Mono" panose="020B0609020000020004" pitchFamily="49" charset="0"/>
              </a:rPr>
              <a:t> </a:t>
            </a:r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c3 = c1 </a:t>
            </a:r>
            <a:r>
              <a:rPr lang="en-US" sz="2400" dirty="0" smtClean="0">
                <a:solidFill>
                  <a:srgbClr val="000000"/>
                </a:solidFill>
                <a:latin typeface="Cascadia Mono" panose="020B0609020000020004" pitchFamily="49" charset="0"/>
              </a:rPr>
              <a:t>+ </a:t>
            </a:r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c2;</a:t>
            </a:r>
            <a:endParaRPr lang="ru-RU" sz="2400" dirty="0"/>
          </a:p>
        </p:txBody>
      </p:sp>
      <p:pic>
        <p:nvPicPr>
          <p:cNvPr id="7" name="Рисунок 6"/>
          <p:cNvPicPr>
            <a:picLocks noChangeAspect="1"/>
          </p:cNvPicPr>
          <p:nvPr/>
        </p:nvPicPr>
        <p:blipFill rotWithShape="1">
          <a:blip r:embed="rId3"/>
          <a:srcRect l="18333" t="43611" r="73906" b="53056"/>
          <a:stretch/>
        </p:blipFill>
        <p:spPr>
          <a:xfrm>
            <a:off x="6515099" y="3365500"/>
            <a:ext cx="5676901" cy="13716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03914951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Прямоугольник 2"/>
          <p:cNvSpPr/>
          <p:nvPr/>
        </p:nvSpPr>
        <p:spPr>
          <a:xfrm>
            <a:off x="238125" y="0"/>
            <a:ext cx="11610976" cy="637097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sz="2400" dirty="0" err="1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var</a:t>
            </a:r>
            <a:r>
              <a:rPr lang="en-US" sz="2400" dirty="0">
                <a:solidFill>
                  <a:srgbClr val="3B3B3B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2400" dirty="0">
                <a:solidFill>
                  <a:srgbClr val="001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c1</a:t>
            </a:r>
            <a:r>
              <a:rPr lang="en-US" sz="2400" dirty="0">
                <a:solidFill>
                  <a:srgbClr val="3B3B3B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=</a:t>
            </a:r>
            <a:r>
              <a:rPr lang="en-US" sz="2400" dirty="0">
                <a:solidFill>
                  <a:srgbClr val="3B3B3B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24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new</a:t>
            </a:r>
            <a:r>
              <a:rPr lang="en-US" sz="2400" dirty="0">
                <a:solidFill>
                  <a:srgbClr val="3B3B3B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2400" dirty="0">
                <a:solidFill>
                  <a:srgbClr val="2B91AF"/>
                </a:solidFill>
                <a:latin typeface="Cascadia Mono" panose="020B0609020000020004" pitchFamily="49" charset="0"/>
              </a:rPr>
              <a:t>Complex</a:t>
            </a:r>
            <a:r>
              <a:rPr lang="en-US" sz="2400" dirty="0">
                <a:solidFill>
                  <a:srgbClr val="3B3B3B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(</a:t>
            </a:r>
            <a:r>
              <a:rPr lang="en-US" sz="2400" dirty="0">
                <a:solidFill>
                  <a:srgbClr val="098658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1</a:t>
            </a:r>
            <a:r>
              <a:rPr lang="en-US" sz="2400" dirty="0">
                <a:solidFill>
                  <a:srgbClr val="3B3B3B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, </a:t>
            </a:r>
            <a:r>
              <a:rPr lang="en-US" sz="2400" dirty="0">
                <a:solidFill>
                  <a:srgbClr val="098658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2</a:t>
            </a:r>
            <a:r>
              <a:rPr lang="en-US" sz="2400" dirty="0">
                <a:solidFill>
                  <a:srgbClr val="3B3B3B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);</a:t>
            </a:r>
          </a:p>
          <a:p>
            <a:r>
              <a:rPr lang="en-US" sz="2400" dirty="0" err="1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var</a:t>
            </a:r>
            <a:r>
              <a:rPr lang="en-US" sz="2400" dirty="0">
                <a:solidFill>
                  <a:srgbClr val="3B3B3B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2400" dirty="0">
                <a:solidFill>
                  <a:srgbClr val="001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c2</a:t>
            </a:r>
            <a:r>
              <a:rPr lang="en-US" sz="2400" dirty="0">
                <a:solidFill>
                  <a:srgbClr val="3B3B3B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=</a:t>
            </a:r>
            <a:r>
              <a:rPr lang="en-US" sz="2400" dirty="0">
                <a:solidFill>
                  <a:srgbClr val="3B3B3B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24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new</a:t>
            </a:r>
            <a:r>
              <a:rPr lang="en-US" sz="2400" dirty="0">
                <a:solidFill>
                  <a:srgbClr val="3B3B3B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2400" dirty="0">
                <a:solidFill>
                  <a:srgbClr val="2B91AF"/>
                </a:solidFill>
                <a:latin typeface="Cascadia Mono" panose="020B0609020000020004" pitchFamily="49" charset="0"/>
              </a:rPr>
              <a:t>Complex</a:t>
            </a:r>
            <a:r>
              <a:rPr lang="en-US" sz="2400" dirty="0">
                <a:solidFill>
                  <a:srgbClr val="3B3B3B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(</a:t>
            </a:r>
            <a:r>
              <a:rPr lang="en-US" sz="2400" dirty="0">
                <a:solidFill>
                  <a:srgbClr val="098658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4</a:t>
            </a:r>
            <a:r>
              <a:rPr lang="en-US" sz="2400" dirty="0">
                <a:solidFill>
                  <a:srgbClr val="3B3B3B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, </a:t>
            </a:r>
            <a:r>
              <a:rPr lang="en-US" sz="2400" dirty="0">
                <a:solidFill>
                  <a:srgbClr val="098658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1</a:t>
            </a:r>
            <a:r>
              <a:rPr lang="en-US" sz="2400" dirty="0">
                <a:solidFill>
                  <a:srgbClr val="3B3B3B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);</a:t>
            </a:r>
          </a:p>
          <a:p>
            <a:r>
              <a:rPr lang="en-US" sz="2400" dirty="0">
                <a:solidFill>
                  <a:srgbClr val="3B3B3B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/>
            </a:r>
            <a:br>
              <a:rPr lang="en-US" sz="2400" dirty="0">
                <a:solidFill>
                  <a:srgbClr val="3B3B3B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</a:br>
            <a:r>
              <a:rPr lang="en-US" sz="2400" dirty="0" err="1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var</a:t>
            </a:r>
            <a:r>
              <a:rPr lang="en-US" sz="2400" dirty="0">
                <a:solidFill>
                  <a:srgbClr val="3B3B3B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2400" dirty="0">
                <a:solidFill>
                  <a:srgbClr val="001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sum</a:t>
            </a:r>
            <a:r>
              <a:rPr lang="en-US" sz="2400" dirty="0">
                <a:solidFill>
                  <a:srgbClr val="3B3B3B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=</a:t>
            </a:r>
            <a:r>
              <a:rPr lang="en-US" sz="2400" dirty="0">
                <a:solidFill>
                  <a:srgbClr val="3B3B3B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2400" dirty="0">
                <a:solidFill>
                  <a:srgbClr val="001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c1</a:t>
            </a:r>
            <a:r>
              <a:rPr lang="en-US" sz="2400" dirty="0">
                <a:solidFill>
                  <a:srgbClr val="3B3B3B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+</a:t>
            </a:r>
            <a:r>
              <a:rPr lang="en-US" sz="2400" dirty="0">
                <a:solidFill>
                  <a:srgbClr val="3B3B3B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2400" dirty="0">
                <a:solidFill>
                  <a:srgbClr val="001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c2</a:t>
            </a:r>
            <a:r>
              <a:rPr lang="en-US" sz="2400" dirty="0">
                <a:solidFill>
                  <a:srgbClr val="3B3B3B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; </a:t>
            </a:r>
            <a:r>
              <a:rPr lang="en-US" sz="2400" dirty="0">
                <a:solidFill>
                  <a:srgbClr val="008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// </a:t>
            </a:r>
            <a:r>
              <a:rPr lang="ru-RU" sz="2400" dirty="0">
                <a:solidFill>
                  <a:srgbClr val="008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Сложение комплексных чисел</a:t>
            </a:r>
            <a:endParaRPr lang="ru-RU" sz="2400" dirty="0">
              <a:solidFill>
                <a:srgbClr val="3B3B3B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2400" dirty="0" err="1">
                <a:solidFill>
                  <a:srgbClr val="001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Console</a:t>
            </a:r>
            <a:r>
              <a:rPr lang="en-US" sz="2400" dirty="0" err="1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.</a:t>
            </a:r>
            <a:r>
              <a:rPr lang="en-US" sz="2400" dirty="0" err="1">
                <a:solidFill>
                  <a:srgbClr val="001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WriteLine</a:t>
            </a:r>
            <a:r>
              <a:rPr lang="en-US" sz="2400" dirty="0">
                <a:solidFill>
                  <a:srgbClr val="3B3B3B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(</a:t>
            </a:r>
            <a:r>
              <a:rPr lang="en-US" sz="2400" dirty="0">
                <a:solidFill>
                  <a:srgbClr val="A31515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$"</a:t>
            </a:r>
            <a:r>
              <a:rPr lang="ru-RU" sz="2400" dirty="0">
                <a:solidFill>
                  <a:srgbClr val="A31515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Сумма {</a:t>
            </a:r>
            <a:r>
              <a:rPr lang="en-US" sz="2400" dirty="0">
                <a:solidFill>
                  <a:srgbClr val="001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c1</a:t>
            </a:r>
            <a:r>
              <a:rPr lang="en-US" sz="2400" dirty="0">
                <a:solidFill>
                  <a:srgbClr val="A31515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}+{</a:t>
            </a:r>
            <a:r>
              <a:rPr lang="en-US" sz="2400" dirty="0">
                <a:solidFill>
                  <a:srgbClr val="001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c2</a:t>
            </a:r>
            <a:r>
              <a:rPr lang="en-US" sz="2400" dirty="0">
                <a:solidFill>
                  <a:srgbClr val="A31515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}={</a:t>
            </a:r>
            <a:r>
              <a:rPr lang="en-US" sz="2400" dirty="0">
                <a:solidFill>
                  <a:srgbClr val="001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sum</a:t>
            </a:r>
            <a:r>
              <a:rPr lang="en-US" sz="2400" dirty="0">
                <a:solidFill>
                  <a:srgbClr val="A31515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}"</a:t>
            </a:r>
            <a:r>
              <a:rPr lang="en-US" sz="2400" dirty="0">
                <a:solidFill>
                  <a:srgbClr val="3B3B3B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);</a:t>
            </a:r>
          </a:p>
          <a:p>
            <a:r>
              <a:rPr lang="en-US" sz="2400" dirty="0" err="1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var</a:t>
            </a:r>
            <a:r>
              <a:rPr lang="en-US" sz="2400" dirty="0">
                <a:solidFill>
                  <a:srgbClr val="3B3B3B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2400" dirty="0">
                <a:solidFill>
                  <a:srgbClr val="001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prod</a:t>
            </a:r>
            <a:r>
              <a:rPr lang="en-US" sz="2400" dirty="0">
                <a:solidFill>
                  <a:srgbClr val="3B3B3B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=</a:t>
            </a:r>
            <a:r>
              <a:rPr lang="en-US" sz="2400" dirty="0">
                <a:solidFill>
                  <a:srgbClr val="3B3B3B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2400" dirty="0">
                <a:solidFill>
                  <a:srgbClr val="001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c1</a:t>
            </a:r>
            <a:r>
              <a:rPr lang="en-US" sz="2400" dirty="0">
                <a:solidFill>
                  <a:srgbClr val="3B3B3B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*</a:t>
            </a:r>
            <a:r>
              <a:rPr lang="en-US" sz="2400" dirty="0">
                <a:solidFill>
                  <a:srgbClr val="3B3B3B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2400" dirty="0">
                <a:solidFill>
                  <a:srgbClr val="001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c2</a:t>
            </a:r>
            <a:r>
              <a:rPr lang="en-US" sz="2400" dirty="0" smtClean="0">
                <a:solidFill>
                  <a:srgbClr val="3B3B3B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;</a:t>
            </a:r>
            <a:r>
              <a:rPr lang="ru-RU" sz="2400" dirty="0" smtClean="0">
                <a:solidFill>
                  <a:srgbClr val="3B3B3B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2400" dirty="0" smtClean="0">
                <a:solidFill>
                  <a:srgbClr val="008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// </a:t>
            </a:r>
            <a:r>
              <a:rPr lang="ru-RU" sz="2400" dirty="0">
                <a:solidFill>
                  <a:srgbClr val="008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Произведение комплексных чисел</a:t>
            </a:r>
            <a:endParaRPr lang="ru-RU" sz="2400" dirty="0">
              <a:solidFill>
                <a:srgbClr val="3B3B3B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2400" dirty="0" err="1">
                <a:solidFill>
                  <a:srgbClr val="001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Console</a:t>
            </a:r>
            <a:r>
              <a:rPr lang="en-US" sz="2400" dirty="0" err="1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.</a:t>
            </a:r>
            <a:r>
              <a:rPr lang="en-US" sz="2400" dirty="0" err="1">
                <a:solidFill>
                  <a:srgbClr val="001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WriteLine</a:t>
            </a:r>
            <a:r>
              <a:rPr lang="en-US" sz="2400" dirty="0">
                <a:solidFill>
                  <a:srgbClr val="3B3B3B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(</a:t>
            </a:r>
            <a:r>
              <a:rPr lang="en-US" sz="2400" dirty="0">
                <a:solidFill>
                  <a:srgbClr val="A31515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$"</a:t>
            </a:r>
            <a:r>
              <a:rPr lang="ru-RU" sz="2400" dirty="0">
                <a:solidFill>
                  <a:srgbClr val="A31515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Произведение ({</a:t>
            </a:r>
            <a:r>
              <a:rPr lang="en-US" sz="2400" dirty="0">
                <a:solidFill>
                  <a:srgbClr val="001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c1</a:t>
            </a:r>
            <a:r>
              <a:rPr lang="en-US" sz="2400" dirty="0">
                <a:solidFill>
                  <a:srgbClr val="A31515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})*({</a:t>
            </a:r>
            <a:r>
              <a:rPr lang="en-US" sz="2400" dirty="0">
                <a:solidFill>
                  <a:srgbClr val="001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c2</a:t>
            </a:r>
            <a:r>
              <a:rPr lang="en-US" sz="2400" dirty="0">
                <a:solidFill>
                  <a:srgbClr val="A31515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})={</a:t>
            </a:r>
            <a:r>
              <a:rPr lang="en-US" sz="2400" dirty="0">
                <a:solidFill>
                  <a:srgbClr val="001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prod</a:t>
            </a:r>
            <a:r>
              <a:rPr lang="en-US" sz="2400" dirty="0">
                <a:solidFill>
                  <a:srgbClr val="A31515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}"</a:t>
            </a:r>
            <a:r>
              <a:rPr lang="en-US" sz="2400" dirty="0">
                <a:solidFill>
                  <a:srgbClr val="3B3B3B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);</a:t>
            </a:r>
          </a:p>
          <a:p>
            <a:r>
              <a:rPr lang="en-US" sz="2400" dirty="0">
                <a:solidFill>
                  <a:srgbClr val="3B3B3B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/>
            </a:r>
            <a:br>
              <a:rPr lang="en-US" sz="2400" dirty="0">
                <a:solidFill>
                  <a:srgbClr val="3B3B3B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</a:br>
            <a:r>
              <a:rPr lang="en-US" sz="2400" dirty="0" err="1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var</a:t>
            </a:r>
            <a:r>
              <a:rPr lang="en-US" sz="2400" dirty="0">
                <a:solidFill>
                  <a:srgbClr val="3B3B3B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2400" dirty="0" err="1">
                <a:solidFill>
                  <a:srgbClr val="001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num</a:t>
            </a:r>
            <a:r>
              <a:rPr lang="en-US" sz="2400" dirty="0">
                <a:solidFill>
                  <a:srgbClr val="3B3B3B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=</a:t>
            </a:r>
            <a:r>
              <a:rPr lang="en-US" sz="2400" dirty="0">
                <a:solidFill>
                  <a:srgbClr val="3B3B3B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(</a:t>
            </a:r>
            <a:r>
              <a:rPr lang="en-US" sz="24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double</a:t>
            </a:r>
            <a:r>
              <a:rPr lang="en-US" sz="2400" dirty="0">
                <a:solidFill>
                  <a:srgbClr val="3B3B3B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)</a:t>
            </a:r>
            <a:r>
              <a:rPr lang="en-US" sz="2400" dirty="0">
                <a:solidFill>
                  <a:srgbClr val="001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c1</a:t>
            </a:r>
            <a:r>
              <a:rPr lang="en-US" sz="2400" dirty="0" smtClean="0">
                <a:solidFill>
                  <a:srgbClr val="3B3B3B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;</a:t>
            </a:r>
            <a:r>
              <a:rPr lang="ru-RU" sz="2400" dirty="0" smtClean="0">
                <a:solidFill>
                  <a:srgbClr val="3B3B3B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2400" dirty="0" smtClean="0">
                <a:solidFill>
                  <a:srgbClr val="008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// </a:t>
            </a:r>
            <a:r>
              <a:rPr lang="ru-RU" sz="2400" dirty="0">
                <a:solidFill>
                  <a:srgbClr val="008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Явное (</a:t>
            </a:r>
            <a:r>
              <a:rPr lang="en-US" sz="2400" dirty="0">
                <a:solidFill>
                  <a:srgbClr val="008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explicit) </a:t>
            </a:r>
            <a:r>
              <a:rPr lang="ru-RU" sz="2400" dirty="0">
                <a:solidFill>
                  <a:srgbClr val="008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преобразование в вещественное число</a:t>
            </a:r>
            <a:endParaRPr lang="ru-RU" sz="2400" dirty="0">
              <a:solidFill>
                <a:srgbClr val="3B3B3B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2400" dirty="0" err="1">
                <a:solidFill>
                  <a:srgbClr val="2B91AF"/>
                </a:solidFill>
                <a:latin typeface="Cascadia Mono" panose="020B0609020000020004" pitchFamily="49" charset="0"/>
              </a:rPr>
              <a:t>Console</a:t>
            </a:r>
            <a:r>
              <a:rPr lang="en-US" sz="2400" dirty="0" err="1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.</a:t>
            </a:r>
            <a:r>
              <a:rPr lang="en-US" sz="2400" dirty="0" err="1">
                <a:solidFill>
                  <a:srgbClr val="001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WriteLine</a:t>
            </a:r>
            <a:r>
              <a:rPr lang="en-US" sz="2400" dirty="0">
                <a:solidFill>
                  <a:srgbClr val="3B3B3B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(</a:t>
            </a:r>
            <a:r>
              <a:rPr lang="en-US" sz="2400" dirty="0">
                <a:solidFill>
                  <a:srgbClr val="A31515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$"</a:t>
            </a:r>
            <a:r>
              <a:rPr lang="ru-RU" sz="2400" dirty="0">
                <a:solidFill>
                  <a:srgbClr val="A31515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Явное (</a:t>
            </a:r>
            <a:r>
              <a:rPr lang="en-US" sz="2400" dirty="0">
                <a:solidFill>
                  <a:srgbClr val="A31515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explicit) </a:t>
            </a:r>
            <a:r>
              <a:rPr lang="ru-RU" sz="2400" dirty="0">
                <a:solidFill>
                  <a:srgbClr val="A31515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преобразование {</a:t>
            </a:r>
            <a:r>
              <a:rPr lang="en-US" sz="2400" dirty="0">
                <a:solidFill>
                  <a:srgbClr val="001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c1</a:t>
            </a:r>
            <a:r>
              <a:rPr lang="en-US" sz="2400" dirty="0">
                <a:solidFill>
                  <a:srgbClr val="A31515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} </a:t>
            </a:r>
            <a:r>
              <a:rPr lang="ru-RU" sz="2400" dirty="0">
                <a:solidFill>
                  <a:srgbClr val="A31515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в вещественное число {</a:t>
            </a:r>
            <a:r>
              <a:rPr lang="en-US" sz="2400" dirty="0" err="1">
                <a:solidFill>
                  <a:srgbClr val="001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num</a:t>
            </a:r>
            <a:r>
              <a:rPr lang="en-US" sz="2400" dirty="0">
                <a:solidFill>
                  <a:srgbClr val="A31515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}"</a:t>
            </a:r>
            <a:r>
              <a:rPr lang="en-US" sz="2400" dirty="0">
                <a:solidFill>
                  <a:srgbClr val="3B3B3B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);</a:t>
            </a:r>
          </a:p>
          <a:p>
            <a:r>
              <a:rPr lang="en-US" sz="2400" dirty="0">
                <a:solidFill>
                  <a:srgbClr val="3B3B3B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/>
            </a:r>
            <a:br>
              <a:rPr lang="en-US" sz="2400" dirty="0">
                <a:solidFill>
                  <a:srgbClr val="3B3B3B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</a:br>
            <a:r>
              <a:rPr lang="en-US" sz="2400" dirty="0">
                <a:solidFill>
                  <a:srgbClr val="2B91AF"/>
                </a:solidFill>
                <a:latin typeface="Cascadia Mono" panose="020B0609020000020004" pitchFamily="49" charset="0"/>
              </a:rPr>
              <a:t>Complex</a:t>
            </a:r>
            <a:r>
              <a:rPr lang="en-US" sz="2400" dirty="0">
                <a:solidFill>
                  <a:srgbClr val="3B3B3B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2400" dirty="0">
                <a:solidFill>
                  <a:srgbClr val="001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c3</a:t>
            </a:r>
            <a:r>
              <a:rPr lang="en-US" sz="2400" dirty="0">
                <a:solidFill>
                  <a:srgbClr val="3B3B3B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=</a:t>
            </a:r>
            <a:r>
              <a:rPr lang="en-US" sz="2400" dirty="0">
                <a:solidFill>
                  <a:srgbClr val="3B3B3B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2400" dirty="0" err="1">
                <a:solidFill>
                  <a:srgbClr val="001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num</a:t>
            </a:r>
            <a:r>
              <a:rPr lang="en-US" sz="2400" dirty="0" smtClean="0">
                <a:solidFill>
                  <a:srgbClr val="3B3B3B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;</a:t>
            </a:r>
            <a:r>
              <a:rPr lang="ru-RU" sz="2400" dirty="0" smtClean="0">
                <a:solidFill>
                  <a:srgbClr val="3B3B3B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2400" dirty="0" smtClean="0">
                <a:solidFill>
                  <a:srgbClr val="008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// </a:t>
            </a:r>
            <a:r>
              <a:rPr lang="ru-RU" sz="2400" dirty="0">
                <a:solidFill>
                  <a:srgbClr val="008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Неявное (</a:t>
            </a:r>
            <a:r>
              <a:rPr lang="en-US" sz="2400" dirty="0">
                <a:solidFill>
                  <a:srgbClr val="008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implicit) </a:t>
            </a:r>
            <a:r>
              <a:rPr lang="ru-RU" sz="2400" dirty="0">
                <a:solidFill>
                  <a:srgbClr val="008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преобразование в комплексное число</a:t>
            </a:r>
            <a:endParaRPr lang="ru-RU" sz="2400" dirty="0">
              <a:solidFill>
                <a:srgbClr val="3B3B3B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2400" dirty="0" err="1">
                <a:solidFill>
                  <a:srgbClr val="2B91AF"/>
                </a:solidFill>
                <a:latin typeface="Cascadia Mono" panose="020B0609020000020004" pitchFamily="49" charset="0"/>
              </a:rPr>
              <a:t>Console</a:t>
            </a:r>
            <a:r>
              <a:rPr lang="en-US" sz="2400" dirty="0" err="1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.</a:t>
            </a:r>
            <a:r>
              <a:rPr lang="en-US" sz="2400" dirty="0" err="1">
                <a:solidFill>
                  <a:srgbClr val="001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WriteLine</a:t>
            </a:r>
            <a:r>
              <a:rPr lang="en-US" sz="2400" dirty="0">
                <a:solidFill>
                  <a:srgbClr val="3B3B3B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(</a:t>
            </a:r>
            <a:r>
              <a:rPr lang="en-US" sz="2400" dirty="0">
                <a:solidFill>
                  <a:srgbClr val="A31515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$"</a:t>
            </a:r>
            <a:r>
              <a:rPr lang="ru-RU" sz="2400" dirty="0">
                <a:solidFill>
                  <a:srgbClr val="A31515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Неявное (</a:t>
            </a:r>
            <a:r>
              <a:rPr lang="en-US" sz="2400" dirty="0">
                <a:solidFill>
                  <a:srgbClr val="A31515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implicit) </a:t>
            </a:r>
            <a:r>
              <a:rPr lang="ru-RU" sz="2400" dirty="0">
                <a:solidFill>
                  <a:srgbClr val="A31515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преобразование {</a:t>
            </a:r>
            <a:r>
              <a:rPr lang="en-US" sz="2400" dirty="0" err="1">
                <a:solidFill>
                  <a:srgbClr val="001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num</a:t>
            </a:r>
            <a:r>
              <a:rPr lang="en-US" sz="2400" dirty="0">
                <a:solidFill>
                  <a:srgbClr val="A31515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} </a:t>
            </a:r>
            <a:r>
              <a:rPr lang="ru-RU" sz="2400" dirty="0">
                <a:solidFill>
                  <a:srgbClr val="A31515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в комплексное число {</a:t>
            </a:r>
            <a:r>
              <a:rPr lang="en-US" sz="2400" dirty="0">
                <a:solidFill>
                  <a:srgbClr val="001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c3</a:t>
            </a:r>
            <a:r>
              <a:rPr lang="en-US" sz="2400" dirty="0">
                <a:solidFill>
                  <a:srgbClr val="A31515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}"</a:t>
            </a:r>
            <a:r>
              <a:rPr lang="en-US" sz="2400" dirty="0">
                <a:solidFill>
                  <a:srgbClr val="3B3B3B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);</a:t>
            </a:r>
            <a:endParaRPr lang="en-US" sz="2400" b="0" dirty="0">
              <a:solidFill>
                <a:srgbClr val="3B3B3B"/>
              </a:solidFill>
              <a:effectLst/>
              <a:latin typeface="Cascadia Mono" panose="020B0609020000020004" pitchFamily="49" charset="0"/>
              <a:cs typeface="Cascadia Mono" panose="020B06090200000200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646414479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28" descr="Светлый диагональный 2"/>
          <p:cNvSpPr>
            <a:spLocks noChangeArrowheads="1"/>
          </p:cNvSpPr>
          <p:nvPr/>
        </p:nvSpPr>
        <p:spPr bwMode="auto">
          <a:xfrm>
            <a:off x="0" y="-1"/>
            <a:ext cx="12192000" cy="654357"/>
          </a:xfrm>
          <a:prstGeom prst="rect">
            <a:avLst/>
          </a:prstGeom>
          <a:pattFill prst="ltUpDiag">
            <a:fgClr>
              <a:schemeClr val="accent1">
                <a:lumMod val="40000"/>
                <a:lumOff val="60000"/>
              </a:schemeClr>
            </a:fgClr>
            <a:bgClr>
              <a:srgbClr val="FFFFFF"/>
            </a:bgClr>
          </a:pattFill>
          <a:ln w="15875" algn="ctr">
            <a:solidFill>
              <a:schemeClr val="accent5">
                <a:lumMod val="50000"/>
              </a:schemeClr>
            </a:solidFill>
            <a:miter lim="800000"/>
            <a:headEnd/>
            <a:tailEnd/>
          </a:ln>
          <a:effectLst/>
        </p:spPr>
        <p:txBody>
          <a:bodyPr vert="horz" wrap="square" lIns="18000" tIns="18000" rIns="18000" bIns="18000" numCol="1" anchor="ctr" anchorCtr="0" compatLnSpc="1">
            <a:prstTxWarp prst="textNoShape">
              <a:avLst/>
            </a:prstTxWarp>
          </a:bodyPr>
          <a:lstStyle/>
          <a:p>
            <a:pPr algn="ctr"/>
            <a:r>
              <a:rPr lang="ru-RU" sz="2800" b="1" dirty="0" smtClean="0">
                <a:solidFill>
                  <a:schemeClr val="tx2">
                    <a:lumMod val="50000"/>
                  </a:schemeClr>
                </a:solidFill>
                <a:latin typeface="Bookman Old Style" panose="02050604050505020204" pitchFamily="18" charset="0"/>
                <a:cs typeface="Times New Roman" panose="02020603050405020304" pitchFamily="18" charset="0"/>
              </a:rPr>
              <a:t>Методы расширения</a:t>
            </a:r>
            <a:endParaRPr lang="ru-RU" sz="2800" b="1" dirty="0">
              <a:solidFill>
                <a:schemeClr val="tx2">
                  <a:lumMod val="50000"/>
                </a:schemeClr>
              </a:solidFill>
              <a:latin typeface="Bookman Old Style" panose="02050604050505020204" pitchFamily="18" charset="0"/>
              <a:cs typeface="Times New Roman" panose="02020603050405020304" pitchFamily="18" charset="0"/>
            </a:endParaRPr>
          </a:p>
        </p:txBody>
      </p:sp>
      <p:sp>
        <p:nvSpPr>
          <p:cNvPr id="6" name="Прямоугольник 5"/>
          <p:cNvSpPr/>
          <p:nvPr/>
        </p:nvSpPr>
        <p:spPr>
          <a:xfrm>
            <a:off x="271849" y="654356"/>
            <a:ext cx="11664778" cy="563231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just">
              <a:lnSpc>
                <a:spcPct val="150000"/>
              </a:lnSpc>
            </a:pPr>
            <a:r>
              <a:rPr lang="ru-RU" sz="2400" b="1" dirty="0">
                <a:latin typeface="Bookman Old Style" panose="02050604050505020204" pitchFamily="18" charset="0"/>
              </a:rPr>
              <a:t>Методы расширения </a:t>
            </a:r>
            <a:r>
              <a:rPr lang="ru-RU" sz="2400" dirty="0">
                <a:latin typeface="Bookman Old Style" panose="02050604050505020204" pitchFamily="18" charset="0"/>
              </a:rPr>
              <a:t>(</a:t>
            </a:r>
            <a:r>
              <a:rPr lang="ru-RU" sz="2400" dirty="0" err="1">
                <a:latin typeface="Bookman Old Style" panose="02050604050505020204" pitchFamily="18" charset="0"/>
              </a:rPr>
              <a:t>extension</a:t>
            </a:r>
            <a:r>
              <a:rPr lang="ru-RU" sz="2400" dirty="0">
                <a:latin typeface="Bookman Old Style" panose="02050604050505020204" pitchFamily="18" charset="0"/>
              </a:rPr>
              <a:t> </a:t>
            </a:r>
            <a:r>
              <a:rPr lang="ru-RU" sz="2400" dirty="0" err="1">
                <a:latin typeface="Bookman Old Style" panose="02050604050505020204" pitchFamily="18" charset="0"/>
              </a:rPr>
              <a:t>methods</a:t>
            </a:r>
            <a:r>
              <a:rPr lang="ru-RU" sz="2400" dirty="0">
                <a:latin typeface="Bookman Old Style" panose="02050604050505020204" pitchFamily="18" charset="0"/>
              </a:rPr>
              <a:t>) позволяют добавлять новые методы в уже существующие типы без создания нового производного класса. </a:t>
            </a:r>
            <a:endParaRPr lang="ru-RU" sz="2400" dirty="0" smtClean="0">
              <a:latin typeface="Bookman Old Style" panose="02050604050505020204" pitchFamily="18" charset="0"/>
            </a:endParaRPr>
          </a:p>
          <a:p>
            <a:pPr algn="just">
              <a:lnSpc>
                <a:spcPct val="150000"/>
              </a:lnSpc>
            </a:pPr>
            <a:r>
              <a:rPr lang="ru-RU" sz="2400" dirty="0" smtClean="0">
                <a:latin typeface="Bookman Old Style" panose="02050604050505020204" pitchFamily="18" charset="0"/>
              </a:rPr>
              <a:t>Эта </a:t>
            </a:r>
            <a:r>
              <a:rPr lang="ru-RU" sz="2400" dirty="0">
                <a:latin typeface="Bookman Old Style" panose="02050604050505020204" pitchFamily="18" charset="0"/>
              </a:rPr>
              <a:t>функциональность бывает особенно полезна, когда нам хочется добавить в некоторый тип новый метод, но сам тип (класс или структуру) мы изменить не можем, поскольку у нас нет доступа к исходному коду</a:t>
            </a:r>
            <a:r>
              <a:rPr lang="ru-RU" sz="2400" dirty="0" smtClean="0">
                <a:latin typeface="Bookman Old Style" panose="02050604050505020204" pitchFamily="18" charset="0"/>
              </a:rPr>
              <a:t>. </a:t>
            </a:r>
            <a:r>
              <a:rPr lang="ru-RU" sz="2400" b="1" dirty="0" smtClean="0">
                <a:latin typeface="Bookman Old Style" panose="02050604050505020204" pitchFamily="18" charset="0"/>
              </a:rPr>
              <a:t>Например,</a:t>
            </a:r>
            <a:r>
              <a:rPr lang="ru-RU" sz="2400" dirty="0" smtClean="0">
                <a:latin typeface="Bookman Old Style" panose="02050604050505020204" pitchFamily="18" charset="0"/>
              </a:rPr>
              <a:t> если класс принадлежит </a:t>
            </a:r>
            <a:r>
              <a:rPr lang="ru-RU" sz="2400" b="1" dirty="0" smtClean="0">
                <a:latin typeface="Bookman Old Style" panose="02050604050505020204" pitchFamily="18" charset="0"/>
              </a:rPr>
              <a:t>сторонней библиотеке</a:t>
            </a:r>
            <a:r>
              <a:rPr lang="ru-RU" sz="2400" dirty="0" smtClean="0">
                <a:latin typeface="Bookman Old Style" panose="02050604050505020204" pitchFamily="18" charset="0"/>
              </a:rPr>
              <a:t>. Либо </a:t>
            </a:r>
            <a:r>
              <a:rPr lang="ru-RU" sz="2400" dirty="0">
                <a:latin typeface="Bookman Old Style" panose="02050604050505020204" pitchFamily="18" charset="0"/>
              </a:rPr>
              <a:t>если мы не можем использовать стандартный механизм наследования, например, если классы определенны с модификатором </a:t>
            </a:r>
            <a:r>
              <a:rPr lang="ru-RU" sz="2400" b="1" dirty="0" err="1">
                <a:latin typeface="Bookman Old Style" panose="02050604050505020204" pitchFamily="18" charset="0"/>
              </a:rPr>
              <a:t>sealed</a:t>
            </a:r>
            <a:r>
              <a:rPr lang="ru-RU" sz="2400" dirty="0" smtClean="0">
                <a:latin typeface="Bookman Old Style" panose="02050604050505020204" pitchFamily="18" charset="0"/>
              </a:rPr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4196745243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Прямоугольник 5"/>
          <p:cNvSpPr/>
          <p:nvPr/>
        </p:nvSpPr>
        <p:spPr>
          <a:xfrm>
            <a:off x="222422" y="0"/>
            <a:ext cx="11788346" cy="6924973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just">
              <a:lnSpc>
                <a:spcPct val="150000"/>
              </a:lnSpc>
            </a:pPr>
            <a:r>
              <a:rPr lang="ru-RU" sz="2400" dirty="0" smtClean="0">
                <a:latin typeface="Bookman Old Style" panose="02050604050505020204" pitchFamily="18" charset="0"/>
              </a:rPr>
              <a:t>Например</a:t>
            </a:r>
            <a:r>
              <a:rPr lang="ru-RU" sz="2400" dirty="0">
                <a:latin typeface="Bookman Old Style" panose="02050604050505020204" pitchFamily="18" charset="0"/>
              </a:rPr>
              <a:t>, нам надо добавить для типа </a:t>
            </a:r>
            <a:r>
              <a:rPr lang="ru-RU" sz="2400" dirty="0" err="1">
                <a:latin typeface="Bookman Old Style" panose="02050604050505020204" pitchFamily="18" charset="0"/>
              </a:rPr>
              <a:t>string</a:t>
            </a:r>
            <a:r>
              <a:rPr lang="ru-RU" sz="2400" dirty="0">
                <a:latin typeface="Bookman Old Style" panose="02050604050505020204" pitchFamily="18" charset="0"/>
              </a:rPr>
              <a:t> новый метод</a:t>
            </a:r>
            <a:r>
              <a:rPr lang="ru-RU" sz="2400" dirty="0" smtClean="0">
                <a:latin typeface="Bookman Old Style" panose="02050604050505020204" pitchFamily="18" charset="0"/>
              </a:rPr>
              <a:t>:</a:t>
            </a:r>
          </a:p>
          <a:p>
            <a:r>
              <a:rPr lang="en-US" sz="2400" dirty="0">
                <a:solidFill>
                  <a:srgbClr val="0000FF"/>
                </a:solidFill>
                <a:latin typeface="Cascadia Mono" panose="020B0609020000020004" pitchFamily="49" charset="0"/>
              </a:rPr>
              <a:t>string</a:t>
            </a:r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 s = </a:t>
            </a:r>
            <a:r>
              <a:rPr lang="en-US" sz="2400" dirty="0">
                <a:solidFill>
                  <a:srgbClr val="A31515"/>
                </a:solidFill>
                <a:latin typeface="Cascadia Mono" panose="020B0609020000020004" pitchFamily="49" charset="0"/>
              </a:rPr>
              <a:t>"</a:t>
            </a:r>
            <a:r>
              <a:rPr lang="ru-RU" sz="2400" dirty="0">
                <a:solidFill>
                  <a:srgbClr val="A31515"/>
                </a:solidFill>
                <a:latin typeface="Cascadia Mono" panose="020B0609020000020004" pitchFamily="49" charset="0"/>
              </a:rPr>
              <a:t>Привет мир"</a:t>
            </a:r>
            <a:r>
              <a:rPr lang="ru-RU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;</a:t>
            </a:r>
          </a:p>
          <a:p>
            <a:r>
              <a:rPr lang="en-US" sz="2400" dirty="0">
                <a:solidFill>
                  <a:srgbClr val="0000FF"/>
                </a:solidFill>
                <a:latin typeface="Cascadia Mono" panose="020B0609020000020004" pitchFamily="49" charset="0"/>
              </a:rPr>
              <a:t>char</a:t>
            </a:r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 c = </a:t>
            </a:r>
            <a:r>
              <a:rPr lang="en-US" sz="2400" dirty="0">
                <a:solidFill>
                  <a:srgbClr val="A31515"/>
                </a:solidFill>
                <a:latin typeface="Cascadia Mono" panose="020B0609020000020004" pitchFamily="49" charset="0"/>
              </a:rPr>
              <a:t>'</a:t>
            </a:r>
            <a:r>
              <a:rPr lang="ru-RU" sz="2400" dirty="0">
                <a:solidFill>
                  <a:srgbClr val="A31515"/>
                </a:solidFill>
                <a:latin typeface="Cascadia Mono" panose="020B0609020000020004" pitchFamily="49" charset="0"/>
              </a:rPr>
              <a:t>и'</a:t>
            </a:r>
            <a:r>
              <a:rPr lang="ru-RU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;</a:t>
            </a:r>
          </a:p>
          <a:p>
            <a:r>
              <a:rPr lang="en-US" sz="2400" dirty="0" err="1">
                <a:solidFill>
                  <a:srgbClr val="0000FF"/>
                </a:solidFill>
                <a:latin typeface="Cascadia Mono" panose="020B0609020000020004" pitchFamily="49" charset="0"/>
              </a:rPr>
              <a:t>int</a:t>
            </a:r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 </a:t>
            </a:r>
            <a:r>
              <a:rPr lang="en-US" sz="2400" dirty="0" err="1">
                <a:solidFill>
                  <a:srgbClr val="000000"/>
                </a:solidFill>
                <a:latin typeface="Cascadia Mono" panose="020B0609020000020004" pitchFamily="49" charset="0"/>
              </a:rPr>
              <a:t>i</a:t>
            </a:r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 = </a:t>
            </a:r>
            <a:r>
              <a:rPr lang="en-US" sz="2400" dirty="0" err="1">
                <a:solidFill>
                  <a:srgbClr val="000000"/>
                </a:solidFill>
                <a:latin typeface="Cascadia Mono" panose="020B0609020000020004" pitchFamily="49" charset="0"/>
              </a:rPr>
              <a:t>s.CharCount</a:t>
            </a:r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(c);</a:t>
            </a:r>
          </a:p>
          <a:p>
            <a:r>
              <a:rPr lang="en-US" sz="2400" dirty="0" err="1">
                <a:solidFill>
                  <a:srgbClr val="000000"/>
                </a:solidFill>
                <a:latin typeface="Cascadia Mono" panose="020B0609020000020004" pitchFamily="49" charset="0"/>
              </a:rPr>
              <a:t>Console.WriteLine</a:t>
            </a:r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(</a:t>
            </a:r>
            <a:r>
              <a:rPr lang="en-US" sz="2400" dirty="0" err="1">
                <a:solidFill>
                  <a:srgbClr val="000000"/>
                </a:solidFill>
                <a:latin typeface="Cascadia Mono" panose="020B0609020000020004" pitchFamily="49" charset="0"/>
              </a:rPr>
              <a:t>i</a:t>
            </a:r>
            <a:r>
              <a:rPr lang="en-US" sz="2400" dirty="0" smtClean="0">
                <a:solidFill>
                  <a:srgbClr val="000000"/>
                </a:solidFill>
                <a:latin typeface="Cascadia Mono" panose="020B0609020000020004" pitchFamily="49" charset="0"/>
              </a:rPr>
              <a:t>); </a:t>
            </a:r>
            <a:r>
              <a:rPr lang="en-US" sz="2400" dirty="0" smtClean="0">
                <a:solidFill>
                  <a:srgbClr val="00B050"/>
                </a:solidFill>
                <a:latin typeface="Cascadia Mono" panose="020B0609020000020004" pitchFamily="49" charset="0"/>
              </a:rPr>
              <a:t>// 2</a:t>
            </a:r>
            <a:endParaRPr lang="ru-RU" sz="2400" dirty="0">
              <a:solidFill>
                <a:srgbClr val="00B050"/>
              </a:solidFill>
              <a:latin typeface="Cascadia Mono" panose="020B0609020000020004" pitchFamily="49" charset="0"/>
            </a:endParaRPr>
          </a:p>
          <a:p>
            <a:r>
              <a:rPr lang="en-US" sz="2400" dirty="0">
                <a:solidFill>
                  <a:srgbClr val="0000FF"/>
                </a:solidFill>
                <a:latin typeface="Cascadia Mono" panose="020B0609020000020004" pitchFamily="49" charset="0"/>
              </a:rPr>
              <a:t>public</a:t>
            </a:r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 </a:t>
            </a:r>
            <a:r>
              <a:rPr lang="en-US" sz="2400" dirty="0">
                <a:solidFill>
                  <a:srgbClr val="0000FF"/>
                </a:solidFill>
                <a:latin typeface="Cascadia Mono" panose="020B0609020000020004" pitchFamily="49" charset="0"/>
              </a:rPr>
              <a:t>static</a:t>
            </a:r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 </a:t>
            </a:r>
            <a:r>
              <a:rPr lang="en-US" sz="2400" dirty="0">
                <a:solidFill>
                  <a:srgbClr val="0000FF"/>
                </a:solidFill>
                <a:latin typeface="Cascadia Mono" panose="020B0609020000020004" pitchFamily="49" charset="0"/>
              </a:rPr>
              <a:t>class</a:t>
            </a:r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 </a:t>
            </a:r>
            <a:r>
              <a:rPr lang="en-US" sz="2400" dirty="0" err="1">
                <a:solidFill>
                  <a:srgbClr val="2B91AF"/>
                </a:solidFill>
                <a:latin typeface="Cascadia Mono" panose="020B0609020000020004" pitchFamily="49" charset="0"/>
              </a:rPr>
              <a:t>StringExtension</a:t>
            </a:r>
            <a:endParaRPr lang="en-US" sz="2400" dirty="0">
              <a:solidFill>
                <a:srgbClr val="000000"/>
              </a:solidFill>
              <a:latin typeface="Cascadia Mono" panose="020B0609020000020004" pitchFamily="49" charset="0"/>
            </a:endParaRPr>
          </a:p>
          <a:p>
            <a:r>
              <a:rPr lang="ru-RU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{</a:t>
            </a:r>
          </a:p>
          <a:p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    </a:t>
            </a:r>
            <a:r>
              <a:rPr lang="en-US" sz="2400" dirty="0">
                <a:solidFill>
                  <a:srgbClr val="0000FF"/>
                </a:solidFill>
                <a:latin typeface="Cascadia Mono" panose="020B0609020000020004" pitchFamily="49" charset="0"/>
              </a:rPr>
              <a:t>public</a:t>
            </a:r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 </a:t>
            </a:r>
            <a:r>
              <a:rPr lang="en-US" sz="2400" dirty="0">
                <a:solidFill>
                  <a:srgbClr val="0000FF"/>
                </a:solidFill>
                <a:latin typeface="Cascadia Mono" panose="020B0609020000020004" pitchFamily="49" charset="0"/>
              </a:rPr>
              <a:t>static</a:t>
            </a:r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 </a:t>
            </a:r>
            <a:r>
              <a:rPr lang="en-US" sz="2400" dirty="0" err="1">
                <a:solidFill>
                  <a:srgbClr val="0000FF"/>
                </a:solidFill>
                <a:latin typeface="Cascadia Mono" panose="020B0609020000020004" pitchFamily="49" charset="0"/>
              </a:rPr>
              <a:t>int</a:t>
            </a:r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 </a:t>
            </a:r>
            <a:r>
              <a:rPr lang="en-US" sz="2400" dirty="0" err="1">
                <a:solidFill>
                  <a:srgbClr val="000000"/>
                </a:solidFill>
                <a:latin typeface="Cascadia Mono" panose="020B0609020000020004" pitchFamily="49" charset="0"/>
              </a:rPr>
              <a:t>CharCount</a:t>
            </a:r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(</a:t>
            </a:r>
            <a:r>
              <a:rPr lang="en-US" sz="2400" dirty="0">
                <a:solidFill>
                  <a:srgbClr val="0000FF"/>
                </a:solidFill>
                <a:latin typeface="Cascadia Mono" panose="020B0609020000020004" pitchFamily="49" charset="0"/>
              </a:rPr>
              <a:t>this</a:t>
            </a:r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 </a:t>
            </a:r>
            <a:r>
              <a:rPr lang="en-US" sz="2400" dirty="0">
                <a:solidFill>
                  <a:srgbClr val="0000FF"/>
                </a:solidFill>
                <a:latin typeface="Cascadia Mono" panose="020B0609020000020004" pitchFamily="49" charset="0"/>
              </a:rPr>
              <a:t>string</a:t>
            </a:r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 </a:t>
            </a:r>
            <a:r>
              <a:rPr lang="en-US" sz="2400" dirty="0" err="1">
                <a:solidFill>
                  <a:srgbClr val="000000"/>
                </a:solidFill>
                <a:latin typeface="Cascadia Mono" panose="020B0609020000020004" pitchFamily="49" charset="0"/>
              </a:rPr>
              <a:t>str</a:t>
            </a:r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, </a:t>
            </a:r>
            <a:r>
              <a:rPr lang="en-US" sz="2400" dirty="0">
                <a:solidFill>
                  <a:srgbClr val="0000FF"/>
                </a:solidFill>
                <a:latin typeface="Cascadia Mono" panose="020B0609020000020004" pitchFamily="49" charset="0"/>
              </a:rPr>
              <a:t>char</a:t>
            </a:r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 c)</a:t>
            </a:r>
          </a:p>
          <a:p>
            <a:r>
              <a:rPr lang="ru-RU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    {</a:t>
            </a:r>
          </a:p>
          <a:p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        </a:t>
            </a:r>
            <a:r>
              <a:rPr lang="en-US" sz="2400" dirty="0" err="1">
                <a:solidFill>
                  <a:srgbClr val="0000FF"/>
                </a:solidFill>
                <a:latin typeface="Cascadia Mono" panose="020B0609020000020004" pitchFamily="49" charset="0"/>
              </a:rPr>
              <a:t>int</a:t>
            </a:r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 counter = 0;</a:t>
            </a:r>
          </a:p>
          <a:p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        </a:t>
            </a:r>
            <a:r>
              <a:rPr lang="en-US" sz="2400" dirty="0">
                <a:solidFill>
                  <a:srgbClr val="0000FF"/>
                </a:solidFill>
                <a:latin typeface="Cascadia Mono" panose="020B0609020000020004" pitchFamily="49" charset="0"/>
              </a:rPr>
              <a:t>for</a:t>
            </a:r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 (</a:t>
            </a:r>
            <a:r>
              <a:rPr lang="en-US" sz="2400" dirty="0" err="1">
                <a:solidFill>
                  <a:srgbClr val="0000FF"/>
                </a:solidFill>
                <a:latin typeface="Cascadia Mono" panose="020B0609020000020004" pitchFamily="49" charset="0"/>
              </a:rPr>
              <a:t>int</a:t>
            </a:r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 </a:t>
            </a:r>
            <a:r>
              <a:rPr lang="en-US" sz="2400" dirty="0" err="1">
                <a:solidFill>
                  <a:srgbClr val="000000"/>
                </a:solidFill>
                <a:latin typeface="Cascadia Mono" panose="020B0609020000020004" pitchFamily="49" charset="0"/>
              </a:rPr>
              <a:t>i</a:t>
            </a:r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 = 0; </a:t>
            </a:r>
            <a:r>
              <a:rPr lang="en-US" sz="2400" dirty="0" err="1">
                <a:solidFill>
                  <a:srgbClr val="000000"/>
                </a:solidFill>
                <a:latin typeface="Cascadia Mono" panose="020B0609020000020004" pitchFamily="49" charset="0"/>
              </a:rPr>
              <a:t>i</a:t>
            </a:r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 &lt; </a:t>
            </a:r>
            <a:r>
              <a:rPr lang="en-US" sz="2400" dirty="0" err="1">
                <a:solidFill>
                  <a:srgbClr val="000000"/>
                </a:solidFill>
                <a:latin typeface="Cascadia Mono" panose="020B0609020000020004" pitchFamily="49" charset="0"/>
              </a:rPr>
              <a:t>str.Length</a:t>
            </a:r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; </a:t>
            </a:r>
            <a:r>
              <a:rPr lang="en-US" sz="2400" dirty="0" err="1">
                <a:solidFill>
                  <a:srgbClr val="000000"/>
                </a:solidFill>
                <a:latin typeface="Cascadia Mono" panose="020B0609020000020004" pitchFamily="49" charset="0"/>
              </a:rPr>
              <a:t>i</a:t>
            </a:r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++)</a:t>
            </a:r>
          </a:p>
          <a:p>
            <a:r>
              <a:rPr lang="ru-RU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        {</a:t>
            </a:r>
          </a:p>
          <a:p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            </a:t>
            </a:r>
            <a:r>
              <a:rPr lang="en-US" sz="2400" dirty="0">
                <a:solidFill>
                  <a:srgbClr val="0000FF"/>
                </a:solidFill>
                <a:latin typeface="Cascadia Mono" panose="020B0609020000020004" pitchFamily="49" charset="0"/>
              </a:rPr>
              <a:t>if</a:t>
            </a:r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 (</a:t>
            </a:r>
            <a:r>
              <a:rPr lang="en-US" sz="2400" dirty="0" err="1">
                <a:solidFill>
                  <a:srgbClr val="000000"/>
                </a:solidFill>
                <a:latin typeface="Cascadia Mono" panose="020B0609020000020004" pitchFamily="49" charset="0"/>
              </a:rPr>
              <a:t>str</a:t>
            </a:r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[</a:t>
            </a:r>
            <a:r>
              <a:rPr lang="en-US" sz="2400" dirty="0" err="1">
                <a:solidFill>
                  <a:srgbClr val="000000"/>
                </a:solidFill>
                <a:latin typeface="Cascadia Mono" panose="020B0609020000020004" pitchFamily="49" charset="0"/>
              </a:rPr>
              <a:t>i</a:t>
            </a:r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] == c)</a:t>
            </a:r>
          </a:p>
          <a:p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                counter++;</a:t>
            </a:r>
          </a:p>
          <a:p>
            <a:r>
              <a:rPr lang="ru-RU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        }</a:t>
            </a:r>
          </a:p>
          <a:p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        </a:t>
            </a:r>
            <a:r>
              <a:rPr lang="en-US" sz="2400" dirty="0">
                <a:solidFill>
                  <a:srgbClr val="0000FF"/>
                </a:solidFill>
                <a:latin typeface="Cascadia Mono" panose="020B0609020000020004" pitchFamily="49" charset="0"/>
              </a:rPr>
              <a:t>return</a:t>
            </a:r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 counter;</a:t>
            </a:r>
          </a:p>
          <a:p>
            <a:r>
              <a:rPr lang="ru-RU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    }</a:t>
            </a:r>
          </a:p>
          <a:p>
            <a:r>
              <a:rPr lang="ru-RU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}</a:t>
            </a:r>
            <a:endParaRPr lang="ru-RU" sz="2400" dirty="0">
              <a:latin typeface="Bookman Old Style" panose="020506040505050202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698326295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Прямоугольник 5"/>
          <p:cNvSpPr/>
          <p:nvPr/>
        </p:nvSpPr>
        <p:spPr>
          <a:xfrm>
            <a:off x="210065" y="160637"/>
            <a:ext cx="11763633" cy="5078313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just">
              <a:lnSpc>
                <a:spcPct val="150000"/>
              </a:lnSpc>
            </a:pPr>
            <a:r>
              <a:rPr lang="ru-RU" sz="2400" dirty="0">
                <a:latin typeface="Bookman Old Style" panose="02050604050505020204" pitchFamily="18" charset="0"/>
              </a:rPr>
              <a:t>Для того, чтобы создать метод расширения, вначале надо создать статический класс, который и будет содержать этот метод. В данном случае это класс </a:t>
            </a:r>
            <a:r>
              <a:rPr lang="ru-RU" sz="2400" dirty="0" err="1">
                <a:latin typeface="Bookman Old Style" panose="02050604050505020204" pitchFamily="18" charset="0"/>
              </a:rPr>
              <a:t>StringExtension</a:t>
            </a:r>
            <a:r>
              <a:rPr lang="ru-RU" sz="2400" dirty="0">
                <a:latin typeface="Bookman Old Style" panose="02050604050505020204" pitchFamily="18" charset="0"/>
              </a:rPr>
              <a:t>. Затем объявляем статический метод. Суть нашего метода расширения - подсчет количества определенных символов в строке</a:t>
            </a:r>
            <a:r>
              <a:rPr lang="ru-RU" sz="2400" dirty="0" smtClean="0">
                <a:latin typeface="Bookman Old Style" panose="02050604050505020204" pitchFamily="18" charset="0"/>
              </a:rPr>
              <a:t>. Собственно </a:t>
            </a:r>
            <a:r>
              <a:rPr lang="ru-RU" sz="2400" dirty="0">
                <a:latin typeface="Bookman Old Style" panose="02050604050505020204" pitchFamily="18" charset="0"/>
              </a:rPr>
              <a:t>метод расширения - это обычный статический метод, который в качестве первого параметра всегда принимает такую конструкцию: </a:t>
            </a:r>
            <a:r>
              <a:rPr lang="ru-RU" sz="2400" dirty="0" err="1">
                <a:latin typeface="Bookman Old Style" panose="02050604050505020204" pitchFamily="18" charset="0"/>
              </a:rPr>
              <a:t>this</a:t>
            </a:r>
            <a:r>
              <a:rPr lang="ru-RU" sz="2400" dirty="0">
                <a:latin typeface="Bookman Old Style" panose="02050604050505020204" pitchFamily="18" charset="0"/>
              </a:rPr>
              <a:t> </a:t>
            </a:r>
            <a:r>
              <a:rPr lang="ru-RU" sz="2400" dirty="0" err="1">
                <a:latin typeface="Bookman Old Style" panose="02050604050505020204" pitchFamily="18" charset="0"/>
              </a:rPr>
              <a:t>имя_типа</a:t>
            </a:r>
            <a:r>
              <a:rPr lang="ru-RU" sz="2400" dirty="0">
                <a:latin typeface="Bookman Old Style" panose="02050604050505020204" pitchFamily="18" charset="0"/>
              </a:rPr>
              <a:t> </a:t>
            </a:r>
            <a:r>
              <a:rPr lang="ru-RU" sz="2400" dirty="0" err="1">
                <a:latin typeface="Bookman Old Style" panose="02050604050505020204" pitchFamily="18" charset="0"/>
              </a:rPr>
              <a:t>название_параметра</a:t>
            </a:r>
            <a:r>
              <a:rPr lang="ru-RU" sz="2400" dirty="0">
                <a:latin typeface="Bookman Old Style" panose="02050604050505020204" pitchFamily="18" charset="0"/>
              </a:rPr>
              <a:t>, то есть в нашем случае </a:t>
            </a:r>
            <a:r>
              <a:rPr lang="ru-RU" sz="2400" dirty="0" err="1">
                <a:latin typeface="Bookman Old Style" panose="02050604050505020204" pitchFamily="18" charset="0"/>
              </a:rPr>
              <a:t>this</a:t>
            </a:r>
            <a:r>
              <a:rPr lang="ru-RU" sz="2400" dirty="0">
                <a:latin typeface="Bookman Old Style" panose="02050604050505020204" pitchFamily="18" charset="0"/>
              </a:rPr>
              <a:t> </a:t>
            </a:r>
            <a:r>
              <a:rPr lang="ru-RU" sz="2400" dirty="0" err="1">
                <a:latin typeface="Bookman Old Style" panose="02050604050505020204" pitchFamily="18" charset="0"/>
              </a:rPr>
              <a:t>string</a:t>
            </a:r>
            <a:r>
              <a:rPr lang="ru-RU" sz="2400" dirty="0">
                <a:latin typeface="Bookman Old Style" panose="02050604050505020204" pitchFamily="18" charset="0"/>
              </a:rPr>
              <a:t> </a:t>
            </a:r>
            <a:r>
              <a:rPr lang="ru-RU" sz="2400" dirty="0" err="1">
                <a:latin typeface="Bookman Old Style" panose="02050604050505020204" pitchFamily="18" charset="0"/>
              </a:rPr>
              <a:t>str</a:t>
            </a:r>
            <a:r>
              <a:rPr lang="ru-RU" sz="2400" dirty="0">
                <a:latin typeface="Bookman Old Style" panose="02050604050505020204" pitchFamily="18" charset="0"/>
              </a:rPr>
              <a:t>. Так как наш метод будет относиться к типу </a:t>
            </a:r>
            <a:r>
              <a:rPr lang="ru-RU" sz="2400" dirty="0" err="1">
                <a:latin typeface="Bookman Old Style" panose="02050604050505020204" pitchFamily="18" charset="0"/>
              </a:rPr>
              <a:t>string</a:t>
            </a:r>
            <a:r>
              <a:rPr lang="ru-RU" sz="2400" dirty="0">
                <a:latin typeface="Bookman Old Style" panose="02050604050505020204" pitchFamily="18" charset="0"/>
              </a:rPr>
              <a:t>, то мы и используем данный тип.</a:t>
            </a:r>
            <a:endParaRPr lang="ru-RU" sz="2400" dirty="0">
              <a:latin typeface="Bookman Old Style" panose="020506040505050202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903388686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Rectangle 28" descr="Светлый диагональный 2"/>
          <p:cNvSpPr>
            <a:spLocks noChangeArrowheads="1"/>
          </p:cNvSpPr>
          <p:nvPr/>
        </p:nvSpPr>
        <p:spPr bwMode="auto">
          <a:xfrm>
            <a:off x="0" y="-1"/>
            <a:ext cx="12192000" cy="654357"/>
          </a:xfrm>
          <a:prstGeom prst="rect">
            <a:avLst/>
          </a:prstGeom>
          <a:pattFill prst="ltUpDiag">
            <a:fgClr>
              <a:schemeClr val="accent1">
                <a:lumMod val="40000"/>
                <a:lumOff val="60000"/>
              </a:schemeClr>
            </a:fgClr>
            <a:bgClr>
              <a:srgbClr val="FFFFFF"/>
            </a:bgClr>
          </a:pattFill>
          <a:ln w="15875" algn="ctr">
            <a:solidFill>
              <a:schemeClr val="accent5">
                <a:lumMod val="50000"/>
              </a:schemeClr>
            </a:solidFill>
            <a:miter lim="800000"/>
            <a:headEnd/>
            <a:tailEnd/>
          </a:ln>
          <a:effectLst/>
        </p:spPr>
        <p:txBody>
          <a:bodyPr vert="horz" wrap="square" lIns="18000" tIns="18000" rIns="18000" bIns="18000" numCol="1" anchor="ctr" anchorCtr="0" compatLnSpc="1">
            <a:prstTxWarp prst="textNoShape">
              <a:avLst/>
            </a:prstTxWarp>
          </a:bodyPr>
          <a:lstStyle/>
          <a:p>
            <a:pPr algn="ctr"/>
            <a:r>
              <a:rPr lang="ru-RU" sz="2800" b="1" dirty="0" smtClean="0">
                <a:solidFill>
                  <a:schemeClr val="tx2">
                    <a:lumMod val="50000"/>
                  </a:schemeClr>
                </a:solidFill>
                <a:latin typeface="Bookman Old Style" panose="02050604050505020204" pitchFamily="18" charset="0"/>
                <a:cs typeface="Times New Roman" panose="02020603050405020304" pitchFamily="18" charset="0"/>
              </a:rPr>
              <a:t>Библиотек</a:t>
            </a:r>
            <a:r>
              <a:rPr lang="ru-RU" sz="2800" b="1" dirty="0">
                <a:solidFill>
                  <a:schemeClr val="tx2">
                    <a:lumMod val="50000"/>
                  </a:schemeClr>
                </a:solidFill>
                <a:latin typeface="Bookman Old Style" panose="02050604050505020204" pitchFamily="18" charset="0"/>
                <a:cs typeface="Times New Roman" panose="02020603050405020304" pitchFamily="18" charset="0"/>
              </a:rPr>
              <a:t>и</a:t>
            </a:r>
            <a:r>
              <a:rPr lang="ru-RU" sz="2800" b="1" dirty="0" smtClean="0">
                <a:solidFill>
                  <a:schemeClr val="tx2">
                    <a:lumMod val="50000"/>
                  </a:schemeClr>
                </a:solidFill>
                <a:latin typeface="Bookman Old Style" panose="02050604050505020204" pitchFamily="18" charset="0"/>
                <a:cs typeface="Times New Roman" panose="02020603050405020304" pitchFamily="18" charset="0"/>
              </a:rPr>
              <a:t> классов</a:t>
            </a:r>
            <a:endParaRPr lang="ru-RU" sz="2800" b="1" dirty="0">
              <a:solidFill>
                <a:schemeClr val="tx2">
                  <a:lumMod val="50000"/>
                </a:schemeClr>
              </a:solidFill>
              <a:latin typeface="Bookman Old Style" panose="02050604050505020204" pitchFamily="18" charset="0"/>
              <a:cs typeface="Times New Roman" panose="02020603050405020304" pitchFamily="18" charset="0"/>
            </a:endParaRPr>
          </a:p>
        </p:txBody>
      </p:sp>
      <p:sp>
        <p:nvSpPr>
          <p:cNvPr id="7" name="Прямоугольник 6"/>
          <p:cNvSpPr/>
          <p:nvPr/>
        </p:nvSpPr>
        <p:spPr>
          <a:xfrm>
            <a:off x="271848" y="654356"/>
            <a:ext cx="11920151" cy="286232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just">
              <a:lnSpc>
                <a:spcPct val="150000"/>
              </a:lnSpc>
            </a:pPr>
            <a:r>
              <a:rPr lang="ru-RU" sz="2400" dirty="0">
                <a:latin typeface="Bookman Old Style" panose="02050604050505020204" pitchFamily="18" charset="0"/>
              </a:rPr>
              <a:t>Нередко различные классы и структуры оформляются в виде отдельных </a:t>
            </a:r>
            <a:r>
              <a:rPr lang="ru-RU" sz="2400" dirty="0" smtClean="0">
                <a:latin typeface="Bookman Old Style" panose="02050604050505020204" pitchFamily="18" charset="0"/>
              </a:rPr>
              <a:t>библиотек.</a:t>
            </a:r>
            <a:endParaRPr lang="en-US" sz="2400" dirty="0" smtClean="0">
              <a:latin typeface="Bookman Old Style" panose="02050604050505020204" pitchFamily="18" charset="0"/>
            </a:endParaRPr>
          </a:p>
          <a:p>
            <a:pPr algn="just">
              <a:lnSpc>
                <a:spcPct val="150000"/>
              </a:lnSpc>
            </a:pPr>
            <a:r>
              <a:rPr lang="ru-RU" sz="2400" dirty="0" smtClean="0">
                <a:latin typeface="Bookman Old Style" panose="02050604050505020204" pitchFamily="18" charset="0"/>
              </a:rPr>
              <a:t>Благодаря </a:t>
            </a:r>
            <a:r>
              <a:rPr lang="ru-RU" sz="2400" dirty="0">
                <a:latin typeface="Bookman Old Style" panose="02050604050505020204" pitchFamily="18" charset="0"/>
              </a:rPr>
              <a:t>этому мы можем определить </a:t>
            </a:r>
            <a:r>
              <a:rPr lang="ru-RU" sz="2400" dirty="0" smtClean="0">
                <a:latin typeface="Bookman Old Style" panose="02050604050505020204" pitchFamily="18" charset="0"/>
              </a:rPr>
              <a:t>функционал </a:t>
            </a:r>
            <a:r>
              <a:rPr lang="ru-RU" sz="2400" dirty="0">
                <a:latin typeface="Bookman Old Style" panose="02050604050505020204" pitchFamily="18" charset="0"/>
              </a:rPr>
              <a:t>в виде библиотеки классов и подключать в различные проекты или передавать на использование другим разработчикам.</a:t>
            </a:r>
            <a:endParaRPr lang="en-US" sz="2400" b="1" dirty="0" smtClean="0">
              <a:latin typeface="Bookman Old Style" panose="02050604050505020204" pitchFamily="18" charset="0"/>
            </a:endParaRPr>
          </a:p>
        </p:txBody>
      </p:sp>
      <p:pic>
        <p:nvPicPr>
          <p:cNvPr id="2" name="Рисунок 1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72844" y="3323732"/>
            <a:ext cx="5315692" cy="3534268"/>
          </a:xfrm>
          <a:prstGeom prst="rect">
            <a:avLst/>
          </a:prstGeom>
        </p:spPr>
      </p:pic>
      <p:sp>
        <p:nvSpPr>
          <p:cNvPr id="4" name="Прямоугольник 3"/>
          <p:cNvSpPr/>
          <p:nvPr/>
        </p:nvSpPr>
        <p:spPr>
          <a:xfrm>
            <a:off x="268385" y="3516678"/>
            <a:ext cx="6116597" cy="286232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just">
              <a:lnSpc>
                <a:spcPct val="150000"/>
              </a:lnSpc>
            </a:pPr>
            <a:r>
              <a:rPr lang="ru-RU" sz="2400" b="1" dirty="0" smtClean="0">
                <a:latin typeface="Bookman Old Style" panose="02050604050505020204" pitchFamily="18" charset="0"/>
              </a:rPr>
              <a:t>Библиотека классов </a:t>
            </a:r>
            <a:r>
              <a:rPr lang="ru-RU" sz="2400" dirty="0" smtClean="0">
                <a:latin typeface="Bookman Old Style" panose="02050604050505020204" pitchFamily="18" charset="0"/>
              </a:rPr>
              <a:t>– это проект, содержащий набор </a:t>
            </a:r>
            <a:r>
              <a:rPr lang="ru-RU" sz="2400" dirty="0">
                <a:latin typeface="Bookman Old Style" panose="02050604050505020204" pitchFamily="18" charset="0"/>
              </a:rPr>
              <a:t>объектно-ориентированных типов, </a:t>
            </a:r>
            <a:r>
              <a:rPr lang="ru-RU" sz="2400" dirty="0" smtClean="0">
                <a:latin typeface="Bookman Old Style" panose="02050604050505020204" pitchFamily="18" charset="0"/>
              </a:rPr>
              <a:t>предназначенных </a:t>
            </a:r>
            <a:r>
              <a:rPr lang="ru-RU" sz="2400" dirty="0">
                <a:latin typeface="Bookman Old Style" panose="02050604050505020204" pitchFamily="18" charset="0"/>
              </a:rPr>
              <a:t>для создания управляемого кода.</a:t>
            </a:r>
          </a:p>
        </p:txBody>
      </p:sp>
    </p:spTree>
    <p:extLst>
      <p:ext uri="{BB962C8B-B14F-4D97-AF65-F5344CB8AC3E}">
        <p14:creationId xmlns:p14="http://schemas.microsoft.com/office/powerpoint/2010/main" val="2877672556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Прямоугольник 6"/>
          <p:cNvSpPr/>
          <p:nvPr/>
        </p:nvSpPr>
        <p:spPr>
          <a:xfrm>
            <a:off x="268385" y="146356"/>
            <a:ext cx="11920151" cy="341632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just">
              <a:lnSpc>
                <a:spcPct val="150000"/>
              </a:lnSpc>
            </a:pPr>
            <a:r>
              <a:rPr lang="ru-RU" sz="2400" dirty="0" smtClean="0">
                <a:latin typeface="Bookman Old Style" panose="02050604050505020204" pitchFamily="18" charset="0"/>
              </a:rPr>
              <a:t>Создадим библиотеку классов</a:t>
            </a:r>
            <a:r>
              <a:rPr lang="en-US" sz="2400" dirty="0" smtClean="0">
                <a:latin typeface="Bookman Old Style" panose="02050604050505020204" pitchFamily="18" charset="0"/>
              </a:rPr>
              <a:t> </a:t>
            </a:r>
            <a:r>
              <a:rPr lang="ru-RU" sz="2400" dirty="0" smtClean="0">
                <a:latin typeface="Bookman Old Style" panose="02050604050505020204" pitchFamily="18" charset="0"/>
              </a:rPr>
              <a:t>для работы с геометрическими фигурами.</a:t>
            </a:r>
          </a:p>
          <a:p>
            <a:pPr algn="just">
              <a:lnSpc>
                <a:spcPct val="150000"/>
              </a:lnSpc>
            </a:pPr>
            <a:endParaRPr lang="ru-RU" sz="2400" b="1" dirty="0">
              <a:latin typeface="Bookman Old Style" panose="02050604050505020204" pitchFamily="18" charset="0"/>
            </a:endParaRPr>
          </a:p>
          <a:p>
            <a:pPr algn="just">
              <a:lnSpc>
                <a:spcPct val="150000"/>
              </a:lnSpc>
            </a:pPr>
            <a:endParaRPr lang="ru-RU" sz="2400" b="1" dirty="0" smtClean="0">
              <a:latin typeface="Bookman Old Style" panose="02050604050505020204" pitchFamily="18" charset="0"/>
            </a:endParaRPr>
          </a:p>
          <a:p>
            <a:pPr algn="just">
              <a:lnSpc>
                <a:spcPct val="150000"/>
              </a:lnSpc>
            </a:pPr>
            <a:endParaRPr lang="ru-RU" sz="2400" b="1" dirty="0" smtClean="0">
              <a:latin typeface="Bookman Old Style" panose="02050604050505020204" pitchFamily="18" charset="0"/>
            </a:endParaRPr>
          </a:p>
          <a:p>
            <a:pPr algn="just">
              <a:lnSpc>
                <a:spcPct val="150000"/>
              </a:lnSpc>
            </a:pPr>
            <a:endParaRPr lang="ru-RU" sz="2400" b="1" dirty="0">
              <a:latin typeface="Bookman Old Style" panose="02050604050505020204" pitchFamily="18" charset="0"/>
            </a:endParaRPr>
          </a:p>
          <a:p>
            <a:pPr algn="just">
              <a:lnSpc>
                <a:spcPct val="150000"/>
              </a:lnSpc>
            </a:pPr>
            <a:r>
              <a:rPr lang="ru-RU" sz="2400" dirty="0">
                <a:latin typeface="Bookman Old Style" panose="02050604050505020204" pitchFamily="18" charset="0"/>
              </a:rPr>
              <a:t>Необходимо найти тип проекта «Библиотека классов</a:t>
            </a:r>
            <a:r>
              <a:rPr lang="ru-RU" sz="2400" dirty="0" smtClean="0">
                <a:latin typeface="Bookman Old Style" panose="02050604050505020204" pitchFamily="18" charset="0"/>
              </a:rPr>
              <a:t>»</a:t>
            </a:r>
            <a:endParaRPr lang="en-US" sz="2400" dirty="0">
              <a:latin typeface="Bookman Old Style" panose="02050604050505020204" pitchFamily="18" charset="0"/>
            </a:endParaRPr>
          </a:p>
        </p:txBody>
      </p:sp>
      <p:pic>
        <p:nvPicPr>
          <p:cNvPr id="3" name="Рисунок 2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68385" y="1093506"/>
            <a:ext cx="5960120" cy="1388437"/>
          </a:xfrm>
          <a:prstGeom prst="rect">
            <a:avLst/>
          </a:prstGeom>
        </p:spPr>
      </p:pic>
      <p:pic>
        <p:nvPicPr>
          <p:cNvPr id="5" name="Рисунок 4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71849" y="3789477"/>
            <a:ext cx="11920151" cy="228450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31664509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Прямоугольник 6"/>
          <p:cNvSpPr/>
          <p:nvPr/>
        </p:nvSpPr>
        <p:spPr>
          <a:xfrm>
            <a:off x="268385" y="146356"/>
            <a:ext cx="11920151" cy="58304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just">
              <a:lnSpc>
                <a:spcPct val="150000"/>
              </a:lnSpc>
            </a:pPr>
            <a:r>
              <a:rPr lang="ru-RU" sz="2400" dirty="0" smtClean="0">
                <a:latin typeface="Bookman Old Style" panose="02050604050505020204" pitchFamily="18" charset="0"/>
              </a:rPr>
              <a:t>Зададим имя проекта</a:t>
            </a:r>
            <a:endParaRPr lang="en-US" sz="2400" b="1" dirty="0" smtClean="0">
              <a:latin typeface="Bookman Old Style" panose="02050604050505020204" pitchFamily="18" charset="0"/>
            </a:endParaRPr>
          </a:p>
        </p:txBody>
      </p:sp>
      <p:pic>
        <p:nvPicPr>
          <p:cNvPr id="2" name="Рисунок 1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68385" y="940956"/>
            <a:ext cx="11502701" cy="500686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81633794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Прямоугольник 6"/>
          <p:cNvSpPr/>
          <p:nvPr/>
        </p:nvSpPr>
        <p:spPr>
          <a:xfrm>
            <a:off x="268385" y="146356"/>
            <a:ext cx="11920151" cy="1200329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just">
              <a:lnSpc>
                <a:spcPct val="150000"/>
              </a:lnSpc>
            </a:pPr>
            <a:r>
              <a:rPr lang="ru-RU" sz="2400" dirty="0" smtClean="0">
                <a:latin typeface="Bookman Old Style" panose="02050604050505020204" pitchFamily="18" charset="0"/>
              </a:rPr>
              <a:t>Создадим 2 класса </a:t>
            </a:r>
            <a:r>
              <a:rPr lang="en-US" sz="2400" dirty="0" smtClean="0">
                <a:latin typeface="Bookman Old Style" panose="02050604050505020204" pitchFamily="18" charset="0"/>
              </a:rPr>
              <a:t>Circle </a:t>
            </a:r>
            <a:r>
              <a:rPr lang="ru-RU" sz="2400" dirty="0" smtClean="0">
                <a:latin typeface="Bookman Old Style" panose="02050604050505020204" pitchFamily="18" charset="0"/>
              </a:rPr>
              <a:t>и </a:t>
            </a:r>
            <a:r>
              <a:rPr lang="en-US" sz="2400" dirty="0" smtClean="0">
                <a:latin typeface="Bookman Old Style" panose="02050604050505020204" pitchFamily="18" charset="0"/>
              </a:rPr>
              <a:t>Rectangle.</a:t>
            </a:r>
            <a:r>
              <a:rPr lang="ru-RU" sz="2400" dirty="0" smtClean="0">
                <a:latin typeface="Bookman Old Style" panose="02050604050505020204" pitchFamily="18" charset="0"/>
              </a:rPr>
              <a:t> Для этого необходимо нажать ПКМ на </a:t>
            </a:r>
            <a:r>
              <a:rPr lang="en-US" sz="2400" dirty="0" err="1" smtClean="0">
                <a:latin typeface="Bookman Old Style" panose="02050604050505020204" pitchFamily="18" charset="0"/>
              </a:rPr>
              <a:t>GeometryLibrary</a:t>
            </a:r>
            <a:r>
              <a:rPr lang="en-US" sz="2400" dirty="0" smtClean="0">
                <a:latin typeface="Bookman Old Style" panose="02050604050505020204" pitchFamily="18" charset="0"/>
              </a:rPr>
              <a:t> -&gt; </a:t>
            </a:r>
            <a:r>
              <a:rPr lang="ru-RU" sz="2400" dirty="0" smtClean="0">
                <a:latin typeface="Bookman Old Style" panose="02050604050505020204" pitchFamily="18" charset="0"/>
              </a:rPr>
              <a:t>Добавить -</a:t>
            </a:r>
            <a:r>
              <a:rPr lang="en-US" sz="2400" dirty="0" smtClean="0">
                <a:latin typeface="Bookman Old Style" panose="02050604050505020204" pitchFamily="18" charset="0"/>
              </a:rPr>
              <a:t>&gt; </a:t>
            </a:r>
            <a:r>
              <a:rPr lang="ru-RU" sz="2400" dirty="0" smtClean="0">
                <a:latin typeface="Bookman Old Style" panose="02050604050505020204" pitchFamily="18" charset="0"/>
              </a:rPr>
              <a:t>Класс.</a:t>
            </a:r>
            <a:endParaRPr lang="en-US" sz="2400" b="1" dirty="0" smtClean="0">
              <a:latin typeface="Bookman Old Style" panose="02050604050505020204" pitchFamily="18" charset="0"/>
            </a:endParaRPr>
          </a:p>
        </p:txBody>
      </p:sp>
      <p:pic>
        <p:nvPicPr>
          <p:cNvPr id="3" name="Рисунок 2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024367" y="1477314"/>
            <a:ext cx="6408186" cy="257298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79449950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Прямоугольник 6"/>
          <p:cNvSpPr/>
          <p:nvPr/>
        </p:nvSpPr>
        <p:spPr>
          <a:xfrm>
            <a:off x="268385" y="146356"/>
            <a:ext cx="11920151" cy="637097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sz="2400" dirty="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namespace</a:t>
            </a:r>
            <a:r>
              <a:rPr lang="en-US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24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GeometryLibrary</a:t>
            </a:r>
            <a:endParaRPr lang="en-US" sz="2400" dirty="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ru-RU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{</a:t>
            </a:r>
          </a:p>
          <a:p>
            <a:r>
              <a:rPr lang="en-US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2400" dirty="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public</a:t>
            </a:r>
            <a:r>
              <a:rPr lang="en-US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2400" dirty="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class</a:t>
            </a:r>
            <a:r>
              <a:rPr lang="en-US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2400" dirty="0">
                <a:solidFill>
                  <a:srgbClr val="2B91A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Circle</a:t>
            </a:r>
            <a:endParaRPr lang="en-US" sz="2400" dirty="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ru-RU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{</a:t>
            </a:r>
          </a:p>
          <a:p>
            <a:r>
              <a:rPr lang="en-US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 </a:t>
            </a:r>
            <a:r>
              <a:rPr lang="en-US" sz="2400" dirty="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public</a:t>
            </a:r>
            <a:r>
              <a:rPr lang="en-US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2400" dirty="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double</a:t>
            </a:r>
            <a:r>
              <a:rPr lang="en-US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Radius { </a:t>
            </a:r>
            <a:r>
              <a:rPr lang="en-US" sz="2400" dirty="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get</a:t>
            </a:r>
            <a:r>
              <a:rPr lang="en-US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; }</a:t>
            </a:r>
          </a:p>
          <a:p>
            <a:endParaRPr lang="ru-RU" sz="2400" dirty="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 </a:t>
            </a:r>
            <a:r>
              <a:rPr lang="en-US" sz="2400" dirty="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public</a:t>
            </a:r>
            <a:r>
              <a:rPr lang="en-US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2400" dirty="0">
                <a:solidFill>
                  <a:srgbClr val="2B91A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Circle</a:t>
            </a:r>
            <a:r>
              <a:rPr lang="en-US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(</a:t>
            </a:r>
            <a:r>
              <a:rPr lang="en-US" sz="2400" dirty="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double</a:t>
            </a:r>
            <a:r>
              <a:rPr lang="en-US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radius)</a:t>
            </a:r>
          </a:p>
          <a:p>
            <a:r>
              <a:rPr lang="ru-RU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 </a:t>
            </a:r>
            <a:r>
              <a:rPr lang="ru-RU" sz="2400" dirty="0" smtClean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{</a:t>
            </a:r>
          </a:p>
          <a:p>
            <a:r>
              <a:rPr lang="ru-RU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	</a:t>
            </a:r>
            <a:r>
              <a:rPr lang="ru-RU" sz="2400" dirty="0" smtClean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			  </a:t>
            </a:r>
            <a:r>
              <a:rPr lang="en-US" sz="2400" dirty="0" smtClean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Radius </a:t>
            </a:r>
            <a:r>
              <a:rPr lang="en-US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= radius;</a:t>
            </a:r>
          </a:p>
          <a:p>
            <a:r>
              <a:rPr lang="ru-RU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 }</a:t>
            </a:r>
          </a:p>
          <a:p>
            <a:endParaRPr lang="ru-RU" sz="2400" dirty="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 </a:t>
            </a:r>
            <a:r>
              <a:rPr lang="en-US" sz="2400" dirty="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public</a:t>
            </a:r>
            <a:r>
              <a:rPr lang="en-US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2400" dirty="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double</a:t>
            </a:r>
            <a:r>
              <a:rPr lang="en-US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24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GetArea</a:t>
            </a:r>
            <a:r>
              <a:rPr lang="en-US" sz="2400" dirty="0" smtClean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() </a:t>
            </a:r>
            <a:r>
              <a:rPr lang="ru-RU" sz="2400" dirty="0" smtClean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=</a:t>
            </a:r>
            <a:r>
              <a:rPr lang="en-US" sz="2400" dirty="0" smtClean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&gt; </a:t>
            </a:r>
            <a:r>
              <a:rPr lang="en-US" sz="2400" dirty="0" err="1" smtClean="0">
                <a:solidFill>
                  <a:srgbClr val="2B91A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Math</a:t>
            </a:r>
            <a:r>
              <a:rPr lang="en-US" sz="2400" dirty="0" err="1" smtClean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.PI</a:t>
            </a:r>
            <a:r>
              <a:rPr lang="en-US" sz="2400" dirty="0" smtClean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* Radius * Radius;</a:t>
            </a:r>
          </a:p>
          <a:p>
            <a:endParaRPr lang="ru-RU" sz="2400" dirty="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 </a:t>
            </a:r>
            <a:r>
              <a:rPr lang="en-US" sz="2400" dirty="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public</a:t>
            </a:r>
            <a:r>
              <a:rPr lang="en-US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2400" dirty="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double</a:t>
            </a:r>
            <a:r>
              <a:rPr lang="en-US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24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GetCircumference</a:t>
            </a:r>
            <a:r>
              <a:rPr lang="en-US" sz="2400" dirty="0" smtClean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() =&gt; 2 </a:t>
            </a:r>
            <a:r>
              <a:rPr lang="en-US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* </a:t>
            </a:r>
            <a:r>
              <a:rPr lang="en-US" sz="2400" dirty="0" err="1">
                <a:solidFill>
                  <a:srgbClr val="2B91A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Math</a:t>
            </a:r>
            <a:r>
              <a:rPr lang="en-US" sz="24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.PI</a:t>
            </a:r>
            <a:r>
              <a:rPr lang="en-US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* Radius;</a:t>
            </a:r>
          </a:p>
          <a:p>
            <a:r>
              <a:rPr lang="ru-RU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 </a:t>
            </a:r>
          </a:p>
          <a:p>
            <a:r>
              <a:rPr lang="ru-RU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}</a:t>
            </a:r>
          </a:p>
          <a:p>
            <a:r>
              <a:rPr lang="ru-RU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}</a:t>
            </a:r>
            <a:endParaRPr lang="en-US" sz="2400" b="1" dirty="0" smtClean="0">
              <a:latin typeface="Bookman Old Style" panose="020506040505050202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727695459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Прямоугольник 6"/>
          <p:cNvSpPr/>
          <p:nvPr/>
        </p:nvSpPr>
        <p:spPr>
          <a:xfrm>
            <a:off x="268385" y="146356"/>
            <a:ext cx="11920151" cy="6740307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sz="2400" dirty="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namespace</a:t>
            </a:r>
            <a:r>
              <a:rPr lang="en-US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24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GeometryLibrary</a:t>
            </a:r>
            <a:endParaRPr lang="en-US" sz="2400" dirty="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ru-RU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{</a:t>
            </a:r>
          </a:p>
          <a:p>
            <a:r>
              <a:rPr lang="en-US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2400" dirty="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public</a:t>
            </a:r>
            <a:r>
              <a:rPr lang="en-US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2400" dirty="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class</a:t>
            </a:r>
            <a:r>
              <a:rPr lang="en-US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2400" dirty="0">
                <a:solidFill>
                  <a:srgbClr val="2B91A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Rectangle</a:t>
            </a:r>
            <a:endParaRPr lang="en-US" sz="2400" dirty="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ru-RU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{</a:t>
            </a:r>
          </a:p>
          <a:p>
            <a:r>
              <a:rPr lang="en-US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 </a:t>
            </a:r>
            <a:r>
              <a:rPr lang="en-US" sz="2400" dirty="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public</a:t>
            </a:r>
            <a:r>
              <a:rPr lang="en-US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2400" dirty="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double</a:t>
            </a:r>
            <a:r>
              <a:rPr lang="en-US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Width { </a:t>
            </a:r>
            <a:r>
              <a:rPr lang="en-US" sz="2400" dirty="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get</a:t>
            </a:r>
            <a:r>
              <a:rPr lang="en-US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; }</a:t>
            </a:r>
          </a:p>
          <a:p>
            <a:r>
              <a:rPr lang="en-US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 </a:t>
            </a:r>
            <a:r>
              <a:rPr lang="en-US" sz="2400" dirty="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public</a:t>
            </a:r>
            <a:r>
              <a:rPr lang="en-US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2400" dirty="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double</a:t>
            </a:r>
            <a:r>
              <a:rPr lang="en-US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Height { </a:t>
            </a:r>
            <a:r>
              <a:rPr lang="en-US" sz="2400" dirty="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get</a:t>
            </a:r>
            <a:r>
              <a:rPr lang="en-US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; }</a:t>
            </a:r>
          </a:p>
          <a:p>
            <a:endParaRPr lang="ru-RU" sz="2400" dirty="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 </a:t>
            </a:r>
            <a:r>
              <a:rPr lang="en-US" sz="2400" dirty="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public</a:t>
            </a:r>
            <a:r>
              <a:rPr lang="en-US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2400" dirty="0">
                <a:solidFill>
                  <a:srgbClr val="2B91A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Rectangle</a:t>
            </a:r>
            <a:r>
              <a:rPr lang="en-US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(</a:t>
            </a:r>
            <a:r>
              <a:rPr lang="en-US" sz="2400" dirty="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double</a:t>
            </a:r>
            <a:r>
              <a:rPr lang="en-US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width, </a:t>
            </a:r>
            <a:r>
              <a:rPr lang="en-US" sz="2400" dirty="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double</a:t>
            </a:r>
            <a:r>
              <a:rPr lang="en-US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height)</a:t>
            </a:r>
          </a:p>
          <a:p>
            <a:r>
              <a:rPr lang="ru-RU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 </a:t>
            </a:r>
            <a:r>
              <a:rPr lang="ru-RU" sz="2400" dirty="0" smtClean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{</a:t>
            </a:r>
            <a:endParaRPr lang="en-US" sz="2400" dirty="0" smtClean="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	</a:t>
            </a:r>
            <a:r>
              <a:rPr lang="en-US" sz="2400" dirty="0" smtClean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			  Width </a:t>
            </a:r>
            <a:r>
              <a:rPr lang="en-US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= width;</a:t>
            </a:r>
          </a:p>
          <a:p>
            <a:r>
              <a:rPr lang="en-US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     Height = height;</a:t>
            </a:r>
          </a:p>
          <a:p>
            <a:r>
              <a:rPr lang="ru-RU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 }</a:t>
            </a:r>
          </a:p>
          <a:p>
            <a:endParaRPr lang="ru-RU" sz="2400" dirty="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 </a:t>
            </a:r>
            <a:r>
              <a:rPr lang="en-US" sz="2400" dirty="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public</a:t>
            </a:r>
            <a:r>
              <a:rPr lang="en-US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2400" dirty="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double</a:t>
            </a:r>
            <a:r>
              <a:rPr lang="en-US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24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GetArea</a:t>
            </a:r>
            <a:r>
              <a:rPr lang="en-US" sz="2400" dirty="0" smtClean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() =&gt; Width </a:t>
            </a:r>
            <a:r>
              <a:rPr lang="en-US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* Height;</a:t>
            </a:r>
          </a:p>
          <a:p>
            <a:endParaRPr lang="ru-RU" sz="2400" dirty="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 </a:t>
            </a:r>
            <a:r>
              <a:rPr lang="en-US" sz="2400" dirty="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public</a:t>
            </a:r>
            <a:r>
              <a:rPr lang="en-US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2400" dirty="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double</a:t>
            </a:r>
            <a:r>
              <a:rPr lang="en-US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24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GetPerimeter</a:t>
            </a:r>
            <a:r>
              <a:rPr lang="en-US" sz="2400" dirty="0" smtClean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() =&gt; 2 </a:t>
            </a:r>
            <a:r>
              <a:rPr lang="en-US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* (Width + Height</a:t>
            </a:r>
            <a:r>
              <a:rPr lang="en-US" sz="2400" dirty="0" smtClean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);</a:t>
            </a:r>
          </a:p>
          <a:p>
            <a:r>
              <a:rPr lang="en-US" sz="2400" dirty="0" smtClean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ru-RU" sz="2400" dirty="0" smtClean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}</a:t>
            </a:r>
            <a:endParaRPr lang="ru-RU" sz="2400" dirty="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ru-RU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}</a:t>
            </a:r>
            <a:endParaRPr lang="en-US" sz="2400" b="1" dirty="0" smtClean="0">
              <a:latin typeface="Bookman Old Style" panose="020506040505050202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502780075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Прямоугольник 6"/>
          <p:cNvSpPr/>
          <p:nvPr/>
        </p:nvSpPr>
        <p:spPr>
          <a:xfrm>
            <a:off x="268385" y="146356"/>
            <a:ext cx="11705901" cy="5078313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just">
              <a:lnSpc>
                <a:spcPct val="150000"/>
              </a:lnSpc>
            </a:pPr>
            <a:r>
              <a:rPr lang="ru-RU" sz="2400" dirty="0" smtClean="0">
                <a:latin typeface="Bookman Old Style" panose="02050604050505020204" pitchFamily="18" charset="0"/>
              </a:rPr>
              <a:t>Наша библиотека готова. Стоит заметить что тип проекта «Библиотека классов» запустить сам по себе нельзя.</a:t>
            </a:r>
          </a:p>
          <a:p>
            <a:pPr algn="just">
              <a:lnSpc>
                <a:spcPct val="150000"/>
              </a:lnSpc>
            </a:pPr>
            <a:endParaRPr lang="ru-RU" sz="2400" dirty="0" smtClean="0">
              <a:latin typeface="Bookman Old Style" panose="02050604050505020204" pitchFamily="18" charset="0"/>
            </a:endParaRPr>
          </a:p>
          <a:p>
            <a:pPr algn="just">
              <a:lnSpc>
                <a:spcPct val="150000"/>
              </a:lnSpc>
            </a:pPr>
            <a:r>
              <a:rPr lang="ru-RU" sz="2400" dirty="0" smtClean="0">
                <a:latin typeface="Bookman Old Style" panose="02050604050505020204" pitchFamily="18" charset="0"/>
              </a:rPr>
              <a:t>Данный тип предназначен для написания </a:t>
            </a:r>
            <a:r>
              <a:rPr lang="ru-RU" sz="2400" dirty="0" err="1" smtClean="0">
                <a:latin typeface="Bookman Old Style" panose="02050604050505020204" pitchFamily="18" charset="0"/>
              </a:rPr>
              <a:t>переиспользуемых</a:t>
            </a:r>
            <a:r>
              <a:rPr lang="ru-RU" sz="2400" dirty="0">
                <a:latin typeface="Bookman Old Style" panose="02050604050505020204" pitchFamily="18" charset="0"/>
              </a:rPr>
              <a:t> </a:t>
            </a:r>
            <a:r>
              <a:rPr lang="ru-RU" sz="2400" dirty="0" smtClean="0">
                <a:latin typeface="Bookman Old Style" panose="02050604050505020204" pitchFamily="18" charset="0"/>
              </a:rPr>
              <a:t>модулей, которые можно подключить к другому проекту.</a:t>
            </a:r>
          </a:p>
          <a:p>
            <a:pPr algn="just">
              <a:lnSpc>
                <a:spcPct val="150000"/>
              </a:lnSpc>
            </a:pPr>
            <a:endParaRPr lang="ru-RU" sz="2400" dirty="0">
              <a:latin typeface="Bookman Old Style" panose="02050604050505020204" pitchFamily="18" charset="0"/>
            </a:endParaRPr>
          </a:p>
          <a:p>
            <a:pPr algn="just">
              <a:lnSpc>
                <a:spcPct val="150000"/>
              </a:lnSpc>
            </a:pPr>
            <a:r>
              <a:rPr lang="ru-RU" sz="2400" dirty="0">
                <a:latin typeface="Bookman Old Style" panose="02050604050505020204" pitchFamily="18" charset="0"/>
              </a:rPr>
              <a:t>Рассмотрим первый способ подключения библиотеки классов. Данный способ подходит, когда есть исходный код библиотеки, например, когда она написана нами</a:t>
            </a:r>
            <a:r>
              <a:rPr lang="ru-RU" sz="2400" dirty="0" smtClean="0">
                <a:latin typeface="Bookman Old Style" panose="02050604050505020204" pitchFamily="18" charset="0"/>
              </a:rPr>
              <a:t>.</a:t>
            </a:r>
            <a:endParaRPr lang="en-US" sz="2400" dirty="0">
              <a:latin typeface="Bookman Old Style" panose="020506040505050202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092983753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Рисунок 2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412613" y="4995071"/>
            <a:ext cx="3475501" cy="1612129"/>
          </a:xfrm>
          <a:prstGeom prst="rect">
            <a:avLst/>
          </a:prstGeom>
        </p:spPr>
      </p:pic>
      <p:sp>
        <p:nvSpPr>
          <p:cNvPr id="7" name="Прямоугольник 6"/>
          <p:cNvSpPr/>
          <p:nvPr/>
        </p:nvSpPr>
        <p:spPr>
          <a:xfrm>
            <a:off x="297414" y="721556"/>
            <a:ext cx="11705901" cy="452431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just">
              <a:lnSpc>
                <a:spcPct val="150000"/>
              </a:lnSpc>
            </a:pPr>
            <a:r>
              <a:rPr lang="ru-RU" sz="2400" dirty="0" smtClean="0">
                <a:latin typeface="Bookman Old Style" panose="02050604050505020204" pitchFamily="18" charset="0"/>
              </a:rPr>
              <a:t>Предположим, что у нас есть приложение:</a:t>
            </a:r>
          </a:p>
          <a:p>
            <a:pPr algn="just">
              <a:lnSpc>
                <a:spcPct val="150000"/>
              </a:lnSpc>
            </a:pPr>
            <a:endParaRPr lang="ru-RU" sz="2400" dirty="0">
              <a:latin typeface="Bookman Old Style" panose="02050604050505020204" pitchFamily="18" charset="0"/>
            </a:endParaRPr>
          </a:p>
          <a:p>
            <a:pPr algn="just">
              <a:lnSpc>
                <a:spcPct val="150000"/>
              </a:lnSpc>
            </a:pPr>
            <a:endParaRPr lang="ru-RU" sz="2400" dirty="0" smtClean="0">
              <a:latin typeface="Bookman Old Style" panose="02050604050505020204" pitchFamily="18" charset="0"/>
            </a:endParaRPr>
          </a:p>
          <a:p>
            <a:pPr algn="just">
              <a:lnSpc>
                <a:spcPct val="150000"/>
              </a:lnSpc>
            </a:pPr>
            <a:endParaRPr lang="ru-RU" sz="2400" dirty="0">
              <a:latin typeface="Bookman Old Style" panose="02050604050505020204" pitchFamily="18" charset="0"/>
            </a:endParaRPr>
          </a:p>
          <a:p>
            <a:pPr algn="just">
              <a:lnSpc>
                <a:spcPct val="150000"/>
              </a:lnSpc>
            </a:pPr>
            <a:endParaRPr lang="ru-RU" sz="2400" dirty="0" smtClean="0">
              <a:latin typeface="Bookman Old Style" panose="02050604050505020204" pitchFamily="18" charset="0"/>
            </a:endParaRPr>
          </a:p>
          <a:p>
            <a:pPr algn="just">
              <a:lnSpc>
                <a:spcPct val="150000"/>
              </a:lnSpc>
            </a:pPr>
            <a:r>
              <a:rPr lang="ru-RU" sz="2400" dirty="0" smtClean="0">
                <a:latin typeface="Bookman Old Style" panose="02050604050505020204" pitchFamily="18" charset="0"/>
              </a:rPr>
              <a:t>Добавим библиотеку классов к решению. Необходимо нажать ПКМ на Решение -</a:t>
            </a:r>
            <a:r>
              <a:rPr lang="en-US" sz="2400" dirty="0" smtClean="0">
                <a:latin typeface="Bookman Old Style" panose="02050604050505020204" pitchFamily="18" charset="0"/>
              </a:rPr>
              <a:t>&gt; </a:t>
            </a:r>
            <a:r>
              <a:rPr lang="ru-RU" sz="2400" dirty="0" smtClean="0">
                <a:latin typeface="Bookman Old Style" panose="02050604050505020204" pitchFamily="18" charset="0"/>
              </a:rPr>
              <a:t>Добавить -</a:t>
            </a:r>
            <a:r>
              <a:rPr lang="en-US" sz="2400" dirty="0" smtClean="0">
                <a:latin typeface="Bookman Old Style" panose="02050604050505020204" pitchFamily="18" charset="0"/>
              </a:rPr>
              <a:t>&gt; </a:t>
            </a:r>
            <a:r>
              <a:rPr lang="ru-RU" sz="2400" dirty="0" smtClean="0">
                <a:latin typeface="Bookman Old Style" panose="02050604050505020204" pitchFamily="18" charset="0"/>
              </a:rPr>
              <a:t>Существующий проект</a:t>
            </a:r>
          </a:p>
          <a:p>
            <a:pPr algn="just">
              <a:lnSpc>
                <a:spcPct val="150000"/>
              </a:lnSpc>
            </a:pPr>
            <a:r>
              <a:rPr lang="ru-RU" sz="2400" dirty="0" smtClean="0">
                <a:latin typeface="Bookman Old Style" panose="02050604050505020204" pitchFamily="18" charset="0"/>
              </a:rPr>
              <a:t>Необходимо найти файл проекта библиотеки с расширением </a:t>
            </a:r>
            <a:r>
              <a:rPr lang="en-US" sz="2400" dirty="0" smtClean="0">
                <a:latin typeface="Bookman Old Style" panose="02050604050505020204" pitchFamily="18" charset="0"/>
              </a:rPr>
              <a:t>.</a:t>
            </a:r>
            <a:r>
              <a:rPr lang="en-US" sz="2400" dirty="0" err="1" smtClean="0">
                <a:latin typeface="Bookman Old Style" panose="02050604050505020204" pitchFamily="18" charset="0"/>
              </a:rPr>
              <a:t>csproj</a:t>
            </a:r>
            <a:endParaRPr lang="en-US" sz="2400" dirty="0">
              <a:latin typeface="Bookman Old Style" panose="02050604050505020204" pitchFamily="18" charset="0"/>
            </a:endParaRPr>
          </a:p>
        </p:txBody>
      </p:sp>
      <p:pic>
        <p:nvPicPr>
          <p:cNvPr id="2" name="Рисунок 1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235386" y="1494535"/>
            <a:ext cx="5829956" cy="1867408"/>
          </a:xfrm>
          <a:prstGeom prst="rect">
            <a:avLst/>
          </a:prstGeom>
        </p:spPr>
      </p:pic>
      <p:sp>
        <p:nvSpPr>
          <p:cNvPr id="5" name="Rectangle 28" descr="Светлый диагональный 2"/>
          <p:cNvSpPr>
            <a:spLocks noChangeArrowheads="1"/>
          </p:cNvSpPr>
          <p:nvPr/>
        </p:nvSpPr>
        <p:spPr bwMode="auto">
          <a:xfrm>
            <a:off x="0" y="-1"/>
            <a:ext cx="12192000" cy="654357"/>
          </a:xfrm>
          <a:prstGeom prst="rect">
            <a:avLst/>
          </a:prstGeom>
          <a:pattFill prst="ltUpDiag">
            <a:fgClr>
              <a:schemeClr val="accent1">
                <a:lumMod val="40000"/>
                <a:lumOff val="60000"/>
              </a:schemeClr>
            </a:fgClr>
            <a:bgClr>
              <a:srgbClr val="FFFFFF"/>
            </a:bgClr>
          </a:pattFill>
          <a:ln w="15875" algn="ctr">
            <a:solidFill>
              <a:schemeClr val="accent5">
                <a:lumMod val="50000"/>
              </a:schemeClr>
            </a:solidFill>
            <a:miter lim="800000"/>
            <a:headEnd/>
            <a:tailEnd/>
          </a:ln>
          <a:effectLst/>
        </p:spPr>
        <p:txBody>
          <a:bodyPr vert="horz" wrap="square" lIns="18000" tIns="18000" rIns="18000" bIns="18000" numCol="1" anchor="ctr" anchorCtr="0" compatLnSpc="1">
            <a:prstTxWarp prst="textNoShape">
              <a:avLst/>
            </a:prstTxWarp>
          </a:bodyPr>
          <a:lstStyle/>
          <a:p>
            <a:pPr algn="ctr"/>
            <a:r>
              <a:rPr lang="ru-RU" sz="2800" b="1" dirty="0" smtClean="0">
                <a:solidFill>
                  <a:schemeClr val="tx2">
                    <a:lumMod val="50000"/>
                  </a:schemeClr>
                </a:solidFill>
                <a:latin typeface="Bookman Old Style" panose="02050604050505020204" pitchFamily="18" charset="0"/>
                <a:cs typeface="Times New Roman" panose="02020603050405020304" pitchFamily="18" charset="0"/>
              </a:rPr>
              <a:t>Подключение «своей» библиотеки классов</a:t>
            </a:r>
            <a:endParaRPr lang="ru-RU" sz="2800" b="1" dirty="0">
              <a:solidFill>
                <a:schemeClr val="tx2">
                  <a:lumMod val="50000"/>
                </a:schemeClr>
              </a:solidFill>
              <a:latin typeface="Bookman Old Style" panose="020506040505050202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195791441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Прямоугольник 6"/>
          <p:cNvSpPr/>
          <p:nvPr/>
        </p:nvSpPr>
        <p:spPr>
          <a:xfrm>
            <a:off x="268385" y="146356"/>
            <a:ext cx="11705901" cy="6186309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just">
              <a:lnSpc>
                <a:spcPct val="150000"/>
              </a:lnSpc>
            </a:pPr>
            <a:r>
              <a:rPr lang="ru-RU" sz="2400" dirty="0" smtClean="0">
                <a:latin typeface="Bookman Old Style" panose="02050604050505020204" pitchFamily="18" charset="0"/>
              </a:rPr>
              <a:t>В результате к нашему решению подключится проект:</a:t>
            </a:r>
          </a:p>
          <a:p>
            <a:pPr algn="just">
              <a:lnSpc>
                <a:spcPct val="150000"/>
              </a:lnSpc>
            </a:pPr>
            <a:endParaRPr lang="ru-RU" sz="2400" dirty="0">
              <a:latin typeface="Bookman Old Style" panose="02050604050505020204" pitchFamily="18" charset="0"/>
            </a:endParaRPr>
          </a:p>
          <a:p>
            <a:pPr algn="just">
              <a:lnSpc>
                <a:spcPct val="150000"/>
              </a:lnSpc>
            </a:pPr>
            <a:endParaRPr lang="ru-RU" sz="2400" dirty="0" smtClean="0">
              <a:latin typeface="Bookman Old Style" panose="02050604050505020204" pitchFamily="18" charset="0"/>
            </a:endParaRPr>
          </a:p>
          <a:p>
            <a:pPr algn="just">
              <a:lnSpc>
                <a:spcPct val="150000"/>
              </a:lnSpc>
            </a:pPr>
            <a:endParaRPr lang="ru-RU" sz="2400" dirty="0">
              <a:latin typeface="Bookman Old Style" panose="02050604050505020204" pitchFamily="18" charset="0"/>
            </a:endParaRPr>
          </a:p>
          <a:p>
            <a:pPr algn="just">
              <a:lnSpc>
                <a:spcPct val="150000"/>
              </a:lnSpc>
            </a:pPr>
            <a:endParaRPr lang="ru-RU" sz="2400" dirty="0" smtClean="0">
              <a:latin typeface="Bookman Old Style" panose="02050604050505020204" pitchFamily="18" charset="0"/>
            </a:endParaRPr>
          </a:p>
          <a:p>
            <a:pPr algn="just">
              <a:lnSpc>
                <a:spcPct val="150000"/>
              </a:lnSpc>
            </a:pPr>
            <a:endParaRPr lang="ru-RU" sz="2400" dirty="0">
              <a:latin typeface="Bookman Old Style" panose="02050604050505020204" pitchFamily="18" charset="0"/>
            </a:endParaRPr>
          </a:p>
          <a:p>
            <a:pPr algn="just">
              <a:lnSpc>
                <a:spcPct val="150000"/>
              </a:lnSpc>
            </a:pPr>
            <a:endParaRPr lang="ru-RU" sz="2400" dirty="0" smtClean="0">
              <a:latin typeface="Bookman Old Style" panose="02050604050505020204" pitchFamily="18" charset="0"/>
            </a:endParaRPr>
          </a:p>
          <a:p>
            <a:pPr algn="just">
              <a:lnSpc>
                <a:spcPct val="150000"/>
              </a:lnSpc>
            </a:pPr>
            <a:endParaRPr lang="ru-RU" sz="2400" dirty="0" smtClean="0">
              <a:latin typeface="Bookman Old Style" panose="02050604050505020204" pitchFamily="18" charset="0"/>
            </a:endParaRPr>
          </a:p>
          <a:p>
            <a:pPr algn="just">
              <a:lnSpc>
                <a:spcPct val="150000"/>
              </a:lnSpc>
            </a:pPr>
            <a:r>
              <a:rPr lang="ru-RU" sz="2400" dirty="0" smtClean="0">
                <a:latin typeface="Bookman Old Style" panose="02050604050505020204" pitchFamily="18" charset="0"/>
              </a:rPr>
              <a:t>В данном случае у нас есть доступ к исходному коду библиотеки и мы можем его менять.</a:t>
            </a:r>
          </a:p>
          <a:p>
            <a:pPr algn="just">
              <a:lnSpc>
                <a:spcPct val="150000"/>
              </a:lnSpc>
            </a:pPr>
            <a:r>
              <a:rPr lang="ru-RU" sz="2400" dirty="0" smtClean="0">
                <a:latin typeface="Bookman Old Style" panose="02050604050505020204" pitchFamily="18" charset="0"/>
              </a:rPr>
              <a:t>Рассмотрим пример работы с библиотекой.</a:t>
            </a:r>
          </a:p>
        </p:txBody>
      </p:sp>
      <p:pic>
        <p:nvPicPr>
          <p:cNvPr id="4" name="Рисунок 3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165680" y="832881"/>
            <a:ext cx="5911309" cy="372460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38205107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Прямоугольник 6"/>
          <p:cNvSpPr/>
          <p:nvPr/>
        </p:nvSpPr>
        <p:spPr>
          <a:xfrm>
            <a:off x="268385" y="146356"/>
            <a:ext cx="11705901" cy="341632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just">
              <a:lnSpc>
                <a:spcPct val="150000"/>
              </a:lnSpc>
            </a:pPr>
            <a:r>
              <a:rPr lang="ru-RU" sz="2400" dirty="0" smtClean="0">
                <a:latin typeface="Bookman Old Style" panose="02050604050505020204" pitchFamily="18" charset="0"/>
              </a:rPr>
              <a:t>Несмотря на то, что решение состоит из 2 проектов, использовать классы из </a:t>
            </a:r>
            <a:r>
              <a:rPr lang="en-US" sz="2400" dirty="0" err="1" smtClean="0">
                <a:latin typeface="Bookman Old Style" panose="02050604050505020204" pitchFamily="18" charset="0"/>
              </a:rPr>
              <a:t>GeometryLibrary</a:t>
            </a:r>
            <a:r>
              <a:rPr lang="en-US" sz="2400" dirty="0" smtClean="0">
                <a:latin typeface="Bookman Old Style" panose="02050604050505020204" pitchFamily="18" charset="0"/>
              </a:rPr>
              <a:t> </a:t>
            </a:r>
            <a:r>
              <a:rPr lang="ru-RU" sz="2400" dirty="0" smtClean="0">
                <a:latin typeface="Bookman Old Style" panose="02050604050505020204" pitchFamily="18" charset="0"/>
              </a:rPr>
              <a:t>мы сейчас не можем.</a:t>
            </a:r>
          </a:p>
          <a:p>
            <a:pPr algn="just">
              <a:lnSpc>
                <a:spcPct val="150000"/>
              </a:lnSpc>
            </a:pPr>
            <a:r>
              <a:rPr lang="ru-RU" sz="2400" dirty="0" smtClean="0">
                <a:latin typeface="Bookman Old Style" panose="02050604050505020204" pitchFamily="18" charset="0"/>
              </a:rPr>
              <a:t>Необходимо подключить ссылку на библиотеку.</a:t>
            </a:r>
          </a:p>
          <a:p>
            <a:pPr algn="just">
              <a:lnSpc>
                <a:spcPct val="150000"/>
              </a:lnSpc>
            </a:pPr>
            <a:r>
              <a:rPr lang="ru-RU" sz="2400" dirty="0" smtClean="0">
                <a:latin typeface="Bookman Old Style" panose="02050604050505020204" pitchFamily="18" charset="0"/>
              </a:rPr>
              <a:t>Необходимо нажать ПКМ на </a:t>
            </a:r>
            <a:r>
              <a:rPr lang="ru-RU" sz="2400" b="1" dirty="0" smtClean="0">
                <a:latin typeface="Bookman Old Style" panose="02050604050505020204" pitchFamily="18" charset="0"/>
              </a:rPr>
              <a:t>Зависимости</a:t>
            </a:r>
            <a:r>
              <a:rPr lang="ru-RU" sz="2400" dirty="0" smtClean="0">
                <a:latin typeface="Bookman Old Style" panose="02050604050505020204" pitchFamily="18" charset="0"/>
              </a:rPr>
              <a:t> в том приложении, к которому подключается библиотека -</a:t>
            </a:r>
            <a:r>
              <a:rPr lang="en-US" sz="2400" dirty="0" smtClean="0">
                <a:latin typeface="Bookman Old Style" panose="02050604050505020204" pitchFamily="18" charset="0"/>
              </a:rPr>
              <a:t>&gt; </a:t>
            </a:r>
            <a:r>
              <a:rPr lang="ru-RU" sz="2400" dirty="0" smtClean="0">
                <a:latin typeface="Bookman Old Style" panose="02050604050505020204" pitchFamily="18" charset="0"/>
              </a:rPr>
              <a:t>Добавить ссылку на проект -</a:t>
            </a:r>
            <a:r>
              <a:rPr lang="en-US" sz="2400" dirty="0" smtClean="0">
                <a:latin typeface="Bookman Old Style" panose="02050604050505020204" pitchFamily="18" charset="0"/>
              </a:rPr>
              <a:t>&gt;</a:t>
            </a:r>
            <a:r>
              <a:rPr lang="ru-RU" sz="2400" dirty="0" smtClean="0">
                <a:latin typeface="Bookman Old Style" panose="02050604050505020204" pitchFamily="18" charset="0"/>
              </a:rPr>
              <a:t> Выбрать нужную библиотеку.</a:t>
            </a:r>
          </a:p>
        </p:txBody>
      </p:sp>
      <p:pic>
        <p:nvPicPr>
          <p:cNvPr id="3" name="Рисунок 2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68385" y="3562675"/>
            <a:ext cx="11705901" cy="263941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39469696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Прямоугольник 6"/>
          <p:cNvSpPr/>
          <p:nvPr/>
        </p:nvSpPr>
        <p:spPr>
          <a:xfrm>
            <a:off x="268385" y="146356"/>
            <a:ext cx="11705901" cy="544764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just">
              <a:lnSpc>
                <a:spcPct val="150000"/>
              </a:lnSpc>
            </a:pPr>
            <a:r>
              <a:rPr lang="ru-RU" sz="2400" dirty="0" smtClean="0">
                <a:latin typeface="Bookman Old Style" panose="02050604050505020204" pitchFamily="18" charset="0"/>
              </a:rPr>
              <a:t>Перейдем в класс </a:t>
            </a:r>
            <a:r>
              <a:rPr lang="en-US" sz="2400" dirty="0" smtClean="0">
                <a:latin typeface="Bookman Old Style" panose="02050604050505020204" pitchFamily="18" charset="0"/>
              </a:rPr>
              <a:t>Program </a:t>
            </a:r>
            <a:r>
              <a:rPr lang="ru-RU" sz="2400" dirty="0" smtClean="0">
                <a:latin typeface="Bookman Old Style" panose="02050604050505020204" pitchFamily="18" charset="0"/>
              </a:rPr>
              <a:t>и обратимся к библиотеке.</a:t>
            </a:r>
          </a:p>
          <a:p>
            <a:pPr algn="just">
              <a:lnSpc>
                <a:spcPct val="150000"/>
              </a:lnSpc>
            </a:pPr>
            <a:endParaRPr lang="en-US" sz="2400" dirty="0" smtClean="0">
              <a:latin typeface="Bookman Old Style" panose="02050604050505020204" pitchFamily="18" charset="0"/>
            </a:endParaRPr>
          </a:p>
          <a:p>
            <a:pPr algn="just">
              <a:lnSpc>
                <a:spcPct val="150000"/>
              </a:lnSpc>
            </a:pPr>
            <a:r>
              <a:rPr lang="ru-RU" sz="2400" dirty="0" smtClean="0">
                <a:latin typeface="Bookman Old Style" panose="02050604050505020204" pitchFamily="18" charset="0"/>
              </a:rPr>
              <a:t>Необходимо подключить пространство имен библиотеки с помощью </a:t>
            </a:r>
            <a:r>
              <a:rPr lang="en-US" sz="2400" b="1" dirty="0" smtClean="0">
                <a:latin typeface="Bookman Old Style" panose="02050604050505020204" pitchFamily="18" charset="0"/>
              </a:rPr>
              <a:t>using</a:t>
            </a:r>
            <a:r>
              <a:rPr lang="en-US" sz="2400" dirty="0" smtClean="0">
                <a:latin typeface="Bookman Old Style" panose="02050604050505020204" pitchFamily="18" charset="0"/>
              </a:rPr>
              <a:t>.</a:t>
            </a:r>
            <a:endParaRPr lang="en-US" sz="2400" dirty="0">
              <a:latin typeface="Bookman Old Style" panose="02050604050505020204" pitchFamily="18" charset="0"/>
            </a:endParaRPr>
          </a:p>
          <a:p>
            <a:pPr algn="just">
              <a:lnSpc>
                <a:spcPct val="150000"/>
              </a:lnSpc>
            </a:pPr>
            <a:endParaRPr lang="ru-RU" sz="2400" dirty="0">
              <a:latin typeface="Bookman Old Style" panose="02050604050505020204" pitchFamily="18" charset="0"/>
            </a:endParaRPr>
          </a:p>
          <a:p>
            <a:r>
              <a:rPr lang="en-US" sz="2400" dirty="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using</a:t>
            </a:r>
            <a:r>
              <a:rPr lang="en-US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24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GeometryLibrary</a:t>
            </a:r>
            <a:r>
              <a:rPr lang="en-US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;</a:t>
            </a:r>
          </a:p>
          <a:p>
            <a:endParaRPr lang="ru-RU" sz="2400" dirty="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2400" dirty="0" err="1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var</a:t>
            </a:r>
            <a:r>
              <a:rPr lang="en-US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circle = </a:t>
            </a:r>
            <a:r>
              <a:rPr lang="en-US" sz="2400" dirty="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new</a:t>
            </a:r>
            <a:r>
              <a:rPr lang="en-US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2400" dirty="0">
                <a:solidFill>
                  <a:srgbClr val="2B91A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Circle</a:t>
            </a:r>
            <a:r>
              <a:rPr lang="en-US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(6);</a:t>
            </a:r>
          </a:p>
          <a:p>
            <a:endParaRPr lang="ru-RU" sz="2400" dirty="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2400" dirty="0" err="1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var</a:t>
            </a:r>
            <a:r>
              <a:rPr lang="en-US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area = </a:t>
            </a:r>
            <a:r>
              <a:rPr lang="en-US" sz="24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circle.GetArea</a:t>
            </a:r>
            <a:r>
              <a:rPr lang="en-US" sz="2400" dirty="0" smtClean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();</a:t>
            </a:r>
          </a:p>
          <a:p>
            <a:endParaRPr lang="en-US" sz="2400" dirty="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ru-RU" sz="2400" b="1" dirty="0">
                <a:latin typeface="Bookman Old Style" panose="02050604050505020204" pitchFamily="18" charset="0"/>
              </a:rPr>
              <a:t>Готово!</a:t>
            </a:r>
          </a:p>
        </p:txBody>
      </p:sp>
    </p:spTree>
    <p:extLst>
      <p:ext uri="{BB962C8B-B14F-4D97-AF65-F5344CB8AC3E}">
        <p14:creationId xmlns:p14="http://schemas.microsoft.com/office/powerpoint/2010/main" val="976522287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Rectangle 28" descr="Светлый диагональный 2"/>
          <p:cNvSpPr>
            <a:spLocks noChangeArrowheads="1"/>
          </p:cNvSpPr>
          <p:nvPr/>
        </p:nvSpPr>
        <p:spPr bwMode="auto">
          <a:xfrm>
            <a:off x="0" y="-1"/>
            <a:ext cx="12192000" cy="654357"/>
          </a:xfrm>
          <a:prstGeom prst="rect">
            <a:avLst/>
          </a:prstGeom>
          <a:pattFill prst="ltUpDiag">
            <a:fgClr>
              <a:schemeClr val="accent1">
                <a:lumMod val="40000"/>
                <a:lumOff val="60000"/>
              </a:schemeClr>
            </a:fgClr>
            <a:bgClr>
              <a:srgbClr val="FFFFFF"/>
            </a:bgClr>
          </a:pattFill>
          <a:ln w="15875" algn="ctr">
            <a:solidFill>
              <a:schemeClr val="accent5">
                <a:lumMod val="50000"/>
              </a:schemeClr>
            </a:solidFill>
            <a:miter lim="800000"/>
            <a:headEnd/>
            <a:tailEnd/>
          </a:ln>
          <a:effectLst/>
        </p:spPr>
        <p:txBody>
          <a:bodyPr vert="horz" wrap="square" lIns="18000" tIns="18000" rIns="18000" bIns="18000" numCol="1" anchor="ctr" anchorCtr="0" compatLnSpc="1">
            <a:prstTxWarp prst="textNoShape">
              <a:avLst/>
            </a:prstTxWarp>
          </a:bodyPr>
          <a:lstStyle/>
          <a:p>
            <a:pPr algn="ctr"/>
            <a:r>
              <a:rPr lang="ru-RU" sz="2800" b="1" dirty="0" smtClean="0">
                <a:solidFill>
                  <a:schemeClr val="tx2">
                    <a:lumMod val="50000"/>
                  </a:schemeClr>
                </a:solidFill>
                <a:latin typeface="Bookman Old Style" panose="02050604050505020204" pitchFamily="18" charset="0"/>
                <a:cs typeface="Times New Roman" panose="02020603050405020304" pitchFamily="18" charset="0"/>
              </a:rPr>
              <a:t>Модификатор </a:t>
            </a:r>
            <a:r>
              <a:rPr lang="en-US" sz="2800" b="1" dirty="0" smtClean="0">
                <a:solidFill>
                  <a:schemeClr val="tx2">
                    <a:lumMod val="50000"/>
                  </a:schemeClr>
                </a:solidFill>
                <a:latin typeface="Bookman Old Style" panose="02050604050505020204" pitchFamily="18" charset="0"/>
                <a:cs typeface="Times New Roman" panose="02020603050405020304" pitchFamily="18" charset="0"/>
              </a:rPr>
              <a:t>internal</a:t>
            </a:r>
            <a:endParaRPr lang="ru-RU" sz="2800" b="1" dirty="0">
              <a:solidFill>
                <a:schemeClr val="tx2">
                  <a:lumMod val="50000"/>
                </a:schemeClr>
              </a:solidFill>
              <a:latin typeface="Bookman Old Style" panose="02050604050505020204" pitchFamily="18" charset="0"/>
              <a:cs typeface="Times New Roman" panose="02020603050405020304" pitchFamily="18" charset="0"/>
            </a:endParaRPr>
          </a:p>
        </p:txBody>
      </p:sp>
      <p:sp>
        <p:nvSpPr>
          <p:cNvPr id="7" name="Прямоугольник 6"/>
          <p:cNvSpPr/>
          <p:nvPr/>
        </p:nvSpPr>
        <p:spPr>
          <a:xfrm>
            <a:off x="0" y="654356"/>
            <a:ext cx="12192000" cy="3658374"/>
          </a:xfrm>
          <a:prstGeom prst="rect">
            <a:avLst/>
          </a:prstGeom>
        </p:spPr>
        <p:txBody>
          <a:bodyPr wrap="square" lIns="360000" rIns="360000">
            <a:spAutoFit/>
          </a:bodyPr>
          <a:lstStyle/>
          <a:p>
            <a:pPr algn="just">
              <a:lnSpc>
                <a:spcPct val="140000"/>
              </a:lnSpc>
            </a:pPr>
            <a:r>
              <a:rPr lang="ru-RU" sz="2400" b="1" dirty="0" err="1">
                <a:latin typeface="Bookman Old Style" panose="02050604050505020204" pitchFamily="18" charset="0"/>
              </a:rPr>
              <a:t>internal</a:t>
            </a:r>
            <a:r>
              <a:rPr lang="ru-RU" sz="2400" dirty="0">
                <a:latin typeface="Bookman Old Style" panose="02050604050505020204" pitchFamily="18" charset="0"/>
              </a:rPr>
              <a:t>: компоненты класса или структуры доступен из любого места кода в той же сборке, однако он недоступен для других программ и сборок.</a:t>
            </a:r>
          </a:p>
          <a:p>
            <a:pPr algn="just">
              <a:lnSpc>
                <a:spcPct val="140000"/>
              </a:lnSpc>
            </a:pPr>
            <a:r>
              <a:rPr lang="ru-RU" sz="2400" b="1" dirty="0" err="1">
                <a:latin typeface="Bookman Old Style" panose="02050604050505020204" pitchFamily="18" charset="0"/>
              </a:rPr>
              <a:t>protected</a:t>
            </a:r>
            <a:r>
              <a:rPr lang="ru-RU" sz="2400" b="1" dirty="0">
                <a:latin typeface="Bookman Old Style" panose="02050604050505020204" pitchFamily="18" charset="0"/>
              </a:rPr>
              <a:t> </a:t>
            </a:r>
            <a:r>
              <a:rPr lang="ru-RU" sz="2400" b="1" dirty="0" err="1">
                <a:latin typeface="Bookman Old Style" panose="02050604050505020204" pitchFamily="18" charset="0"/>
              </a:rPr>
              <a:t>internal</a:t>
            </a:r>
            <a:r>
              <a:rPr lang="ru-RU" sz="2400" dirty="0">
                <a:latin typeface="Bookman Old Style" panose="02050604050505020204" pitchFamily="18" charset="0"/>
              </a:rPr>
              <a:t>: совмещает функционал двух модификаторов </a:t>
            </a:r>
            <a:r>
              <a:rPr lang="ru-RU" sz="2400" dirty="0" err="1">
                <a:latin typeface="Bookman Old Style" panose="02050604050505020204" pitchFamily="18" charset="0"/>
              </a:rPr>
              <a:t>protected</a:t>
            </a:r>
            <a:r>
              <a:rPr lang="ru-RU" sz="2400" dirty="0">
                <a:latin typeface="Bookman Old Style" panose="02050604050505020204" pitchFamily="18" charset="0"/>
              </a:rPr>
              <a:t> и </a:t>
            </a:r>
            <a:r>
              <a:rPr lang="ru-RU" sz="2400" dirty="0" err="1">
                <a:latin typeface="Bookman Old Style" panose="02050604050505020204" pitchFamily="18" charset="0"/>
              </a:rPr>
              <a:t>internal</a:t>
            </a:r>
            <a:r>
              <a:rPr lang="ru-RU" sz="2400" dirty="0">
                <a:latin typeface="Bookman Old Style" panose="02050604050505020204" pitchFamily="18" charset="0"/>
              </a:rPr>
              <a:t>. Такой компонент класса доступен из любого места в текущей сборке и из производных классов, которые могут располагаться в других сборках.</a:t>
            </a:r>
          </a:p>
        </p:txBody>
      </p:sp>
    </p:spTree>
    <p:extLst>
      <p:ext uri="{BB962C8B-B14F-4D97-AF65-F5344CB8AC3E}">
        <p14:creationId xmlns:p14="http://schemas.microsoft.com/office/powerpoint/2010/main" val="3340576136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Прямоугольник 6"/>
          <p:cNvSpPr/>
          <p:nvPr/>
        </p:nvSpPr>
        <p:spPr>
          <a:xfrm>
            <a:off x="243049" y="654356"/>
            <a:ext cx="11705901" cy="3970318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just">
              <a:lnSpc>
                <a:spcPct val="150000"/>
              </a:lnSpc>
            </a:pPr>
            <a:r>
              <a:rPr lang="ru-RU" sz="2400" dirty="0" smtClean="0">
                <a:latin typeface="Bookman Old Style" panose="02050604050505020204" pitchFamily="18" charset="0"/>
              </a:rPr>
              <a:t>Далеко не всегда есть доступ к исходному коду библиотеки. Зачастую, если библиотека чужая, то она представляет собой файл формата </a:t>
            </a:r>
            <a:r>
              <a:rPr lang="en-US" sz="2400" dirty="0" err="1" smtClean="0">
                <a:latin typeface="Bookman Old Style" panose="02050604050505020204" pitchFamily="18" charset="0"/>
              </a:rPr>
              <a:t>dll</a:t>
            </a:r>
            <a:r>
              <a:rPr lang="en-US" sz="2400" dirty="0" smtClean="0">
                <a:latin typeface="Bookman Old Style" panose="02050604050505020204" pitchFamily="18" charset="0"/>
              </a:rPr>
              <a:t>.</a:t>
            </a:r>
            <a:endParaRPr lang="ru-RU" sz="2400" dirty="0" smtClean="0">
              <a:latin typeface="Bookman Old Style" panose="02050604050505020204" pitchFamily="18" charset="0"/>
            </a:endParaRPr>
          </a:p>
          <a:p>
            <a:pPr algn="just">
              <a:lnSpc>
                <a:spcPct val="150000"/>
              </a:lnSpc>
            </a:pPr>
            <a:r>
              <a:rPr lang="ru-RU" sz="2400" dirty="0">
                <a:latin typeface="Bookman Old Style" panose="02050604050505020204" pitchFamily="18" charset="0"/>
              </a:rPr>
              <a:t>DLL (англ. </a:t>
            </a:r>
            <a:r>
              <a:rPr lang="ru-RU" sz="2400" i="1" dirty="0" err="1">
                <a:latin typeface="Bookman Old Style" panose="02050604050505020204" pitchFamily="18" charset="0"/>
              </a:rPr>
              <a:t>Dynamic</a:t>
            </a:r>
            <a:r>
              <a:rPr lang="ru-RU" sz="2400" i="1" dirty="0">
                <a:latin typeface="Bookman Old Style" panose="02050604050505020204" pitchFamily="18" charset="0"/>
              </a:rPr>
              <a:t> </a:t>
            </a:r>
            <a:r>
              <a:rPr lang="ru-RU" sz="2400" i="1" dirty="0" err="1">
                <a:solidFill>
                  <a:srgbClr val="202122"/>
                </a:solidFill>
                <a:latin typeface="Bookman Old Style" panose="02050604050505020204" pitchFamily="18" charset="0"/>
              </a:rPr>
              <a:t>Link</a:t>
            </a:r>
            <a:r>
              <a:rPr lang="ru-RU" sz="2400" i="1" dirty="0">
                <a:solidFill>
                  <a:srgbClr val="202122"/>
                </a:solidFill>
                <a:latin typeface="Bookman Old Style" panose="02050604050505020204" pitchFamily="18" charset="0"/>
              </a:rPr>
              <a:t> </a:t>
            </a:r>
            <a:r>
              <a:rPr lang="ru-RU" sz="2400" i="1" dirty="0" err="1">
                <a:solidFill>
                  <a:srgbClr val="202122"/>
                </a:solidFill>
                <a:latin typeface="Bookman Old Style" panose="02050604050505020204" pitchFamily="18" charset="0"/>
              </a:rPr>
              <a:t>Library</a:t>
            </a:r>
            <a:r>
              <a:rPr lang="ru-RU" sz="2400" dirty="0">
                <a:solidFill>
                  <a:srgbClr val="202122"/>
                </a:solidFill>
                <a:latin typeface="Bookman Old Style" panose="02050604050505020204" pitchFamily="18" charset="0"/>
              </a:rPr>
              <a:t> — «библиотека динамической компоновки», «динамически подключаемая библиотека») в операционных системах </a:t>
            </a:r>
            <a:r>
              <a:rPr lang="ru-RU" sz="2400" i="1" dirty="0" err="1">
                <a:solidFill>
                  <a:srgbClr val="0645AD"/>
                </a:solidFill>
                <a:latin typeface="Bookman Old Style" panose="02050604050505020204" pitchFamily="18" charset="0"/>
                <a:hlinkClick r:id="rId3" tooltip="Microsoft Windows"/>
              </a:rPr>
              <a:t>Microsoft</a:t>
            </a:r>
            <a:r>
              <a:rPr lang="ru-RU" sz="2400" i="1" dirty="0">
                <a:solidFill>
                  <a:srgbClr val="0645AD"/>
                </a:solidFill>
                <a:latin typeface="Bookman Old Style" panose="02050604050505020204" pitchFamily="18" charset="0"/>
                <a:hlinkClick r:id="rId3" tooltip="Microsoft Windows"/>
              </a:rPr>
              <a:t> </a:t>
            </a:r>
            <a:r>
              <a:rPr lang="ru-RU" sz="2400" i="1" dirty="0" err="1">
                <a:solidFill>
                  <a:srgbClr val="0645AD"/>
                </a:solidFill>
                <a:latin typeface="Bookman Old Style" panose="02050604050505020204" pitchFamily="18" charset="0"/>
                <a:hlinkClick r:id="rId3" tooltip="Microsoft Windows"/>
              </a:rPr>
              <a:t>Windows</a:t>
            </a:r>
            <a:r>
              <a:rPr lang="ru-RU" sz="2400" dirty="0">
                <a:solidFill>
                  <a:srgbClr val="202122"/>
                </a:solidFill>
                <a:latin typeface="Bookman Old Style" panose="02050604050505020204" pitchFamily="18" charset="0"/>
              </a:rPr>
              <a:t> и </a:t>
            </a:r>
            <a:r>
              <a:rPr lang="ru-RU" sz="2400" i="1" dirty="0">
                <a:solidFill>
                  <a:srgbClr val="0645AD"/>
                </a:solidFill>
                <a:latin typeface="Bookman Old Style" panose="02050604050505020204" pitchFamily="18" charset="0"/>
                <a:hlinkClick r:id="rId4" tooltip="IBM OS/2"/>
              </a:rPr>
              <a:t>IBM OS/2</a:t>
            </a:r>
            <a:r>
              <a:rPr lang="ru-RU" sz="2400" dirty="0">
                <a:solidFill>
                  <a:srgbClr val="202122"/>
                </a:solidFill>
                <a:latin typeface="Bookman Old Style" panose="02050604050505020204" pitchFamily="18" charset="0"/>
              </a:rPr>
              <a:t> — динамическая </a:t>
            </a:r>
            <a:r>
              <a:rPr lang="ru-RU" sz="2400" dirty="0">
                <a:solidFill>
                  <a:srgbClr val="0645AD"/>
                </a:solidFill>
                <a:latin typeface="Bookman Old Style" panose="02050604050505020204" pitchFamily="18" charset="0"/>
                <a:hlinkClick r:id="rId5" tooltip="Библиотека (программирование)"/>
              </a:rPr>
              <a:t>библиотека</a:t>
            </a:r>
            <a:r>
              <a:rPr lang="ru-RU" sz="2400" dirty="0">
                <a:solidFill>
                  <a:srgbClr val="202122"/>
                </a:solidFill>
                <a:latin typeface="Bookman Old Style" panose="02050604050505020204" pitchFamily="18" charset="0"/>
              </a:rPr>
              <a:t>, дающая возможность многократного использования различными программными приложениями</a:t>
            </a:r>
            <a:r>
              <a:rPr lang="ru-RU" sz="2400" dirty="0" smtClean="0">
                <a:solidFill>
                  <a:srgbClr val="202122"/>
                </a:solidFill>
                <a:latin typeface="Bookman Old Style" panose="02050604050505020204" pitchFamily="18" charset="0"/>
              </a:rPr>
              <a:t>.</a:t>
            </a:r>
            <a:endParaRPr lang="ru-RU" sz="2400" b="1" dirty="0">
              <a:latin typeface="Bookman Old Style" panose="02050604050505020204" pitchFamily="18" charset="0"/>
            </a:endParaRPr>
          </a:p>
        </p:txBody>
      </p:sp>
      <p:sp>
        <p:nvSpPr>
          <p:cNvPr id="4" name="Rectangle 28" descr="Светлый диагональный 2"/>
          <p:cNvSpPr>
            <a:spLocks noChangeArrowheads="1"/>
          </p:cNvSpPr>
          <p:nvPr/>
        </p:nvSpPr>
        <p:spPr bwMode="auto">
          <a:xfrm>
            <a:off x="0" y="-1"/>
            <a:ext cx="12192000" cy="654357"/>
          </a:xfrm>
          <a:prstGeom prst="rect">
            <a:avLst/>
          </a:prstGeom>
          <a:pattFill prst="ltUpDiag">
            <a:fgClr>
              <a:schemeClr val="accent1">
                <a:lumMod val="40000"/>
                <a:lumOff val="60000"/>
              </a:schemeClr>
            </a:fgClr>
            <a:bgClr>
              <a:srgbClr val="FFFFFF"/>
            </a:bgClr>
          </a:pattFill>
          <a:ln w="15875" algn="ctr">
            <a:solidFill>
              <a:schemeClr val="accent5">
                <a:lumMod val="50000"/>
              </a:schemeClr>
            </a:solidFill>
            <a:miter lim="800000"/>
            <a:headEnd/>
            <a:tailEnd/>
          </a:ln>
          <a:effectLst/>
        </p:spPr>
        <p:txBody>
          <a:bodyPr vert="horz" wrap="square" lIns="18000" tIns="18000" rIns="18000" bIns="18000" numCol="1" anchor="ctr" anchorCtr="0" compatLnSpc="1">
            <a:prstTxWarp prst="textNoShape">
              <a:avLst/>
            </a:prstTxWarp>
          </a:bodyPr>
          <a:lstStyle/>
          <a:p>
            <a:pPr algn="ctr"/>
            <a:r>
              <a:rPr lang="ru-RU" sz="2800" b="1" dirty="0" smtClean="0">
                <a:solidFill>
                  <a:schemeClr val="tx2">
                    <a:lumMod val="50000"/>
                  </a:schemeClr>
                </a:solidFill>
                <a:latin typeface="Bookman Old Style" panose="02050604050505020204" pitchFamily="18" charset="0"/>
                <a:cs typeface="Times New Roman" panose="02020603050405020304" pitchFamily="18" charset="0"/>
              </a:rPr>
              <a:t>Подключение «чужой» библиотеки классов</a:t>
            </a:r>
            <a:endParaRPr lang="ru-RU" sz="2800" b="1" dirty="0">
              <a:solidFill>
                <a:schemeClr val="tx2">
                  <a:lumMod val="50000"/>
                </a:schemeClr>
              </a:solidFill>
              <a:latin typeface="Bookman Old Style" panose="02050604050505020204" pitchFamily="18" charset="0"/>
              <a:cs typeface="Times New Roman" panose="02020603050405020304" pitchFamily="18" charset="0"/>
            </a:endParaRPr>
          </a:p>
        </p:txBody>
      </p:sp>
      <p:pic>
        <p:nvPicPr>
          <p:cNvPr id="5" name="Рисунок 4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303317" y="4270895"/>
            <a:ext cx="2104912" cy="239269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63606449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Прямоугольник 6"/>
          <p:cNvSpPr/>
          <p:nvPr/>
        </p:nvSpPr>
        <p:spPr>
          <a:xfrm>
            <a:off x="221500" y="0"/>
            <a:ext cx="11705901" cy="6186309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just">
              <a:lnSpc>
                <a:spcPct val="150000"/>
              </a:lnSpc>
            </a:pPr>
            <a:r>
              <a:rPr lang="ru-RU" sz="2400" dirty="0" smtClean="0">
                <a:solidFill>
                  <a:srgbClr val="202122"/>
                </a:solidFill>
                <a:latin typeface="Bookman Old Style" panose="02050604050505020204" pitchFamily="18" charset="0"/>
              </a:rPr>
              <a:t>Эти </a:t>
            </a:r>
            <a:r>
              <a:rPr lang="ru-RU" sz="2400" dirty="0">
                <a:solidFill>
                  <a:srgbClr val="202122"/>
                </a:solidFill>
                <a:latin typeface="Bookman Old Style" panose="02050604050505020204" pitchFamily="18" charset="0"/>
              </a:rPr>
              <a:t>библиотеки обычно </a:t>
            </a:r>
            <a:r>
              <a:rPr lang="ru-RU" sz="2400" dirty="0">
                <a:latin typeface="Bookman Old Style" panose="02050604050505020204" pitchFamily="18" charset="0"/>
              </a:rPr>
              <a:t>имеют расширение DLL</a:t>
            </a:r>
            <a:r>
              <a:rPr lang="ru-RU" sz="2400" dirty="0">
                <a:solidFill>
                  <a:srgbClr val="202122"/>
                </a:solidFill>
                <a:latin typeface="Bookman Old Style" panose="02050604050505020204" pitchFamily="18" charset="0"/>
              </a:rPr>
              <a:t>, OCX (для библиотек, содержащих </a:t>
            </a:r>
            <a:r>
              <a:rPr lang="ru-RU" sz="2400" dirty="0" err="1">
                <a:solidFill>
                  <a:srgbClr val="0645AD"/>
                </a:solidFill>
                <a:latin typeface="Bookman Old Style" panose="02050604050505020204" pitchFamily="18" charset="0"/>
                <a:hlinkClick r:id="rId3" tooltip="ActiveX"/>
              </a:rPr>
              <a:t>ActiveX</a:t>
            </a:r>
            <a:r>
              <a:rPr lang="ru-RU" sz="2400" dirty="0">
                <a:solidFill>
                  <a:srgbClr val="202122"/>
                </a:solidFill>
                <a:latin typeface="Bookman Old Style" panose="02050604050505020204" pitchFamily="18" charset="0"/>
              </a:rPr>
              <a:t>) или DRV (для </a:t>
            </a:r>
            <a:r>
              <a:rPr lang="ru-RU" sz="2400" dirty="0">
                <a:latin typeface="Bookman Old Style" panose="02050604050505020204" pitchFamily="18" charset="0"/>
              </a:rPr>
              <a:t>ряда системных драйверов). </a:t>
            </a:r>
            <a:r>
              <a:rPr lang="ru-RU" sz="2400" dirty="0">
                <a:solidFill>
                  <a:srgbClr val="202122"/>
                </a:solidFill>
                <a:latin typeface="Bookman Old Style" panose="02050604050505020204" pitchFamily="18" charset="0"/>
              </a:rPr>
              <a:t>Формат файлов для DLL такой же, как для EXE-файлов </a:t>
            </a:r>
            <a:r>
              <a:rPr lang="ru-RU" sz="2400" dirty="0" err="1">
                <a:solidFill>
                  <a:srgbClr val="202122"/>
                </a:solidFill>
                <a:latin typeface="Bookman Old Style" panose="02050604050505020204" pitchFamily="18" charset="0"/>
              </a:rPr>
              <a:t>Windows</a:t>
            </a:r>
            <a:r>
              <a:rPr lang="ru-RU" sz="2400" dirty="0">
                <a:solidFill>
                  <a:srgbClr val="202122"/>
                </a:solidFill>
                <a:latin typeface="Bookman Old Style" panose="02050604050505020204" pitchFamily="18" charset="0"/>
              </a:rPr>
              <a:t>, то есть </a:t>
            </a:r>
            <a:r>
              <a:rPr lang="ru-RU" sz="2400" dirty="0" err="1">
                <a:solidFill>
                  <a:srgbClr val="202122"/>
                </a:solidFill>
                <a:latin typeface="Bookman Old Style" panose="02050604050505020204" pitchFamily="18" charset="0"/>
              </a:rPr>
              <a:t>Portable</a:t>
            </a:r>
            <a:r>
              <a:rPr lang="ru-RU" sz="2400" dirty="0">
                <a:solidFill>
                  <a:srgbClr val="202122"/>
                </a:solidFill>
                <a:latin typeface="Bookman Old Style" panose="02050604050505020204" pitchFamily="18" charset="0"/>
              </a:rPr>
              <a:t> </a:t>
            </a:r>
            <a:r>
              <a:rPr lang="ru-RU" sz="2400" dirty="0" err="1">
                <a:solidFill>
                  <a:srgbClr val="202122"/>
                </a:solidFill>
                <a:latin typeface="Bookman Old Style" panose="02050604050505020204" pitchFamily="18" charset="0"/>
              </a:rPr>
              <a:t>Executable</a:t>
            </a:r>
            <a:r>
              <a:rPr lang="ru-RU" sz="2400" dirty="0">
                <a:solidFill>
                  <a:srgbClr val="202122"/>
                </a:solidFill>
                <a:latin typeface="Bookman Old Style" panose="02050604050505020204" pitchFamily="18" charset="0"/>
              </a:rPr>
              <a:t> (</a:t>
            </a:r>
            <a:r>
              <a:rPr lang="ru-RU" sz="2400" dirty="0">
                <a:solidFill>
                  <a:srgbClr val="0645AD"/>
                </a:solidFill>
                <a:latin typeface="Bookman Old Style" panose="02050604050505020204" pitchFamily="18" charset="0"/>
                <a:hlinkClick r:id="rId4" tooltip="Portable Executable"/>
              </a:rPr>
              <a:t>PE</a:t>
            </a:r>
            <a:r>
              <a:rPr lang="ru-RU" sz="2400" dirty="0">
                <a:solidFill>
                  <a:srgbClr val="202122"/>
                </a:solidFill>
                <a:latin typeface="Bookman Old Style" panose="02050604050505020204" pitchFamily="18" charset="0"/>
              </a:rPr>
              <a:t>) для 32-битных и 64-битных приложений </a:t>
            </a:r>
            <a:r>
              <a:rPr lang="ru-RU" sz="2400" dirty="0" err="1">
                <a:solidFill>
                  <a:srgbClr val="202122"/>
                </a:solidFill>
                <a:latin typeface="Bookman Old Style" panose="02050604050505020204" pitchFamily="18" charset="0"/>
              </a:rPr>
              <a:t>Windows</a:t>
            </a:r>
            <a:r>
              <a:rPr lang="ru-RU" sz="2400" dirty="0">
                <a:solidFill>
                  <a:srgbClr val="202122"/>
                </a:solidFill>
                <a:latin typeface="Bookman Old Style" panose="02050604050505020204" pitchFamily="18" charset="0"/>
              </a:rPr>
              <a:t> и </a:t>
            </a:r>
            <a:r>
              <a:rPr lang="ru-RU" sz="2400" dirty="0" err="1">
                <a:solidFill>
                  <a:srgbClr val="202122"/>
                </a:solidFill>
                <a:latin typeface="Bookman Old Style" panose="02050604050505020204" pitchFamily="18" charset="0"/>
              </a:rPr>
              <a:t>New</a:t>
            </a:r>
            <a:r>
              <a:rPr lang="ru-RU" sz="2400" dirty="0">
                <a:solidFill>
                  <a:srgbClr val="202122"/>
                </a:solidFill>
                <a:latin typeface="Bookman Old Style" panose="02050604050505020204" pitchFamily="18" charset="0"/>
              </a:rPr>
              <a:t> </a:t>
            </a:r>
            <a:r>
              <a:rPr lang="ru-RU" sz="2400" dirty="0" err="1">
                <a:solidFill>
                  <a:srgbClr val="202122"/>
                </a:solidFill>
                <a:latin typeface="Bookman Old Style" panose="02050604050505020204" pitchFamily="18" charset="0"/>
              </a:rPr>
              <a:t>Executable</a:t>
            </a:r>
            <a:r>
              <a:rPr lang="ru-RU" sz="2400" dirty="0">
                <a:solidFill>
                  <a:srgbClr val="202122"/>
                </a:solidFill>
                <a:latin typeface="Bookman Old Style" panose="02050604050505020204" pitchFamily="18" charset="0"/>
              </a:rPr>
              <a:t> (</a:t>
            </a:r>
            <a:r>
              <a:rPr lang="ru-RU" sz="2400" dirty="0">
                <a:solidFill>
                  <a:srgbClr val="0645AD"/>
                </a:solidFill>
                <a:latin typeface="Bookman Old Style" panose="02050604050505020204" pitchFamily="18" charset="0"/>
                <a:hlinkClick r:id="rId5" tooltip="New Executable"/>
              </a:rPr>
              <a:t>NE</a:t>
            </a:r>
            <a:r>
              <a:rPr lang="ru-RU" sz="2400" dirty="0">
                <a:solidFill>
                  <a:srgbClr val="202122"/>
                </a:solidFill>
                <a:latin typeface="Bookman Old Style" panose="02050604050505020204" pitchFamily="18" charset="0"/>
              </a:rPr>
              <a:t>) — для 16-битных. Так же, как EXE, DLL могут содержать секции кода, данных и </a:t>
            </a:r>
            <a:r>
              <a:rPr lang="ru-RU" sz="2400" dirty="0">
                <a:solidFill>
                  <a:srgbClr val="0645AD"/>
                </a:solidFill>
                <a:latin typeface="Bookman Old Style" panose="02050604050505020204" pitchFamily="18" charset="0"/>
                <a:hlinkClick r:id="rId6" tooltip="Ресурсы (Windows)"/>
              </a:rPr>
              <a:t>ресурсов</a:t>
            </a:r>
            <a:r>
              <a:rPr lang="ru-RU" sz="2400" dirty="0">
                <a:solidFill>
                  <a:srgbClr val="202122"/>
                </a:solidFill>
                <a:latin typeface="Bookman Old Style" panose="02050604050505020204" pitchFamily="18" charset="0"/>
              </a:rPr>
              <a:t>. В системах </a:t>
            </a:r>
            <a:r>
              <a:rPr lang="ru-RU" sz="2400" i="1" dirty="0" err="1">
                <a:solidFill>
                  <a:srgbClr val="0645AD"/>
                </a:solidFill>
                <a:latin typeface="Bookman Old Style" panose="02050604050505020204" pitchFamily="18" charset="0"/>
                <a:hlinkClick r:id="rId7" tooltip="Unix"/>
              </a:rPr>
              <a:t>Unix</a:t>
            </a:r>
            <a:r>
              <a:rPr lang="ru-RU" sz="2400" dirty="0">
                <a:solidFill>
                  <a:srgbClr val="202122"/>
                </a:solidFill>
                <a:latin typeface="Bookman Old Style" panose="02050604050505020204" pitchFamily="18" charset="0"/>
              </a:rPr>
              <a:t> аналогичные функции выполняют так называемые </a:t>
            </a:r>
            <a:r>
              <a:rPr lang="ru-RU" sz="2400" dirty="0">
                <a:solidFill>
                  <a:srgbClr val="0645AD"/>
                </a:solidFill>
                <a:latin typeface="Bookman Old Style" panose="02050604050505020204" pitchFamily="18" charset="0"/>
                <a:hlinkClick r:id="rId8" tooltip="Общий объект"/>
              </a:rPr>
              <a:t>общие объекты</a:t>
            </a:r>
            <a:r>
              <a:rPr lang="ru-RU" sz="2400" dirty="0">
                <a:solidFill>
                  <a:srgbClr val="202122"/>
                </a:solidFill>
                <a:latin typeface="Bookman Old Style" panose="02050604050505020204" pitchFamily="18" charset="0"/>
              </a:rPr>
              <a:t> </a:t>
            </a:r>
            <a:r>
              <a:rPr lang="ru-RU" sz="2400" dirty="0">
                <a:latin typeface="Bookman Old Style" panose="02050604050505020204" pitchFamily="18" charset="0"/>
              </a:rPr>
              <a:t>(англ. </a:t>
            </a:r>
            <a:r>
              <a:rPr lang="ru-RU" sz="2400" i="1" dirty="0" err="1">
                <a:latin typeface="Bookman Old Style" panose="02050604050505020204" pitchFamily="18" charset="0"/>
              </a:rPr>
              <a:t>shared</a:t>
            </a:r>
            <a:r>
              <a:rPr lang="ru-RU" sz="2400" i="1" dirty="0">
                <a:latin typeface="Bookman Old Style" panose="02050604050505020204" pitchFamily="18" charset="0"/>
              </a:rPr>
              <a:t> </a:t>
            </a:r>
            <a:r>
              <a:rPr lang="ru-RU" sz="2400" i="1" dirty="0" err="1">
                <a:solidFill>
                  <a:srgbClr val="202122"/>
                </a:solidFill>
                <a:latin typeface="Bookman Old Style" panose="02050604050505020204" pitchFamily="18" charset="0"/>
              </a:rPr>
              <a:t>objects</a:t>
            </a:r>
            <a:r>
              <a:rPr lang="ru-RU" sz="2400" dirty="0" smtClean="0">
                <a:solidFill>
                  <a:srgbClr val="202122"/>
                </a:solidFill>
                <a:latin typeface="Bookman Old Style" panose="02050604050505020204" pitchFamily="18" charset="0"/>
              </a:rPr>
              <a:t>).</a:t>
            </a:r>
            <a:endParaRPr lang="en-US" sz="2400" dirty="0" smtClean="0">
              <a:solidFill>
                <a:srgbClr val="202122"/>
              </a:solidFill>
              <a:latin typeface="Bookman Old Style" panose="02050604050505020204" pitchFamily="18" charset="0"/>
            </a:endParaRPr>
          </a:p>
          <a:p>
            <a:pPr algn="just">
              <a:lnSpc>
                <a:spcPct val="150000"/>
              </a:lnSpc>
            </a:pPr>
            <a:endParaRPr lang="ru-RU" sz="2400" dirty="0" smtClean="0">
              <a:solidFill>
                <a:srgbClr val="202122"/>
              </a:solidFill>
              <a:latin typeface="Bookman Old Style" panose="02050604050505020204" pitchFamily="18" charset="0"/>
            </a:endParaRPr>
          </a:p>
          <a:p>
            <a:pPr algn="just">
              <a:lnSpc>
                <a:spcPct val="150000"/>
              </a:lnSpc>
            </a:pPr>
            <a:r>
              <a:rPr lang="ru-RU" sz="2400" b="1" dirty="0" smtClean="0">
                <a:latin typeface="Bookman Old Style" panose="02050604050505020204" pitchFamily="18" charset="0"/>
              </a:rPr>
              <a:t>В случае с </a:t>
            </a:r>
            <a:r>
              <a:rPr lang="en-US" sz="2400" b="1" dirty="0" smtClean="0">
                <a:latin typeface="Bookman Old Style" panose="02050604050505020204" pitchFamily="18" charset="0"/>
              </a:rPr>
              <a:t>C# </a:t>
            </a:r>
            <a:r>
              <a:rPr lang="ru-RU" sz="2400" dirty="0" smtClean="0">
                <a:latin typeface="Bookman Old Style" panose="02050604050505020204" pitchFamily="18" charset="0"/>
              </a:rPr>
              <a:t>DLL </a:t>
            </a:r>
            <a:r>
              <a:rPr lang="ru-RU" sz="2400" dirty="0">
                <a:latin typeface="Bookman Old Style" panose="02050604050505020204" pitchFamily="18" charset="0"/>
              </a:rPr>
              <a:t>файл содержит скомпилированный </a:t>
            </a:r>
            <a:r>
              <a:rPr lang="ru-RU" sz="2400" dirty="0" smtClean="0">
                <a:latin typeface="Bookman Old Style" panose="02050604050505020204" pitchFamily="18" charset="0"/>
              </a:rPr>
              <a:t>код</a:t>
            </a:r>
            <a:r>
              <a:rPr lang="en-US" sz="2400" dirty="0" smtClean="0">
                <a:latin typeface="Bookman Old Style" panose="02050604050505020204" pitchFamily="18" charset="0"/>
              </a:rPr>
              <a:t> </a:t>
            </a:r>
            <a:r>
              <a:rPr lang="ru-RU" sz="2400" dirty="0" smtClean="0">
                <a:latin typeface="Bookman Old Style" panose="02050604050505020204" pitchFamily="18" charset="0"/>
              </a:rPr>
              <a:t>на промежуточном языке (</a:t>
            </a:r>
            <a:r>
              <a:rPr lang="en-US" sz="2400" dirty="0" smtClean="0">
                <a:latin typeface="Bookman Old Style" panose="02050604050505020204" pitchFamily="18" charset="0"/>
              </a:rPr>
              <a:t>Intermediate Language </a:t>
            </a:r>
            <a:r>
              <a:rPr lang="ru-RU" sz="2400" dirty="0" smtClean="0">
                <a:latin typeface="Bookman Old Style" panose="02050604050505020204" pitchFamily="18" charset="0"/>
              </a:rPr>
              <a:t>или </a:t>
            </a:r>
            <a:r>
              <a:rPr lang="en-US" sz="2400" dirty="0" smtClean="0">
                <a:latin typeface="Bookman Old Style" panose="02050604050505020204" pitchFamily="18" charset="0"/>
              </a:rPr>
              <a:t>IL</a:t>
            </a:r>
            <a:r>
              <a:rPr lang="ru-RU" sz="2400" dirty="0" smtClean="0">
                <a:latin typeface="Bookman Old Style" panose="02050604050505020204" pitchFamily="18" charset="0"/>
              </a:rPr>
              <a:t>), </a:t>
            </a:r>
            <a:r>
              <a:rPr lang="ru-RU" sz="2400" dirty="0">
                <a:latin typeface="Bookman Old Style" panose="02050604050505020204" pitchFamily="18" charset="0"/>
              </a:rPr>
              <a:t>который затем выполняется средой выполнения .NET (CLR</a:t>
            </a:r>
            <a:r>
              <a:rPr lang="ru-RU" sz="2400" dirty="0" smtClean="0">
                <a:latin typeface="Bookman Old Style" panose="02050604050505020204" pitchFamily="18" charset="0"/>
              </a:rPr>
              <a:t>).</a:t>
            </a:r>
            <a:endParaRPr lang="ru-RU" sz="2400" dirty="0">
              <a:latin typeface="Bookman Old Style" panose="020506040505050202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431061094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Прямоугольник 6"/>
          <p:cNvSpPr/>
          <p:nvPr/>
        </p:nvSpPr>
        <p:spPr>
          <a:xfrm>
            <a:off x="228534" y="291499"/>
            <a:ext cx="11705901" cy="563231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just">
              <a:lnSpc>
                <a:spcPct val="150000"/>
              </a:lnSpc>
            </a:pPr>
            <a:r>
              <a:rPr lang="ru-RU" sz="2400" dirty="0" smtClean="0">
                <a:solidFill>
                  <a:srgbClr val="202122"/>
                </a:solidFill>
                <a:latin typeface="Bookman Old Style" panose="02050604050505020204" pitchFamily="18" charset="0"/>
              </a:rPr>
              <a:t>Чтобы получить </a:t>
            </a:r>
            <a:r>
              <a:rPr lang="en-US" sz="2400" dirty="0" err="1" smtClean="0">
                <a:solidFill>
                  <a:srgbClr val="202122"/>
                </a:solidFill>
                <a:latin typeface="Bookman Old Style" panose="02050604050505020204" pitchFamily="18" charset="0"/>
              </a:rPr>
              <a:t>dll</a:t>
            </a:r>
            <a:r>
              <a:rPr lang="en-US" sz="2400" dirty="0" smtClean="0">
                <a:solidFill>
                  <a:srgbClr val="202122"/>
                </a:solidFill>
                <a:latin typeface="Bookman Old Style" panose="02050604050505020204" pitchFamily="18" charset="0"/>
              </a:rPr>
              <a:t> </a:t>
            </a:r>
            <a:r>
              <a:rPr lang="ru-RU" sz="2400" dirty="0" smtClean="0">
                <a:solidFill>
                  <a:srgbClr val="202122"/>
                </a:solidFill>
                <a:latin typeface="Bookman Old Style" panose="02050604050505020204" pitchFamily="18" charset="0"/>
              </a:rPr>
              <a:t>файл необходимо скомпилировать нашу библиотеку классов.</a:t>
            </a:r>
          </a:p>
          <a:p>
            <a:pPr algn="just">
              <a:lnSpc>
                <a:spcPct val="150000"/>
              </a:lnSpc>
            </a:pPr>
            <a:r>
              <a:rPr lang="ru-RU" sz="2400" dirty="0" smtClean="0">
                <a:solidFill>
                  <a:srgbClr val="202122"/>
                </a:solidFill>
                <a:latin typeface="Bookman Old Style" panose="02050604050505020204" pitchFamily="18" charset="0"/>
              </a:rPr>
              <a:t>Для этого необходимо выбрать Сборка -</a:t>
            </a:r>
            <a:r>
              <a:rPr lang="en-US" sz="2400" dirty="0" smtClean="0">
                <a:solidFill>
                  <a:srgbClr val="202122"/>
                </a:solidFill>
                <a:latin typeface="Bookman Old Style" panose="02050604050505020204" pitchFamily="18" charset="0"/>
              </a:rPr>
              <a:t>&gt; </a:t>
            </a:r>
            <a:r>
              <a:rPr lang="ru-RU" sz="2400" dirty="0" smtClean="0">
                <a:solidFill>
                  <a:srgbClr val="202122"/>
                </a:solidFill>
                <a:latin typeface="Bookman Old Style" panose="02050604050505020204" pitchFamily="18" charset="0"/>
              </a:rPr>
              <a:t>Собрать решение.</a:t>
            </a:r>
          </a:p>
          <a:p>
            <a:pPr algn="just">
              <a:lnSpc>
                <a:spcPct val="150000"/>
              </a:lnSpc>
            </a:pPr>
            <a:endParaRPr lang="ru-RU" sz="2400" dirty="0">
              <a:solidFill>
                <a:srgbClr val="202122"/>
              </a:solidFill>
              <a:latin typeface="Bookman Old Style" panose="02050604050505020204" pitchFamily="18" charset="0"/>
            </a:endParaRPr>
          </a:p>
          <a:p>
            <a:pPr algn="just">
              <a:lnSpc>
                <a:spcPct val="150000"/>
              </a:lnSpc>
            </a:pPr>
            <a:endParaRPr lang="ru-RU" sz="2400" dirty="0" smtClean="0">
              <a:solidFill>
                <a:srgbClr val="202122"/>
              </a:solidFill>
              <a:latin typeface="Bookman Old Style" panose="02050604050505020204" pitchFamily="18" charset="0"/>
            </a:endParaRPr>
          </a:p>
          <a:p>
            <a:pPr algn="just">
              <a:lnSpc>
                <a:spcPct val="150000"/>
              </a:lnSpc>
            </a:pPr>
            <a:endParaRPr lang="ru-RU" sz="2400" dirty="0">
              <a:solidFill>
                <a:srgbClr val="202122"/>
              </a:solidFill>
              <a:latin typeface="Bookman Old Style" panose="02050604050505020204" pitchFamily="18" charset="0"/>
            </a:endParaRPr>
          </a:p>
          <a:p>
            <a:pPr algn="just">
              <a:lnSpc>
                <a:spcPct val="150000"/>
              </a:lnSpc>
            </a:pPr>
            <a:endParaRPr lang="ru-RU" sz="2400" dirty="0" smtClean="0">
              <a:solidFill>
                <a:srgbClr val="202122"/>
              </a:solidFill>
              <a:latin typeface="Bookman Old Style" panose="02050604050505020204" pitchFamily="18" charset="0"/>
            </a:endParaRPr>
          </a:p>
          <a:p>
            <a:pPr algn="just">
              <a:lnSpc>
                <a:spcPct val="150000"/>
              </a:lnSpc>
            </a:pPr>
            <a:endParaRPr lang="ru-RU" sz="2400" dirty="0">
              <a:solidFill>
                <a:srgbClr val="202122"/>
              </a:solidFill>
              <a:latin typeface="Bookman Old Style" panose="02050604050505020204" pitchFamily="18" charset="0"/>
            </a:endParaRPr>
          </a:p>
          <a:p>
            <a:pPr algn="just">
              <a:lnSpc>
                <a:spcPct val="150000"/>
              </a:lnSpc>
            </a:pPr>
            <a:endParaRPr lang="ru-RU" sz="2400" dirty="0" smtClean="0">
              <a:solidFill>
                <a:srgbClr val="202122"/>
              </a:solidFill>
              <a:latin typeface="Bookman Old Style" panose="02050604050505020204" pitchFamily="18" charset="0"/>
            </a:endParaRPr>
          </a:p>
          <a:p>
            <a:pPr algn="just">
              <a:lnSpc>
                <a:spcPct val="150000"/>
              </a:lnSpc>
            </a:pPr>
            <a:r>
              <a:rPr lang="ru-RU" sz="2400" dirty="0" smtClean="0">
                <a:solidFill>
                  <a:srgbClr val="202122"/>
                </a:solidFill>
                <a:latin typeface="Bookman Old Style" panose="02050604050505020204" pitchFamily="18" charset="0"/>
              </a:rPr>
              <a:t>Либо ПКМ на </a:t>
            </a:r>
            <a:r>
              <a:rPr lang="en-US" sz="2400" dirty="0" err="1" smtClean="0">
                <a:solidFill>
                  <a:srgbClr val="202122"/>
                </a:solidFill>
                <a:latin typeface="Bookman Old Style" panose="02050604050505020204" pitchFamily="18" charset="0"/>
              </a:rPr>
              <a:t>GeometryLibrary</a:t>
            </a:r>
            <a:r>
              <a:rPr lang="en-US" sz="2400" dirty="0" smtClean="0">
                <a:solidFill>
                  <a:srgbClr val="202122"/>
                </a:solidFill>
                <a:latin typeface="Bookman Old Style" panose="02050604050505020204" pitchFamily="18" charset="0"/>
              </a:rPr>
              <a:t> -&gt; </a:t>
            </a:r>
            <a:r>
              <a:rPr lang="ru-RU" sz="2400" dirty="0" smtClean="0">
                <a:solidFill>
                  <a:srgbClr val="202122"/>
                </a:solidFill>
                <a:latin typeface="Bookman Old Style" panose="02050604050505020204" pitchFamily="18" charset="0"/>
              </a:rPr>
              <a:t>Собрать.</a:t>
            </a:r>
            <a:endParaRPr lang="ru-RU" sz="2400" dirty="0">
              <a:latin typeface="Bookman Old Style" panose="02050604050505020204" pitchFamily="18" charset="0"/>
            </a:endParaRPr>
          </a:p>
        </p:txBody>
      </p:sp>
      <p:pic>
        <p:nvPicPr>
          <p:cNvPr id="2" name="Рисунок 1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731700" y="2192503"/>
            <a:ext cx="4699567" cy="2543294"/>
          </a:xfrm>
          <a:prstGeom prst="rect">
            <a:avLst/>
          </a:prstGeom>
        </p:spPr>
      </p:pic>
      <p:cxnSp>
        <p:nvCxnSpPr>
          <p:cNvPr id="4" name="Прямая соединительная линия 3"/>
          <p:cNvCxnSpPr/>
          <p:nvPr/>
        </p:nvCxnSpPr>
        <p:spPr>
          <a:xfrm>
            <a:off x="4630057" y="3464150"/>
            <a:ext cx="3381829" cy="0"/>
          </a:xfrm>
          <a:prstGeom prst="line">
            <a:avLst/>
          </a:prstGeom>
          <a:ln w="7620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171737860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Прямоугольник 6"/>
          <p:cNvSpPr/>
          <p:nvPr/>
        </p:nvSpPr>
        <p:spPr>
          <a:xfrm>
            <a:off x="228534" y="291499"/>
            <a:ext cx="11705901" cy="341632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just">
              <a:lnSpc>
                <a:spcPct val="150000"/>
              </a:lnSpc>
            </a:pPr>
            <a:r>
              <a:rPr lang="ru-RU" sz="2400" dirty="0" smtClean="0">
                <a:solidFill>
                  <a:srgbClr val="202122"/>
                </a:solidFill>
                <a:latin typeface="Bookman Old Style" panose="02050604050505020204" pitchFamily="18" charset="0"/>
              </a:rPr>
              <a:t>В результате получим файл</a:t>
            </a:r>
            <a:r>
              <a:rPr lang="en-US" sz="2400" dirty="0">
                <a:solidFill>
                  <a:srgbClr val="202122"/>
                </a:solidFill>
                <a:latin typeface="Bookman Old Style" panose="02050604050505020204" pitchFamily="18" charset="0"/>
              </a:rPr>
              <a:t> </a:t>
            </a:r>
            <a:r>
              <a:rPr lang="en-US" sz="2400" dirty="0" err="1" smtClean="0">
                <a:solidFill>
                  <a:srgbClr val="202122"/>
                </a:solidFill>
                <a:latin typeface="Bookman Old Style" panose="02050604050505020204" pitchFamily="18" charset="0"/>
              </a:rPr>
              <a:t>GeometryLibrary</a:t>
            </a:r>
            <a:r>
              <a:rPr lang="ru-RU" sz="2400" dirty="0" smtClean="0">
                <a:solidFill>
                  <a:srgbClr val="202122"/>
                </a:solidFill>
                <a:latin typeface="Bookman Old Style" panose="02050604050505020204" pitchFamily="18" charset="0"/>
              </a:rPr>
              <a:t>.</a:t>
            </a:r>
            <a:r>
              <a:rPr lang="en-US" sz="2400" dirty="0" err="1" smtClean="0">
                <a:solidFill>
                  <a:srgbClr val="202122"/>
                </a:solidFill>
                <a:latin typeface="Bookman Old Style" panose="02050604050505020204" pitchFamily="18" charset="0"/>
              </a:rPr>
              <a:t>dll</a:t>
            </a:r>
            <a:r>
              <a:rPr lang="ru-RU" sz="2400" dirty="0" smtClean="0">
                <a:solidFill>
                  <a:srgbClr val="202122"/>
                </a:solidFill>
                <a:latin typeface="Bookman Old Style" panose="02050604050505020204" pitchFamily="18" charset="0"/>
              </a:rPr>
              <a:t>, который находится по пути:</a:t>
            </a:r>
          </a:p>
          <a:p>
            <a:pPr algn="just">
              <a:lnSpc>
                <a:spcPct val="150000"/>
              </a:lnSpc>
            </a:pPr>
            <a:endParaRPr lang="ru-RU" sz="2400" dirty="0">
              <a:solidFill>
                <a:srgbClr val="202122"/>
              </a:solidFill>
              <a:latin typeface="Bookman Old Style" panose="02050604050505020204" pitchFamily="18" charset="0"/>
            </a:endParaRPr>
          </a:p>
          <a:p>
            <a:pPr algn="just">
              <a:lnSpc>
                <a:spcPct val="150000"/>
              </a:lnSpc>
            </a:pPr>
            <a:r>
              <a:rPr lang="en-US" sz="2400" dirty="0" err="1" smtClean="0">
                <a:latin typeface="Bookman Old Style" panose="02050604050505020204" pitchFamily="18" charset="0"/>
              </a:rPr>
              <a:t>GeometryLibrary</a:t>
            </a:r>
            <a:r>
              <a:rPr lang="en-US" sz="2400" dirty="0" smtClean="0">
                <a:latin typeface="Bookman Old Style" panose="02050604050505020204" pitchFamily="18" charset="0"/>
              </a:rPr>
              <a:t>\</a:t>
            </a:r>
            <a:r>
              <a:rPr lang="en-US" sz="2400" dirty="0" err="1" smtClean="0">
                <a:latin typeface="Bookman Old Style" panose="02050604050505020204" pitchFamily="18" charset="0"/>
              </a:rPr>
              <a:t>GeometryLibrary</a:t>
            </a:r>
            <a:r>
              <a:rPr lang="en-US" sz="2400" dirty="0" smtClean="0">
                <a:latin typeface="Bookman Old Style" panose="02050604050505020204" pitchFamily="18" charset="0"/>
              </a:rPr>
              <a:t>\bin\Debug\net9.0</a:t>
            </a:r>
            <a:r>
              <a:rPr lang="ru-RU" sz="2400" dirty="0" smtClean="0">
                <a:latin typeface="Bookman Old Style" panose="02050604050505020204" pitchFamily="18" charset="0"/>
              </a:rPr>
              <a:t>\</a:t>
            </a:r>
            <a:r>
              <a:rPr lang="en-US" sz="2400" dirty="0" smtClean="0">
                <a:latin typeface="Bookman Old Style" panose="02050604050505020204" pitchFamily="18" charset="0"/>
              </a:rPr>
              <a:t>GeometryLibrary.dll</a:t>
            </a:r>
            <a:endParaRPr lang="ru-RU" sz="2400" dirty="0" smtClean="0">
              <a:latin typeface="Bookman Old Style" panose="02050604050505020204" pitchFamily="18" charset="0"/>
            </a:endParaRPr>
          </a:p>
          <a:p>
            <a:pPr algn="just">
              <a:lnSpc>
                <a:spcPct val="150000"/>
              </a:lnSpc>
            </a:pPr>
            <a:endParaRPr lang="ru-RU" sz="2400" dirty="0">
              <a:latin typeface="Bookman Old Style" panose="02050604050505020204" pitchFamily="18" charset="0"/>
            </a:endParaRPr>
          </a:p>
          <a:p>
            <a:pPr algn="just">
              <a:lnSpc>
                <a:spcPct val="150000"/>
              </a:lnSpc>
            </a:pPr>
            <a:r>
              <a:rPr lang="ru-RU" sz="2400" dirty="0" smtClean="0">
                <a:latin typeface="Bookman Old Style" panose="02050604050505020204" pitchFamily="18" charset="0"/>
              </a:rPr>
              <a:t>Рассмотрим как подключить данную библиотеку к проекту.</a:t>
            </a:r>
            <a:endParaRPr lang="ru-RU" sz="2400" dirty="0">
              <a:latin typeface="Bookman Old Style" panose="020506040505050202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835726876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Прямоугольник 6"/>
          <p:cNvSpPr/>
          <p:nvPr/>
        </p:nvSpPr>
        <p:spPr>
          <a:xfrm>
            <a:off x="228534" y="291499"/>
            <a:ext cx="11705901" cy="286232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just">
              <a:lnSpc>
                <a:spcPct val="150000"/>
              </a:lnSpc>
            </a:pPr>
            <a:r>
              <a:rPr lang="ru-RU" sz="2400" dirty="0" smtClean="0">
                <a:solidFill>
                  <a:srgbClr val="202122"/>
                </a:solidFill>
                <a:latin typeface="Bookman Old Style" panose="02050604050505020204" pitchFamily="18" charset="0"/>
              </a:rPr>
              <a:t>Перейдем в консольное приложение, к которому необходимо подключить библиотеку.</a:t>
            </a:r>
          </a:p>
          <a:p>
            <a:pPr algn="just">
              <a:lnSpc>
                <a:spcPct val="150000"/>
              </a:lnSpc>
            </a:pPr>
            <a:r>
              <a:rPr lang="ru-RU" sz="2400" dirty="0" smtClean="0">
                <a:solidFill>
                  <a:srgbClr val="202122"/>
                </a:solidFill>
                <a:latin typeface="Bookman Old Style" panose="02050604050505020204" pitchFamily="18" charset="0"/>
              </a:rPr>
              <a:t>Необходимо нажать ПКМ на Зависимости -</a:t>
            </a:r>
            <a:r>
              <a:rPr lang="en-US" sz="2400" dirty="0" smtClean="0">
                <a:solidFill>
                  <a:srgbClr val="202122"/>
                </a:solidFill>
                <a:latin typeface="Bookman Old Style" panose="02050604050505020204" pitchFamily="18" charset="0"/>
              </a:rPr>
              <a:t>&gt; </a:t>
            </a:r>
            <a:r>
              <a:rPr lang="ru-RU" sz="2400" dirty="0" smtClean="0">
                <a:solidFill>
                  <a:srgbClr val="202122"/>
                </a:solidFill>
                <a:latin typeface="Bookman Old Style" panose="02050604050505020204" pitchFamily="18" charset="0"/>
              </a:rPr>
              <a:t>Добавить ссылку на проект -</a:t>
            </a:r>
            <a:r>
              <a:rPr lang="en-US" sz="2400" dirty="0" smtClean="0">
                <a:solidFill>
                  <a:srgbClr val="202122"/>
                </a:solidFill>
                <a:latin typeface="Bookman Old Style" panose="02050604050505020204" pitchFamily="18" charset="0"/>
              </a:rPr>
              <a:t>&gt; </a:t>
            </a:r>
            <a:r>
              <a:rPr lang="ru-RU" sz="2400" dirty="0" smtClean="0">
                <a:solidFill>
                  <a:srgbClr val="202122"/>
                </a:solidFill>
                <a:latin typeface="Bookman Old Style" panose="02050604050505020204" pitchFamily="18" charset="0"/>
              </a:rPr>
              <a:t>Обзор</a:t>
            </a:r>
          </a:p>
          <a:p>
            <a:pPr algn="just">
              <a:lnSpc>
                <a:spcPct val="150000"/>
              </a:lnSpc>
            </a:pPr>
            <a:r>
              <a:rPr lang="ru-RU" sz="2400" dirty="0" smtClean="0">
                <a:solidFill>
                  <a:srgbClr val="202122"/>
                </a:solidFill>
                <a:latin typeface="Bookman Old Style" panose="02050604050505020204" pitchFamily="18" charset="0"/>
              </a:rPr>
              <a:t>Найти файл библиотеки с расширением </a:t>
            </a:r>
            <a:r>
              <a:rPr lang="en-US" sz="2400" dirty="0" err="1" smtClean="0">
                <a:solidFill>
                  <a:srgbClr val="202122"/>
                </a:solidFill>
                <a:latin typeface="Bookman Old Style" panose="02050604050505020204" pitchFamily="18" charset="0"/>
              </a:rPr>
              <a:t>dll</a:t>
            </a:r>
            <a:r>
              <a:rPr lang="en-US" sz="2400" dirty="0">
                <a:solidFill>
                  <a:srgbClr val="202122"/>
                </a:solidFill>
                <a:latin typeface="Bookman Old Style" panose="02050604050505020204" pitchFamily="18" charset="0"/>
              </a:rPr>
              <a:t>:</a:t>
            </a:r>
            <a:endParaRPr lang="ru-RU" sz="2400" dirty="0">
              <a:latin typeface="Bookman Old Style" panose="02050604050505020204" pitchFamily="18" charset="0"/>
            </a:endParaRPr>
          </a:p>
        </p:txBody>
      </p:sp>
      <p:pic>
        <p:nvPicPr>
          <p:cNvPr id="2" name="Рисунок 1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28533" y="3153821"/>
            <a:ext cx="11705901" cy="253826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53438235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Прямоугольник 6"/>
          <p:cNvSpPr/>
          <p:nvPr/>
        </p:nvSpPr>
        <p:spPr>
          <a:xfrm>
            <a:off x="228534" y="291499"/>
            <a:ext cx="11705901" cy="1137684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just">
              <a:lnSpc>
                <a:spcPct val="150000"/>
              </a:lnSpc>
            </a:pPr>
            <a:r>
              <a:rPr lang="ru-RU" sz="2400" dirty="0" smtClean="0">
                <a:solidFill>
                  <a:srgbClr val="202122"/>
                </a:solidFill>
                <a:latin typeface="Bookman Old Style" panose="02050604050505020204" pitchFamily="18" charset="0"/>
              </a:rPr>
              <a:t>Библиотека добавлена, однако доступа к исходному коду нет и решение содержит только 1 проект:</a:t>
            </a:r>
            <a:endParaRPr lang="ru-RU" sz="2400" dirty="0">
              <a:latin typeface="Bookman Old Style" panose="02050604050505020204" pitchFamily="18" charset="0"/>
            </a:endParaRPr>
          </a:p>
        </p:txBody>
      </p:sp>
      <p:pic>
        <p:nvPicPr>
          <p:cNvPr id="3" name="Рисунок 2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032306" y="1429183"/>
            <a:ext cx="6098356" cy="436266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77514698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Прямоугольник 6"/>
          <p:cNvSpPr/>
          <p:nvPr/>
        </p:nvSpPr>
        <p:spPr>
          <a:xfrm>
            <a:off x="228534" y="291499"/>
            <a:ext cx="11705901" cy="5078313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just">
              <a:lnSpc>
                <a:spcPct val="150000"/>
              </a:lnSpc>
            </a:pPr>
            <a:r>
              <a:rPr lang="ru-RU" sz="2400" dirty="0" smtClean="0">
                <a:solidFill>
                  <a:srgbClr val="202122"/>
                </a:solidFill>
                <a:latin typeface="Bookman Old Style" panose="02050604050505020204" pitchFamily="18" charset="0"/>
              </a:rPr>
              <a:t>Использование библиотеки выглядит также, как и в предыдущем способе:</a:t>
            </a:r>
          </a:p>
          <a:p>
            <a:pPr algn="just">
              <a:lnSpc>
                <a:spcPct val="150000"/>
              </a:lnSpc>
            </a:pPr>
            <a:endParaRPr lang="ru-RU" sz="2400" dirty="0">
              <a:solidFill>
                <a:srgbClr val="202122"/>
              </a:solidFill>
              <a:latin typeface="Bookman Old Style" panose="02050604050505020204" pitchFamily="18" charset="0"/>
            </a:endParaRPr>
          </a:p>
          <a:p>
            <a:r>
              <a:rPr lang="en-US" sz="2400" dirty="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using</a:t>
            </a:r>
            <a:r>
              <a:rPr lang="en-US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24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GeometryLibrary</a:t>
            </a:r>
            <a:r>
              <a:rPr lang="en-US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;</a:t>
            </a:r>
          </a:p>
          <a:p>
            <a:endParaRPr lang="ru-RU" sz="2400" dirty="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2400" dirty="0" err="1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var</a:t>
            </a:r>
            <a:r>
              <a:rPr lang="en-US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circle = </a:t>
            </a:r>
            <a:r>
              <a:rPr lang="en-US" sz="2400" dirty="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new</a:t>
            </a:r>
            <a:r>
              <a:rPr lang="en-US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2400" dirty="0">
                <a:solidFill>
                  <a:srgbClr val="2B91A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Circle</a:t>
            </a:r>
            <a:r>
              <a:rPr lang="en-US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(6);</a:t>
            </a:r>
          </a:p>
          <a:p>
            <a:endParaRPr lang="ru-RU" sz="2400" dirty="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2400" dirty="0" err="1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var</a:t>
            </a:r>
            <a:r>
              <a:rPr lang="en-US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area = </a:t>
            </a:r>
            <a:r>
              <a:rPr lang="en-US" sz="24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circle.GetArea</a:t>
            </a:r>
            <a:r>
              <a:rPr lang="en-US" sz="2400" dirty="0" smtClean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();</a:t>
            </a:r>
            <a:endParaRPr lang="ru-RU" sz="2400" dirty="0" smtClean="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endParaRPr lang="ru-RU" sz="2400" dirty="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pPr algn="just">
              <a:lnSpc>
                <a:spcPct val="150000"/>
              </a:lnSpc>
            </a:pPr>
            <a:r>
              <a:rPr lang="ru-RU" sz="2400" dirty="0" smtClean="0">
                <a:solidFill>
                  <a:srgbClr val="202122"/>
                </a:solidFill>
                <a:latin typeface="Bookman Old Style" panose="02050604050505020204" pitchFamily="18" charset="0"/>
              </a:rPr>
              <a:t>Библиотеку необходимо перекомпилировать, если в её код были внесены изменения.</a:t>
            </a:r>
            <a:endParaRPr lang="ru-RU" sz="2400" dirty="0">
              <a:solidFill>
                <a:srgbClr val="202122"/>
              </a:solidFill>
              <a:latin typeface="Bookman Old Style" panose="020506040505050202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994639522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Прямоугольник 6"/>
          <p:cNvSpPr/>
          <p:nvPr/>
        </p:nvSpPr>
        <p:spPr>
          <a:xfrm>
            <a:off x="243049" y="654356"/>
            <a:ext cx="11705901" cy="286232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just">
              <a:lnSpc>
                <a:spcPct val="150000"/>
              </a:lnSpc>
            </a:pPr>
            <a:r>
              <a:rPr lang="ru-RU" sz="2400" dirty="0" smtClean="0">
                <a:solidFill>
                  <a:srgbClr val="202122"/>
                </a:solidFill>
                <a:latin typeface="Bookman Old Style" panose="02050604050505020204" pitchFamily="18" charset="0"/>
              </a:rPr>
              <a:t>Рассмотрим случай, когда необходимо добавить новые методы в стороннюю библиотеку, доступа к исходному коду нет.</a:t>
            </a:r>
            <a:endParaRPr lang="en-US" sz="2400" dirty="0" smtClean="0">
              <a:solidFill>
                <a:srgbClr val="202122"/>
              </a:solidFill>
              <a:latin typeface="Bookman Old Style" panose="02050604050505020204" pitchFamily="18" charset="0"/>
            </a:endParaRPr>
          </a:p>
          <a:p>
            <a:pPr algn="just">
              <a:lnSpc>
                <a:spcPct val="150000"/>
              </a:lnSpc>
            </a:pPr>
            <a:endParaRPr lang="ru-RU" sz="2400" dirty="0" smtClean="0">
              <a:solidFill>
                <a:srgbClr val="202122"/>
              </a:solidFill>
              <a:latin typeface="Bookman Old Style" panose="02050604050505020204" pitchFamily="18" charset="0"/>
            </a:endParaRPr>
          </a:p>
          <a:p>
            <a:pPr algn="just">
              <a:lnSpc>
                <a:spcPct val="150000"/>
              </a:lnSpc>
            </a:pPr>
            <a:r>
              <a:rPr lang="ru-RU" sz="2400" dirty="0" smtClean="0">
                <a:solidFill>
                  <a:srgbClr val="202122"/>
                </a:solidFill>
                <a:latin typeface="Bookman Old Style" panose="02050604050505020204" pitchFamily="18" charset="0"/>
              </a:rPr>
              <a:t>Создадим класс </a:t>
            </a:r>
            <a:r>
              <a:rPr lang="en-US" sz="2400" dirty="0" err="1" smtClean="0">
                <a:solidFill>
                  <a:srgbClr val="202122"/>
                </a:solidFill>
                <a:latin typeface="Bookman Old Style" panose="02050604050505020204" pitchFamily="18" charset="0"/>
              </a:rPr>
              <a:t>CircleExtensions</a:t>
            </a:r>
            <a:r>
              <a:rPr lang="en-US" sz="2400" dirty="0" smtClean="0">
                <a:solidFill>
                  <a:srgbClr val="202122"/>
                </a:solidFill>
                <a:latin typeface="Bookman Old Style" panose="02050604050505020204" pitchFamily="18" charset="0"/>
              </a:rPr>
              <a:t> </a:t>
            </a:r>
            <a:r>
              <a:rPr lang="ru-RU" sz="2400" dirty="0" smtClean="0">
                <a:solidFill>
                  <a:srgbClr val="202122"/>
                </a:solidFill>
                <a:latin typeface="Bookman Old Style" panose="02050604050505020204" pitchFamily="18" charset="0"/>
              </a:rPr>
              <a:t>и напишем метод-расширение для расчета площади сектора круга.</a:t>
            </a:r>
          </a:p>
        </p:txBody>
      </p:sp>
      <p:sp>
        <p:nvSpPr>
          <p:cNvPr id="3" name="Rectangle 28" descr="Светлый диагональный 2"/>
          <p:cNvSpPr>
            <a:spLocks noChangeArrowheads="1"/>
          </p:cNvSpPr>
          <p:nvPr/>
        </p:nvSpPr>
        <p:spPr bwMode="auto">
          <a:xfrm>
            <a:off x="0" y="-1"/>
            <a:ext cx="12192000" cy="654357"/>
          </a:xfrm>
          <a:prstGeom prst="rect">
            <a:avLst/>
          </a:prstGeom>
          <a:pattFill prst="ltUpDiag">
            <a:fgClr>
              <a:schemeClr val="accent1">
                <a:lumMod val="40000"/>
                <a:lumOff val="60000"/>
              </a:schemeClr>
            </a:fgClr>
            <a:bgClr>
              <a:srgbClr val="FFFFFF"/>
            </a:bgClr>
          </a:pattFill>
          <a:ln w="15875" algn="ctr">
            <a:solidFill>
              <a:schemeClr val="accent5">
                <a:lumMod val="50000"/>
              </a:schemeClr>
            </a:solidFill>
            <a:miter lim="800000"/>
            <a:headEnd/>
            <a:tailEnd/>
          </a:ln>
          <a:effectLst/>
        </p:spPr>
        <p:txBody>
          <a:bodyPr vert="horz" wrap="square" lIns="18000" tIns="18000" rIns="18000" bIns="18000" numCol="1" anchor="ctr" anchorCtr="0" compatLnSpc="1">
            <a:prstTxWarp prst="textNoShape">
              <a:avLst/>
            </a:prstTxWarp>
          </a:bodyPr>
          <a:lstStyle/>
          <a:p>
            <a:pPr algn="ctr"/>
            <a:r>
              <a:rPr lang="ru-RU" sz="2800" b="1" dirty="0" smtClean="0">
                <a:solidFill>
                  <a:schemeClr val="tx2">
                    <a:lumMod val="50000"/>
                  </a:schemeClr>
                </a:solidFill>
                <a:latin typeface="Bookman Old Style" panose="02050604050505020204" pitchFamily="18" charset="0"/>
                <a:cs typeface="Times New Roman" panose="02020603050405020304" pitchFamily="18" charset="0"/>
              </a:rPr>
              <a:t>Расширение функциональности сторонних классов</a:t>
            </a:r>
            <a:endParaRPr lang="ru-RU" sz="2800" b="1" dirty="0">
              <a:solidFill>
                <a:schemeClr val="tx2">
                  <a:lumMod val="50000"/>
                </a:schemeClr>
              </a:solidFill>
              <a:latin typeface="Bookman Old Style" panose="02050604050505020204" pitchFamily="18" charset="0"/>
              <a:cs typeface="Times New Roman" panose="02020603050405020304" pitchFamily="18" charset="0"/>
            </a:endParaRPr>
          </a:p>
        </p:txBody>
      </p:sp>
      <p:pic>
        <p:nvPicPr>
          <p:cNvPr id="2" name="Рисунок 1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892317" y="3630337"/>
            <a:ext cx="6407363" cy="263983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84606022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Прямоугольник 6"/>
          <p:cNvSpPr/>
          <p:nvPr/>
        </p:nvSpPr>
        <p:spPr>
          <a:xfrm>
            <a:off x="243942" y="0"/>
            <a:ext cx="11716722" cy="7109639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sz="2400" dirty="0" smtClean="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using</a:t>
            </a:r>
            <a:r>
              <a:rPr lang="en-US" sz="2400" dirty="0" smtClean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24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GeometryLibrary</a:t>
            </a:r>
            <a:r>
              <a:rPr lang="en-US" sz="2400" dirty="0" smtClean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;</a:t>
            </a:r>
            <a:endParaRPr lang="ru-RU" sz="2400" dirty="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2400" dirty="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namespace</a:t>
            </a:r>
            <a:r>
              <a:rPr lang="en-US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ConsoleApp2</a:t>
            </a:r>
          </a:p>
          <a:p>
            <a:r>
              <a:rPr lang="ru-RU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{</a:t>
            </a:r>
          </a:p>
          <a:p>
            <a:r>
              <a:rPr lang="en-US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2400" dirty="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public</a:t>
            </a:r>
            <a:r>
              <a:rPr lang="en-US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2400" dirty="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static</a:t>
            </a:r>
            <a:r>
              <a:rPr lang="en-US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2400" dirty="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class</a:t>
            </a:r>
            <a:r>
              <a:rPr lang="en-US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2400" dirty="0" err="1">
                <a:solidFill>
                  <a:srgbClr val="2B91A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CircleExtensions</a:t>
            </a:r>
            <a:endParaRPr lang="en-US" sz="2400" dirty="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ru-RU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{</a:t>
            </a:r>
          </a:p>
          <a:p>
            <a:r>
              <a:rPr lang="en-US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 </a:t>
            </a:r>
            <a:r>
              <a:rPr lang="en-US" sz="2400" dirty="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///</a:t>
            </a:r>
            <a:r>
              <a:rPr lang="en-US" sz="2400" dirty="0">
                <a:solidFill>
                  <a:srgbClr val="008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2400" dirty="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&lt;summary&gt;</a:t>
            </a:r>
            <a:endParaRPr lang="en-US" sz="2400" dirty="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ru-RU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 </a:t>
            </a:r>
            <a:r>
              <a:rPr lang="ru-RU" sz="2400" dirty="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///</a:t>
            </a:r>
            <a:r>
              <a:rPr lang="ru-RU" sz="2400" dirty="0">
                <a:solidFill>
                  <a:srgbClr val="008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Вычисляет площадь сектора</a:t>
            </a:r>
            <a:endParaRPr lang="ru-RU" sz="2400" dirty="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 </a:t>
            </a:r>
            <a:r>
              <a:rPr lang="en-US" sz="2400" dirty="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///</a:t>
            </a:r>
            <a:r>
              <a:rPr lang="en-US" sz="2400" dirty="0">
                <a:solidFill>
                  <a:srgbClr val="008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2400" dirty="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&lt;/summary&gt;</a:t>
            </a:r>
            <a:endParaRPr lang="en-US" sz="2400" dirty="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 </a:t>
            </a:r>
            <a:r>
              <a:rPr lang="en-US" sz="2400" dirty="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///</a:t>
            </a:r>
            <a:r>
              <a:rPr lang="en-US" sz="2400" dirty="0">
                <a:solidFill>
                  <a:srgbClr val="008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2400" dirty="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&lt;</a:t>
            </a:r>
            <a:r>
              <a:rPr lang="en-US" sz="2400" dirty="0" err="1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param</a:t>
            </a:r>
            <a:r>
              <a:rPr lang="en-US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2400" dirty="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name="</a:t>
            </a:r>
            <a:r>
              <a:rPr lang="en-US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circle</a:t>
            </a:r>
            <a:r>
              <a:rPr lang="en-US" sz="2400" dirty="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"&gt;&lt;/</a:t>
            </a:r>
            <a:r>
              <a:rPr lang="en-US" sz="2400" dirty="0" err="1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param</a:t>
            </a:r>
            <a:r>
              <a:rPr lang="en-US" sz="2400" dirty="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&gt;</a:t>
            </a:r>
            <a:endParaRPr lang="en-US" sz="2400" dirty="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 </a:t>
            </a:r>
            <a:r>
              <a:rPr lang="en-US" sz="2400" dirty="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///</a:t>
            </a:r>
            <a:r>
              <a:rPr lang="en-US" sz="2400" dirty="0">
                <a:solidFill>
                  <a:srgbClr val="008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2400" dirty="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&lt;</a:t>
            </a:r>
            <a:r>
              <a:rPr lang="en-US" sz="2400" dirty="0" err="1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param</a:t>
            </a:r>
            <a:r>
              <a:rPr lang="en-US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2400" dirty="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name="</a:t>
            </a:r>
            <a:r>
              <a:rPr lang="en-US" sz="24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sectorAngle</a:t>
            </a:r>
            <a:r>
              <a:rPr lang="en-US" sz="2400" dirty="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"&gt;</a:t>
            </a:r>
            <a:r>
              <a:rPr lang="ru-RU" sz="2400" dirty="0">
                <a:solidFill>
                  <a:srgbClr val="008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Угол сектора, градусов</a:t>
            </a:r>
            <a:r>
              <a:rPr lang="ru-RU" sz="2400" dirty="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&lt;/</a:t>
            </a:r>
            <a:r>
              <a:rPr lang="en-US" sz="2400" dirty="0" err="1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param</a:t>
            </a:r>
            <a:r>
              <a:rPr lang="en-US" sz="2400" dirty="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&gt;</a:t>
            </a:r>
            <a:endParaRPr lang="en-US" sz="2400" dirty="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 </a:t>
            </a:r>
            <a:r>
              <a:rPr lang="en-US" sz="2400" dirty="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///</a:t>
            </a:r>
            <a:r>
              <a:rPr lang="en-US" sz="2400" dirty="0">
                <a:solidFill>
                  <a:srgbClr val="008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2400" dirty="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&lt;returns&gt;</a:t>
            </a:r>
            <a:r>
              <a:rPr lang="ru-RU" sz="2400" dirty="0">
                <a:solidFill>
                  <a:srgbClr val="008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Площадь сектора</a:t>
            </a:r>
            <a:r>
              <a:rPr lang="ru-RU" sz="2400" dirty="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&lt;/</a:t>
            </a:r>
            <a:r>
              <a:rPr lang="en-US" sz="2400" dirty="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returns&gt;</a:t>
            </a:r>
            <a:endParaRPr lang="en-US" sz="2400" dirty="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 </a:t>
            </a:r>
            <a:r>
              <a:rPr lang="en-US" sz="2400" dirty="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public</a:t>
            </a:r>
            <a:r>
              <a:rPr lang="en-US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2400" dirty="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static</a:t>
            </a:r>
            <a:r>
              <a:rPr lang="en-US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2400" dirty="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double</a:t>
            </a:r>
            <a:r>
              <a:rPr lang="en-US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24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GetSectorArea</a:t>
            </a:r>
            <a:r>
              <a:rPr lang="en-US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(</a:t>
            </a:r>
            <a:r>
              <a:rPr lang="en-US" sz="2400" dirty="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this</a:t>
            </a:r>
            <a:r>
              <a:rPr lang="en-US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2400" dirty="0">
                <a:solidFill>
                  <a:srgbClr val="2B91A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Circle</a:t>
            </a:r>
            <a:r>
              <a:rPr lang="en-US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24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circle</a:t>
            </a:r>
            <a:r>
              <a:rPr lang="en-US" sz="2400" dirty="0" smtClean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,</a:t>
            </a:r>
            <a:endParaRPr lang="ru-RU" sz="2400" dirty="0" smtClean="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ru-RU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	</a:t>
            </a:r>
            <a:r>
              <a:rPr lang="ru-RU" sz="2400" dirty="0" smtClean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																</a:t>
            </a:r>
            <a:r>
              <a:rPr lang="en-US" sz="2400" dirty="0" smtClean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2400" dirty="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double</a:t>
            </a:r>
            <a:r>
              <a:rPr lang="en-US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24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sectorAngle</a:t>
            </a:r>
            <a:r>
              <a:rPr lang="en-US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)</a:t>
            </a:r>
          </a:p>
          <a:p>
            <a:r>
              <a:rPr lang="ru-RU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 {</a:t>
            </a:r>
          </a:p>
          <a:p>
            <a:r>
              <a:rPr lang="en-US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     </a:t>
            </a:r>
            <a:r>
              <a:rPr lang="en-US" sz="2400" dirty="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return</a:t>
            </a:r>
            <a:r>
              <a:rPr lang="en-US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24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circle.GetArea</a:t>
            </a:r>
            <a:r>
              <a:rPr lang="en-US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() * </a:t>
            </a:r>
            <a:r>
              <a:rPr lang="en-US" sz="24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sectorAngle</a:t>
            </a:r>
            <a:r>
              <a:rPr lang="en-US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/ 360;</a:t>
            </a:r>
          </a:p>
          <a:p>
            <a:r>
              <a:rPr lang="ru-RU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 }</a:t>
            </a:r>
          </a:p>
          <a:p>
            <a:r>
              <a:rPr lang="ru-RU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}</a:t>
            </a:r>
          </a:p>
          <a:p>
            <a:r>
              <a:rPr lang="ru-RU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}</a:t>
            </a:r>
            <a:endParaRPr lang="ru-RU" sz="2400" dirty="0">
              <a:latin typeface="Bookman Old Style" panose="020506040505050202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021736091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Прямоугольник 6"/>
          <p:cNvSpPr/>
          <p:nvPr/>
        </p:nvSpPr>
        <p:spPr>
          <a:xfrm>
            <a:off x="272078" y="523727"/>
            <a:ext cx="11716722" cy="433965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just">
              <a:lnSpc>
                <a:spcPct val="150000"/>
              </a:lnSpc>
            </a:pPr>
            <a:r>
              <a:rPr lang="ru-RU" sz="2400" dirty="0" smtClean="0">
                <a:solidFill>
                  <a:srgbClr val="202122"/>
                </a:solidFill>
                <a:latin typeface="Bookman Old Style" panose="02050604050505020204" pitchFamily="18" charset="0"/>
              </a:rPr>
              <a:t>Пример использования написанного метода-расширения:</a:t>
            </a:r>
            <a:endParaRPr lang="en-US" sz="2400" dirty="0">
              <a:solidFill>
                <a:srgbClr val="202122"/>
              </a:solidFill>
              <a:latin typeface="Bookman Old Style" panose="02050604050505020204" pitchFamily="18" charset="0"/>
            </a:endParaRPr>
          </a:p>
          <a:p>
            <a:endParaRPr lang="ru-RU" sz="2400" dirty="0" smtClean="0">
              <a:solidFill>
                <a:srgbClr val="0000FF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endParaRPr lang="ru-RU" sz="2400" dirty="0">
              <a:solidFill>
                <a:srgbClr val="0000FF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2400" dirty="0" smtClean="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using</a:t>
            </a:r>
            <a:r>
              <a:rPr lang="en-US" sz="2400" dirty="0" smtClean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ConsoleApp2;</a:t>
            </a:r>
          </a:p>
          <a:p>
            <a:r>
              <a:rPr lang="en-US" sz="2400" dirty="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using</a:t>
            </a:r>
            <a:r>
              <a:rPr lang="en-US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24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GeometryLibrary</a:t>
            </a:r>
            <a:r>
              <a:rPr lang="en-US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;</a:t>
            </a:r>
          </a:p>
          <a:p>
            <a:endParaRPr lang="ru-RU" sz="2400" dirty="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2400" dirty="0" err="1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var</a:t>
            </a:r>
            <a:r>
              <a:rPr lang="en-US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circle = </a:t>
            </a:r>
            <a:r>
              <a:rPr lang="en-US" sz="2400" dirty="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new</a:t>
            </a:r>
            <a:r>
              <a:rPr lang="en-US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2400" dirty="0">
                <a:solidFill>
                  <a:srgbClr val="2B91A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Circle</a:t>
            </a:r>
            <a:r>
              <a:rPr lang="en-US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(6);</a:t>
            </a:r>
          </a:p>
          <a:p>
            <a:endParaRPr lang="ru-RU" sz="2400" dirty="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2400" dirty="0" err="1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var</a:t>
            </a:r>
            <a:r>
              <a:rPr lang="en-US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area = </a:t>
            </a:r>
            <a:r>
              <a:rPr lang="en-US" sz="24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circle.GetArea</a:t>
            </a:r>
            <a:r>
              <a:rPr lang="en-US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();</a:t>
            </a:r>
          </a:p>
          <a:p>
            <a:endParaRPr lang="ru-RU" sz="2400" dirty="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2400" dirty="0" err="1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var</a:t>
            </a:r>
            <a:r>
              <a:rPr lang="en-US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24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sectorArea</a:t>
            </a:r>
            <a:r>
              <a:rPr lang="en-US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= </a:t>
            </a:r>
            <a:r>
              <a:rPr lang="en-US" sz="24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circle.GetSectorArea</a:t>
            </a:r>
            <a:r>
              <a:rPr lang="en-US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(15);</a:t>
            </a:r>
            <a:endParaRPr lang="ru-RU" sz="2400" dirty="0">
              <a:latin typeface="Bookman Old Style" panose="020506040505050202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691113884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Прямоугольник 5"/>
          <p:cNvSpPr/>
          <p:nvPr/>
        </p:nvSpPr>
        <p:spPr>
          <a:xfrm>
            <a:off x="1" y="654356"/>
            <a:ext cx="12191999" cy="5078313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ru-RU" sz="2400" b="1" dirty="0" smtClean="0">
                <a:latin typeface="Bookman Old Style" panose="02050604050505020204" pitchFamily="18" charset="0"/>
              </a:rPr>
              <a:t>Методы расширения</a:t>
            </a:r>
            <a:endParaRPr lang="en-US" sz="2400" b="1" dirty="0">
              <a:latin typeface="Bookman Old Style" panose="02050604050505020204" pitchFamily="18" charset="0"/>
            </a:endParaRPr>
          </a:p>
          <a:p>
            <a:pPr>
              <a:lnSpc>
                <a:spcPct val="150000"/>
              </a:lnSpc>
            </a:pPr>
            <a:r>
              <a:rPr lang="en-US" sz="2400" dirty="0" err="1" smtClean="0">
                <a:latin typeface="Bookman Old Style" panose="02050604050505020204" pitchFamily="18" charset="0"/>
              </a:rPr>
              <a:t>Metanit</a:t>
            </a:r>
            <a:r>
              <a:rPr lang="en-US" sz="2400" dirty="0" smtClean="0">
                <a:latin typeface="Bookman Old Style" panose="02050604050505020204" pitchFamily="18" charset="0"/>
              </a:rPr>
              <a:t>: </a:t>
            </a:r>
            <a:r>
              <a:rPr lang="en-US" sz="2400" dirty="0">
                <a:latin typeface="Bookman Old Style" panose="02050604050505020204" pitchFamily="18" charset="0"/>
                <a:hlinkClick r:id="rId3"/>
              </a:rPr>
              <a:t>https://</a:t>
            </a:r>
            <a:r>
              <a:rPr lang="en-US" sz="2400" dirty="0" smtClean="0">
                <a:latin typeface="Bookman Old Style" panose="02050604050505020204" pitchFamily="18" charset="0"/>
                <a:hlinkClick r:id="rId3"/>
              </a:rPr>
              <a:t>metanit.com/sharp/tutorial/3.18.php</a:t>
            </a:r>
            <a:endParaRPr lang="ru-RU" sz="2400" dirty="0" smtClean="0">
              <a:latin typeface="Bookman Old Style" panose="02050604050505020204" pitchFamily="18" charset="0"/>
            </a:endParaRPr>
          </a:p>
          <a:p>
            <a:pPr>
              <a:lnSpc>
                <a:spcPct val="150000"/>
              </a:lnSpc>
            </a:pPr>
            <a:r>
              <a:rPr lang="en-US" sz="2400" dirty="0" smtClean="0">
                <a:latin typeface="Bookman Old Style" panose="02050604050505020204" pitchFamily="18" charset="0"/>
              </a:rPr>
              <a:t>ulearn.me:</a:t>
            </a:r>
            <a:endParaRPr lang="ru-RU" sz="2400" dirty="0" smtClean="0">
              <a:latin typeface="Bookman Old Style" panose="02050604050505020204" pitchFamily="18" charset="0"/>
            </a:endParaRPr>
          </a:p>
          <a:p>
            <a:pPr>
              <a:lnSpc>
                <a:spcPct val="150000"/>
              </a:lnSpc>
            </a:pPr>
            <a:r>
              <a:rPr lang="en-US" sz="2400" dirty="0">
                <a:solidFill>
                  <a:srgbClr val="000000"/>
                </a:solidFill>
                <a:latin typeface="Bookman Old Style" panose="02050604050505020204" pitchFamily="18" charset="0"/>
                <a:hlinkClick r:id="rId4"/>
              </a:rPr>
              <a:t>https://</a:t>
            </a:r>
            <a:r>
              <a:rPr lang="en-US" sz="2400" dirty="0" smtClean="0">
                <a:solidFill>
                  <a:srgbClr val="000000"/>
                </a:solidFill>
                <a:latin typeface="Bookman Old Style" panose="02050604050505020204" pitchFamily="18" charset="0"/>
                <a:hlinkClick r:id="rId4"/>
              </a:rPr>
              <a:t>ulearn.me/course/basicprogramming/Metody_rasshireniya_01a1f9a5-c475-4af3-bef3-060f92e69a92</a:t>
            </a:r>
            <a:endParaRPr lang="ru-RU" sz="2400" dirty="0" smtClean="0">
              <a:solidFill>
                <a:srgbClr val="000000"/>
              </a:solidFill>
              <a:latin typeface="Bookman Old Style" panose="02050604050505020204" pitchFamily="18" charset="0"/>
            </a:endParaRPr>
          </a:p>
          <a:p>
            <a:pPr>
              <a:lnSpc>
                <a:spcPct val="150000"/>
              </a:lnSpc>
            </a:pPr>
            <a:r>
              <a:rPr lang="ru-RU" sz="2400" b="1" smtClean="0">
                <a:latin typeface="Bookman Old Style" panose="02050604050505020204" pitchFamily="18" charset="0"/>
              </a:rPr>
              <a:t>Библиотеки </a:t>
            </a:r>
            <a:r>
              <a:rPr lang="ru-RU" sz="2400" b="1" dirty="0" smtClean="0">
                <a:latin typeface="Bookman Old Style" panose="02050604050505020204" pitchFamily="18" charset="0"/>
              </a:rPr>
              <a:t>классов</a:t>
            </a:r>
            <a:endParaRPr lang="ru-RU" sz="2400" b="1" dirty="0">
              <a:latin typeface="Bookman Old Style" panose="02050604050505020204" pitchFamily="18" charset="0"/>
            </a:endParaRPr>
          </a:p>
          <a:p>
            <a:pPr>
              <a:lnSpc>
                <a:spcPct val="150000"/>
              </a:lnSpc>
            </a:pPr>
            <a:r>
              <a:rPr lang="en-US" sz="2400" dirty="0" err="1">
                <a:latin typeface="Bookman Old Style" panose="02050604050505020204" pitchFamily="18" charset="0"/>
              </a:rPr>
              <a:t>Metanit</a:t>
            </a:r>
            <a:r>
              <a:rPr lang="en-US" sz="2400" dirty="0">
                <a:latin typeface="Bookman Old Style" panose="02050604050505020204" pitchFamily="18" charset="0"/>
              </a:rPr>
              <a:t>:</a:t>
            </a:r>
            <a:r>
              <a:rPr lang="ru-RU" sz="2400" dirty="0">
                <a:latin typeface="Bookman Old Style" panose="02050604050505020204" pitchFamily="18" charset="0"/>
              </a:rPr>
              <a:t> </a:t>
            </a:r>
            <a:r>
              <a:rPr lang="en-US" sz="2400" dirty="0">
                <a:latin typeface="Bookman Old Style" panose="02050604050505020204" pitchFamily="18" charset="0"/>
                <a:hlinkClick r:id="rId5"/>
              </a:rPr>
              <a:t>https://</a:t>
            </a:r>
            <a:r>
              <a:rPr lang="en-US" sz="2400" dirty="0" smtClean="0">
                <a:latin typeface="Bookman Old Style" panose="02050604050505020204" pitchFamily="18" charset="0"/>
                <a:hlinkClick r:id="rId5"/>
              </a:rPr>
              <a:t>metanit.com/sharp/tutorial/3.46.php</a:t>
            </a:r>
            <a:r>
              <a:rPr lang="ru-RU" sz="2400" dirty="0" smtClean="0">
                <a:latin typeface="Bookman Old Style" panose="02050604050505020204" pitchFamily="18" charset="0"/>
              </a:rPr>
              <a:t> </a:t>
            </a:r>
            <a:endParaRPr lang="en-US" sz="2400" dirty="0" smtClean="0">
              <a:latin typeface="Bookman Old Style" panose="02050604050505020204" pitchFamily="18" charset="0"/>
            </a:endParaRPr>
          </a:p>
          <a:p>
            <a:pPr>
              <a:lnSpc>
                <a:spcPct val="150000"/>
              </a:lnSpc>
            </a:pPr>
            <a:r>
              <a:rPr lang="en-US" sz="2400" dirty="0">
                <a:latin typeface="Bookman Old Style" panose="02050604050505020204" pitchFamily="18" charset="0"/>
              </a:rPr>
              <a:t>Microsoft: </a:t>
            </a:r>
            <a:r>
              <a:rPr lang="en-US" sz="2400" dirty="0">
                <a:latin typeface="Bookman Old Style" panose="02050604050505020204" pitchFamily="18" charset="0"/>
                <a:hlinkClick r:id="rId6"/>
              </a:rPr>
              <a:t>https://</a:t>
            </a:r>
            <a:r>
              <a:rPr lang="en-US" sz="2400" dirty="0" smtClean="0">
                <a:latin typeface="Bookman Old Style" panose="02050604050505020204" pitchFamily="18" charset="0"/>
                <a:hlinkClick r:id="rId6"/>
              </a:rPr>
              <a:t>learn.microsoft.com/ru-ru/dotnet/core/tutorials/library-with-visual-studio?pivots=dotnet-8-0</a:t>
            </a:r>
            <a:r>
              <a:rPr lang="en-US" sz="2400" dirty="0" smtClean="0">
                <a:latin typeface="Bookman Old Style" panose="02050604050505020204" pitchFamily="18" charset="0"/>
              </a:rPr>
              <a:t> </a:t>
            </a:r>
            <a:endParaRPr lang="ru-RU" sz="2400" dirty="0">
              <a:latin typeface="Bookman Old Style" panose="02050604050505020204" pitchFamily="18" charset="0"/>
            </a:endParaRPr>
          </a:p>
        </p:txBody>
      </p:sp>
      <p:sp>
        <p:nvSpPr>
          <p:cNvPr id="4" name="Rectangle 28" descr="Светлый диагональный 2"/>
          <p:cNvSpPr>
            <a:spLocks noChangeArrowheads="1"/>
          </p:cNvSpPr>
          <p:nvPr/>
        </p:nvSpPr>
        <p:spPr bwMode="auto">
          <a:xfrm>
            <a:off x="0" y="-1"/>
            <a:ext cx="12192000" cy="654357"/>
          </a:xfrm>
          <a:prstGeom prst="rect">
            <a:avLst/>
          </a:prstGeom>
          <a:pattFill prst="ltUpDiag">
            <a:fgClr>
              <a:schemeClr val="accent1">
                <a:lumMod val="40000"/>
                <a:lumOff val="60000"/>
              </a:schemeClr>
            </a:fgClr>
            <a:bgClr>
              <a:srgbClr val="FFFFFF"/>
            </a:bgClr>
          </a:pattFill>
          <a:ln w="15875" algn="ctr">
            <a:solidFill>
              <a:schemeClr val="accent5">
                <a:lumMod val="50000"/>
              </a:schemeClr>
            </a:solidFill>
            <a:miter lim="800000"/>
            <a:headEnd/>
            <a:tailEnd/>
          </a:ln>
          <a:effectLst/>
        </p:spPr>
        <p:txBody>
          <a:bodyPr vert="horz" wrap="square" lIns="18000" tIns="18000" rIns="18000" bIns="18000" numCol="1" anchor="ctr" anchorCtr="0" compatLnSpc="1">
            <a:prstTxWarp prst="textNoShape">
              <a:avLst/>
            </a:prstTxWarp>
          </a:bodyPr>
          <a:lstStyle/>
          <a:p>
            <a:pPr algn="ctr"/>
            <a:r>
              <a:rPr lang="ru-RU" sz="2800" b="1" dirty="0" smtClean="0">
                <a:solidFill>
                  <a:schemeClr val="tx2">
                    <a:lumMod val="50000"/>
                  </a:schemeClr>
                </a:solidFill>
                <a:latin typeface="Bookman Old Style" panose="02050604050505020204" pitchFamily="18" charset="0"/>
                <a:cs typeface="Times New Roman" panose="02020603050405020304" pitchFamily="18" charset="0"/>
              </a:rPr>
              <a:t>Полезные материалы</a:t>
            </a:r>
            <a:endParaRPr lang="ru-RU" sz="2800" b="1" dirty="0">
              <a:solidFill>
                <a:schemeClr val="tx2">
                  <a:lumMod val="50000"/>
                </a:schemeClr>
              </a:solidFill>
              <a:latin typeface="Bookman Old Style" panose="020506040505050202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490677774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theme/theme1.xml><?xml version="1.0" encoding="utf-8"?>
<a:theme xmlns:a="http://schemas.openxmlformats.org/drawingml/2006/main" name="Тема Office">
  <a:themeElements>
    <a:clrScheme name="Тема 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Тема 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Тема 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Тема Office">
  <a:themeElements>
    <a:clrScheme name="Стандартная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Стандартная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13925</TotalTime>
  <Words>1800</Words>
  <Application>Microsoft Office PowerPoint</Application>
  <PresentationFormat>Широкоэкранный</PresentationFormat>
  <Paragraphs>414</Paragraphs>
  <Slides>41</Slides>
  <Notes>41</Notes>
  <HiddenSlides>0</HiddenSlides>
  <MMClips>0</MMClips>
  <ScaleCrop>false</ScaleCrop>
  <HeadingPairs>
    <vt:vector size="6" baseType="variant">
      <vt:variant>
        <vt:lpstr>Использованные шрифты</vt:lpstr>
      </vt:variant>
      <vt:variant>
        <vt:i4>6</vt:i4>
      </vt:variant>
      <vt:variant>
        <vt:lpstr>Тема</vt:lpstr>
      </vt:variant>
      <vt:variant>
        <vt:i4>1</vt:i4>
      </vt:variant>
      <vt:variant>
        <vt:lpstr>Заголовки слайдов</vt:lpstr>
      </vt:variant>
      <vt:variant>
        <vt:i4>41</vt:i4>
      </vt:variant>
    </vt:vector>
  </HeadingPairs>
  <TitlesOfParts>
    <vt:vector size="48" baseType="lpstr">
      <vt:lpstr>Arial</vt:lpstr>
      <vt:lpstr>Bookman Old Style</vt:lpstr>
      <vt:lpstr>Calibri</vt:lpstr>
      <vt:lpstr>Calibri Light</vt:lpstr>
      <vt:lpstr>Cascadia Mono</vt:lpstr>
      <vt:lpstr>Times New Roman</vt:lpstr>
      <vt:lpstr>Тема Office</vt:lpstr>
      <vt:lpstr>2 семестр Лекция 4.  Содержание лекции: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РАЗРАБОТКА ПРОГРАММЫ ДЛЯ РАСЧЁТА ПРОДОЛЬНО-ПОПЕРЕЧНЫХ КОЛЕБАНИЙ СТВОЛА АРТИЛЛЕРИЙСКОГО ОРУДИЯ</dc:title>
  <dc:creator>vsufiy</dc:creator>
  <cp:lastModifiedBy>Daniil Kljukin</cp:lastModifiedBy>
  <cp:revision>723</cp:revision>
  <dcterms:modified xsi:type="dcterms:W3CDTF">2026-02-10T18:03:22Z</dcterms:modified>
</cp:coreProperties>
</file>